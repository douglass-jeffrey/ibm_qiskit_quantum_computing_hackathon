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256" r:id="rId5"/>
    <p:sldId id="257" r:id="rId6"/>
    <p:sldId id="270" r:id="rId7"/>
    <p:sldId id="260" r:id="rId8"/>
    <p:sldId id="277" r:id="rId9"/>
    <p:sldId id="258" r:id="rId10"/>
    <p:sldId id="272" r:id="rId11"/>
    <p:sldId id="287" r:id="rId12"/>
    <p:sldId id="275" r:id="rId13"/>
    <p:sldId id="259" r:id="rId14"/>
    <p:sldId id="288" r:id="rId15"/>
    <p:sldId id="274" r:id="rId16"/>
    <p:sldId id="291" r:id="rId17"/>
    <p:sldId id="261" r:id="rId18"/>
    <p:sldId id="315" r:id="rId19"/>
    <p:sldId id="316" r:id="rId20"/>
    <p:sldId id="317" r:id="rId21"/>
    <p:sldId id="292" r:id="rId22"/>
    <p:sldId id="263" r:id="rId23"/>
    <p:sldId id="319" r:id="rId24"/>
    <p:sldId id="320" r:id="rId25"/>
    <p:sldId id="318" r:id="rId26"/>
    <p:sldId id="262" r:id="rId27"/>
    <p:sldId id="322" r:id="rId28"/>
    <p:sldId id="301" r:id="rId29"/>
    <p:sldId id="302" r:id="rId30"/>
    <p:sldId id="303" r:id="rId31"/>
    <p:sldId id="290" r:id="rId32"/>
    <p:sldId id="321"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87B86C-5F9D-471F-AD26-C4411C1D5E82}">
          <p14:sldIdLst>
            <p14:sldId id="256"/>
            <p14:sldId id="257"/>
            <p14:sldId id="270"/>
            <p14:sldId id="260"/>
            <p14:sldId id="277"/>
            <p14:sldId id="258"/>
            <p14:sldId id="272"/>
            <p14:sldId id="287"/>
            <p14:sldId id="275"/>
            <p14:sldId id="259"/>
            <p14:sldId id="288"/>
            <p14:sldId id="274"/>
            <p14:sldId id="291"/>
            <p14:sldId id="261"/>
            <p14:sldId id="315"/>
            <p14:sldId id="316"/>
            <p14:sldId id="317"/>
            <p14:sldId id="292"/>
            <p14:sldId id="263"/>
            <p14:sldId id="319"/>
            <p14:sldId id="320"/>
            <p14:sldId id="318"/>
            <p14:sldId id="262"/>
            <p14:sldId id="322"/>
            <p14:sldId id="301"/>
            <p14:sldId id="302"/>
            <p14:sldId id="303"/>
            <p14:sldId id="290"/>
            <p14:sldId id="32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00"/>
    <a:srgbClr val="CD7F32"/>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EB0406-F938-4543-994B-8C56F6E327DE}" v="138" dt="2026-10-18T15:17:24.842"/>
    <p1510:client id="{9B836590-91C2-8614-7521-F096BFEA6F21}" v="60" dt="2026-10-18T03:26:00.222"/>
    <p1510:client id="{BA9C540D-64C6-4B40-BCD6-D4A17C1DFEF8}" v="68" dt="2026-10-18T17:27:13.9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5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869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 s) Hi, we're [team]. Our prompt was QML Advanced, number 07: learn molecular dipoles from fewer labels. We built quantum regression models in Qiskit, compared them fairly with classical models, and ran one on real IBM hardware.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The prompt asks: how much reference data does a model need to predict molecular polarity? The dipole moment measures charge separation in a molecule, which matters for solubility, intermolecular forces and spectroscopy. Each reference label is an expensive DFT calculation, so needing fewer labels is valuable, and that small-data regime is exactly where quantum kernels are often said to help. We turned that into four questions: how error falls with labels; whether a quantum model beats a classical model given the same inputs; whether models generalize to formulas they have never seen; and whether the quantum model survives finite shots, noise and real hardware.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The task: given only a molecule's atoms and their 3D positions, predict its dipole magnitude. From QM9 we use two inputs per molecule: the atomic number of every atom, which says whether it's hydrogen, carbon, nitrogen, oxygen or fluorine, and every atom's x, y, z coordinates. The output is the dipole magnitude in debye, a measure of how much charge is separated inside the molecule. For scale, methane is zero, water is about 1.85, and the QM9 average is 2.7. Each label in QM9 cost a quantum-chemistry calculation, which is why learning from fewer labels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"Best classical model" and "the classical model a quantum model can fairly be compared with" are different questions, so we answer both. Track A asks how accurate classical can get, with all the data and the richest inputs. Track B is the quantum model's classical twin: same 10 inputs, same training sets, same folds, same tuning budget. We fixed this protocol before computing any quantum result, and we unit-tested that the quantum tuning code gives exactly the classical answer when you hand it an RBF kernel. So any difference between the quantum model and its twin comes from the kernel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 The dataset is QM9: about 134 thousand small organic molecules containing only carbon, hydrogen, nitrogen, oxygen and fluorine. Their geometries and dipoles were computed with density functional theory, so they are reference calculations rather than experiments. We removed 3,202 molecules. 3,054 are ones QM9's own authors flag as uncharacterized: after the geometry was optimized, it no longer matched the molecule it was supposed to be. 8 more are listed in the readme as hard to converge. And 140 are duplicates: the same molecule listed twice, which we removed so a molecule can never end up in both training and test. That leaves 130,683 molecules.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 We used QM9: after removing molecules the dataset itself flags as unreliable, plus duplicates, about 130 thousand molecules remain. The key design choice is that we hold out whole formulas. test_unseen contains 93 chemical formulas that never appear in training or development, so the model can't fall back on having seen that formula before. test_familiar has formulas that are in training. Development sets mirror the same split. Training sets are nested, from 100 up to the whole pool of about 99 thousand, with three seeds, and every model uses identical sets, so comparisons are paired.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QM9 contains much more than the dipole: atomic charges, orbital energies, total energies and so on. But all of these come from the same DFT calculation that produced the dipole, so we didn't use them as inputs, for three reasons. First, it's circular: to get them for a new molecule you'd have to run DFT, and DFT already gives you the dipole. Second, they leak the answer: a dipole built from the DFT charges tracks the true dipole at a correlation of 0.94. Third, the brief asks what the dipole is given the structure, so atoms and coordinates only. We used the DFT outputs only to explore and interpret our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CA"/>
              <a:t>Douglass will talk about this</a:t>
            </a:r>
          </a:p>
          <a:p>
            <a:endParaRPr lang="en-CA"/>
          </a:p>
        </p:txBody>
      </p:sp>
    </p:spTree>
    <p:extLst>
      <p:ext uri="{BB962C8B-B14F-4D97-AF65-F5344CB8AC3E}">
        <p14:creationId xmlns:p14="http://schemas.microsoft.com/office/powerpoint/2010/main" val="2924137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We turned each molecule into 188 numbers, all computed from the atoms and coordinates: element counts, eigenvalues of the Coulomb matrix, bond and geometry features, functional groups, and radial distributions, which are histograms of the distances between each pair of elements. The most useful features turned out to be physics estimates of the dipole itself. The best is a charge-equilibration dipole: a classic chemistry model that gives each atom a partial charge from tabulated electronegativities and the geometry, then adds up charge times position. It needs no fitting, and shuffling it makes XGBoost three quarters of a debye worse. Next comes a bond-dipole sum: each bond's polarity, pointed along the bond and added as a vector, so symmetric molecules like CO2 cancel to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As the brief asks, every input comes from the atom types and 3D coordinates only. QM9 also contains things like DFT charges, but those come from the same calculation as the answer, so we used them only for exploration. We engineered 188 features in six blocks. The strongest single feature is a charge-equilibration dipole: a classical physics estimate computed from geometry with no fitting. A dipole magnitude doesn't change if you rotate or move a molecule or relabel its atoms, so the features must not either. We test that, with a negative control that must fail, so we know the test can catch a broken feature.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CA"/>
              <a:t>DJEFFREY ERRORS HERE</a:t>
            </a:r>
          </a:p>
        </p:txBody>
      </p:sp>
    </p:spTree>
    <p:extLst>
      <p:ext uri="{BB962C8B-B14F-4D97-AF65-F5344CB8AC3E}">
        <p14:creationId xmlns:p14="http://schemas.microsoft.com/office/powerpoint/2010/main" val="1341898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A quantum circuit takes one input per qubit, and we budgeted 10 qubits, so the 188 features had to be compressed to 10 numbers. We compared three methods with the same classical model. PCA keeps the directions where the data varies most, but it never looks at the dipole, and it did worst. Picking the 10 individually best features did better. Partial least squares finds the directions that vary together with the dipole, and it won clearly, so every quantum model and its classical twin use those 10 PLS components. Ten was the fewest components that came within noise of the best result. Because PLS uses the labels, we refit it inside every training fold so no validation or test answer leaks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7D95-2F4D-21C4-323B-6F5342B16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F8AEB-801A-B417-CEA1-F17A925F5D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54C982-5F97-2734-0C9E-26630C1F5329}"/>
              </a:ext>
            </a:extLst>
          </p:cNvPr>
          <p:cNvSpPr>
            <a:spLocks noGrp="1"/>
          </p:cNvSpPr>
          <p:nvPr>
            <p:ph type="body" idx="1"/>
          </p:nvPr>
        </p:nvSpPr>
        <p:spPr/>
        <p:txBody>
          <a:bodyPr/>
          <a:lstStyle/>
          <a:p>
            <a:r>
              <a:rPr lang="en-US"/>
              <a:t>(~40 s) A quantum circuit takes one input per qubit, and we budgeted 10 qubits, so the 188 features had to be compressed to 10 numbers. We compared three methods with the same classical model. PCA keeps the directions where the data varies most, but it never looks at the dipole, and it did worst. Picking the 10 individually best features did better. Partial least squares finds the directions that vary together with the dipole, and it won clearly, so every quantum model and its classical twin use those 10 PLS components. Ten was the fewest components that came within noise of the best result. Because PLS uses the labels, we refit it inside every training fold so no validation or test answer leaks in.</a:t>
            </a:r>
          </a:p>
        </p:txBody>
      </p:sp>
      <p:sp>
        <p:nvSpPr>
          <p:cNvPr id="4" name="Slide Number Placeholder 3">
            <a:extLst>
              <a:ext uri="{FF2B5EF4-FFF2-40B4-BE49-F238E27FC236}">
                <a16:creationId xmlns:a16="http://schemas.microsoft.com/office/drawing/2014/main" id="{FF01F2C0-03BB-A6C1-A800-4876757B029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55418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Here is the quantum pipeline. Atoms and coordinates become 188 features; partial least squares compresses them to 10 inputs, one per qubit, because that's our qubit budget. Each molecule's 10 numbers become rotation angles in Qiskit's ZZ feature map on 10 qubits. Nothing in the circuit is trained. We read the state out three ways. The fidelity kernel measures the overlap between two molecules' states: that's quantum kernel ridge, our headline model, picked by cross-validation. The projected kernel measures each qubit's Bloch vector. And the team's original model measures Z on each qubit and fits ridge regression. We also built a product-state control with no entanglement at all, to test whether entanglement matters.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 Here is how a molecule becomes a quantum state. Its atoms and coordinates become 188 features, which we scale and compress to 10 numbers with partial least squares, one per qubit. Each number is multiplied by the angle scale gamma and becomes a rotation angle. The circuit, shown for 4 qubits, starts each qubit in an equal mix of 0 and 1 with a Hadamard gate, turns each qubit's phase by its input, and then links neighbouring qubits with an entangling block whose phase depends on two inputs together. That pass runs twice on 10 qubits. The result is a quantum state with 1,024 amplitudes, which a laptop can simulate exactly.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Once each molecule is a quantum state, there are three ways to read it out. The fidelity kernel, our headline model, measures how much two molecules' states overlap, which needs one circuit for every pair of molecules, and feeds that similarity table to kernel ridge regression. The projected kernel instead measures three numbers per qubit, 30 per molecule, and compares molecules with an ordinary classical kernel on those numbers: three circuits per molecule. The Z feature ridge measures one number per qubit, 10 per molecule from a single circuit, and fits a linear formula. All three are tuned exactly like their classical twin. The two kernels tie it at 0.49 debye.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 This is the model we ran on hardware, the Z feature ridge. One: the molecule's 10 numbers become the circuit's rotation angles. Two: the device runs the circuit and every qubit reads 0 or 1, and we repeat that 1,000 times. Three: for each qubit we compute the average, zeros minus ones divided by 1,000, which gives one number between minus one and one per qubit. For example, 700 zeros and 300 ones gives 0.4. Four: a linear formula with 11 fitted numbers turns those 10 values into a dipole prediction. The quantum circuit itself is fixed; only those 11 numbers are learned.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C4683-E9DF-9977-A49C-ABE7960441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C62C1-9E3A-C5B4-4497-6B93C292C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B7904-B7B9-5FFD-6F5D-B3906BFB8160}"/>
              </a:ext>
            </a:extLst>
          </p:cNvPr>
          <p:cNvSpPr>
            <a:spLocks noGrp="1"/>
          </p:cNvSpPr>
          <p:nvPr>
            <p:ph type="body" idx="1"/>
          </p:nvPr>
        </p:nvSpPr>
        <p:spPr/>
        <p:txBody>
          <a:bodyPr/>
          <a:lstStyle/>
          <a:p>
            <a:r>
              <a:rPr lang="en-US"/>
              <a:t>(~40 s) A quantum circuit takes one input per qubit, and we budgeted 10 qubits, so the 188 features had to be compressed to 10 numbers. We compared three methods with the same classical model. PCA keeps the directions where the data varies most, but it never looks at the dipole, and it did worst. Picking the 10 individually best features did better. Partial least squares finds the directions that vary together with the dipole, and it won clearly, so every quantum model and its classical twin use those 10 PLS components. Ten was the fewest components that came within noise of the best result. Because PLS uses the labels, we refit it inside every training fold so no validation or test answer leaks in.</a:t>
            </a:r>
          </a:p>
        </p:txBody>
      </p:sp>
      <p:sp>
        <p:nvSpPr>
          <p:cNvPr id="4" name="Slide Number Placeholder 3">
            <a:extLst>
              <a:ext uri="{FF2B5EF4-FFF2-40B4-BE49-F238E27FC236}">
                <a16:creationId xmlns:a16="http://schemas.microsoft.com/office/drawing/2014/main" id="{5F1890D7-01EB-D139-15B1-39A904F9646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227375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 Why do they tie? A product-state kernel, with no entangling gates at all, scores exactly the same. At the settings cross-validation chose, the quantum kernel and the RBF kernel use the same effective number of parameters, about 71. The reason is a known problem called exponential concentration: at larger rotation angles, the overlap between any two molecules' states goes to zero, about zero on 16 qubits, so the kernel can't tell molecules apart. Cross-validation therefore picks the smallest angles, where the quantum kernel is effectively a smooth classical kernel.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C7954-A0C0-A675-0F30-45678D416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CA8E2-961D-54E9-5671-171EE11FE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B4665-5BDA-E13E-34B1-3A72607C37EF}"/>
              </a:ext>
            </a:extLst>
          </p:cNvPr>
          <p:cNvSpPr>
            <a:spLocks noGrp="1"/>
          </p:cNvSpPr>
          <p:nvPr>
            <p:ph type="body" idx="1"/>
          </p:nvPr>
        </p:nvSpPr>
        <p:spPr/>
        <p:txBody>
          <a:bodyPr/>
          <a:lstStyle/>
          <a:p>
            <a:pPr marL="171450" indent="-171450">
              <a:buFont typeface="Arial" panose="020B0604020202020204" pitchFamily="34" charset="0"/>
              <a:buChar char="•"/>
            </a:pPr>
            <a:r>
              <a:rPr lang="en-US"/>
              <a:t>One of our measurable goals was to see how well we represented molecules to train our models with (j). One of the ways we achieved this was by isolating composition-only inputs versus geometry-aware inputs</a:t>
            </a:r>
          </a:p>
          <a:p>
            <a:pPr marL="628650" lvl="1" indent="-171450">
              <a:buFont typeface="Arial" panose="020B0604020202020204" pitchFamily="34" charset="0"/>
              <a:buChar char="•"/>
            </a:pPr>
            <a:r>
              <a:rPr lang="en-US"/>
              <a:t>The composition-only inputs are represented by the 5 atoms C, H, N, O, and F, with each atom being represented by a qubit</a:t>
            </a:r>
          </a:p>
          <a:p>
            <a:pPr marL="628650" lvl="1" indent="-171450">
              <a:buFont typeface="Arial" panose="020B0604020202020204" pitchFamily="34" charset="0"/>
              <a:buChar char="•"/>
            </a:pPr>
            <a:r>
              <a:rPr lang="en-US"/>
              <a:t>The geometry-aware inputs are represented by all 188 descriptors, which are compressed to 10 qubits</a:t>
            </a:r>
          </a:p>
        </p:txBody>
      </p:sp>
      <p:sp>
        <p:nvSpPr>
          <p:cNvPr id="4" name="Slide Number Placeholder 3">
            <a:extLst>
              <a:ext uri="{FF2B5EF4-FFF2-40B4-BE49-F238E27FC236}">
                <a16:creationId xmlns:a16="http://schemas.microsoft.com/office/drawing/2014/main" id="{88159F1A-16DF-4496-1AC6-0BB2592F20F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96982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3659-D11D-50C7-8472-202613C4F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65B4D-236A-5F4D-4458-2C1EFB609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7F602-38ED-F156-1D3C-34C2CC215C1D}"/>
              </a:ext>
            </a:extLst>
          </p:cNvPr>
          <p:cNvSpPr>
            <a:spLocks noGrp="1"/>
          </p:cNvSpPr>
          <p:nvPr>
            <p:ph type="body" idx="1"/>
          </p:nvPr>
        </p:nvSpPr>
        <p:spPr/>
        <p:txBody>
          <a:bodyPr/>
          <a:lstStyle/>
          <a:p>
            <a:pPr marL="171450" indent="-171450">
              <a:buFont typeface="Arial" panose="020B0604020202020204" pitchFamily="34" charset="0"/>
              <a:buChar char="•"/>
            </a:pPr>
            <a:r>
              <a:rPr lang="en-US"/>
              <a:t>(table) As seen, we measured the mean absolute error for each test molecule across three of our models. Additionally, we account for training set size by testing across 100, 300, and 1000 molecules</a:t>
            </a:r>
          </a:p>
          <a:p>
            <a:pPr marL="628650" lvl="1" indent="-171450">
              <a:buFont typeface="Arial" panose="020B0604020202020204" pitchFamily="34" charset="0"/>
              <a:buChar char="•"/>
            </a:pPr>
            <a:r>
              <a:rPr lang="en-US"/>
              <a:t>For the composition-only inputs, we observe a relatively higher error, which stays roughly consistent across different training set sizes—this is expected, as none of the three models have a way of differentiating the dipole moment magnitude of isomers</a:t>
            </a:r>
          </a:p>
          <a:p>
            <a:pPr marL="628650" lvl="1" indent="-171450">
              <a:buFont typeface="Arial" panose="020B0604020202020204" pitchFamily="34" charset="0"/>
              <a:buChar char="•"/>
            </a:pPr>
            <a:r>
              <a:rPr lang="en-US"/>
              <a:t>By factoring in geometry into the inputs, which we do in three different ways with kbest10, pca10, and pls10, we observe how geometry-aware inputs improve the performance of the model, and that the mean absolute error decreases much more across larger training set sizes in comparison to the composition-only inputs</a:t>
            </a:r>
          </a:p>
          <a:p>
            <a:pPr marL="628650" lvl="1" indent="-171450">
              <a:buFont typeface="Arial" panose="020B0604020202020204" pitchFamily="34" charset="0"/>
              <a:buChar char="•"/>
            </a:pPr>
            <a:r>
              <a:rPr lang="en-US"/>
              <a:t>In fact, we see that geometry-aware inputs for just an N=100 size beats a composition-only input of size N=1000!</a:t>
            </a:r>
          </a:p>
        </p:txBody>
      </p:sp>
      <p:sp>
        <p:nvSpPr>
          <p:cNvPr id="4" name="Slide Number Placeholder 3">
            <a:extLst>
              <a:ext uri="{FF2B5EF4-FFF2-40B4-BE49-F238E27FC236}">
                <a16:creationId xmlns:a16="http://schemas.microsoft.com/office/drawing/2014/main" id="{DF453273-15F5-2000-FF83-FA1D9AB42E3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131907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523D-BCEB-1586-493F-616E57E79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7EC62-2318-0D3B-A938-28E761C59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482C5-DC6F-AFE2-82AD-BF9E2F6C2F2D}"/>
              </a:ext>
            </a:extLst>
          </p:cNvPr>
          <p:cNvSpPr>
            <a:spLocks noGrp="1"/>
          </p:cNvSpPr>
          <p:nvPr>
            <p:ph type="body" idx="1"/>
          </p:nvPr>
        </p:nvSpPr>
        <p:spPr/>
        <p:txBody>
          <a:bodyPr/>
          <a:lstStyle/>
          <a:p>
            <a:pPr marL="171450" indent="-171450">
              <a:buFont typeface="Arial" panose="020B0604020202020204" pitchFamily="34" charset="0"/>
              <a:buChar char="•"/>
            </a:pPr>
            <a:r>
              <a:rPr lang="en-US"/>
              <a:t>Although it seems clear to us that geometry-aware inputs out-perform composition-only inputs, it is important to account for external factors. One such factor that we simulated was the number of k qubits.</a:t>
            </a:r>
          </a:p>
          <a:p>
            <a:pPr marL="171450" indent="-171450">
              <a:buFont typeface="Arial" panose="020B0604020202020204" pitchFamily="34" charset="0"/>
              <a:buChar char="•"/>
            </a:pPr>
            <a:r>
              <a:rPr lang="en-US"/>
              <a:t>(table) Since geometry-aware inputs are represented by 10 qubits in comparison to the 5 qubits of composition-only inputs, you could make the assumption that the extra qubits factor into the lower mean absolute error</a:t>
            </a:r>
          </a:p>
          <a:p>
            <a:pPr marL="628650" lvl="1" indent="-171450">
              <a:buFont typeface="Arial" panose="020B0604020202020204" pitchFamily="34" charset="0"/>
              <a:buChar char="•"/>
            </a:pPr>
            <a:r>
              <a:rPr lang="en-US"/>
              <a:t>To verify this, we compressed the 188 descriptors for the geometry-aware inputs to k = 4, 6, 8, 10, 12, and 16 qubits.</a:t>
            </a:r>
          </a:p>
          <a:p>
            <a:pPr marL="628650" lvl="1" indent="-171450">
              <a:buFont typeface="Arial" panose="020B0604020202020204" pitchFamily="34" charset="0"/>
              <a:buChar char="•"/>
            </a:pPr>
            <a:r>
              <a:rPr lang="en-US"/>
              <a:t>We observed that even for a faster and cheaper k = 4 qubits, the geometry-aware inputs out-performed the 5-qubit composition-only inputs by quite a lot.</a:t>
            </a:r>
          </a:p>
          <a:p>
            <a:pPr marL="628650" lvl="1" indent="-171450">
              <a:buFont typeface="Arial" panose="020B0604020202020204" pitchFamily="34" charset="0"/>
              <a:buChar char="•"/>
            </a:pPr>
            <a:r>
              <a:rPr lang="en-US"/>
              <a:t>(graph) We also observed that 10 qubits was the sweet spot and that any more qubits yielded diminishing returns, as visualized on the graph</a:t>
            </a:r>
          </a:p>
          <a:p>
            <a:pPr marL="171450" lvl="0" indent="-171450">
              <a:buFont typeface="Arial" panose="020B0604020202020204" pitchFamily="34" charset="0"/>
              <a:buChar char="•"/>
            </a:pPr>
            <a:r>
              <a:rPr lang="en-US"/>
              <a:t>Hence, we can conclude that our representation choice of compressing each molecule’s 188 descriptors to geometry-aware, 10-qubit inputs is beneficial to our performance even when factoring training-set size and cost</a:t>
            </a:r>
          </a:p>
        </p:txBody>
      </p:sp>
      <p:sp>
        <p:nvSpPr>
          <p:cNvPr id="4" name="Slide Number Placeholder 3">
            <a:extLst>
              <a:ext uri="{FF2B5EF4-FFF2-40B4-BE49-F238E27FC236}">
                <a16:creationId xmlns:a16="http://schemas.microsoft.com/office/drawing/2014/main" id="{CE7EB373-C3FB-D879-DEFA-24C177EB1FC7}"/>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433238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First result, on the held-out test sets. The headline quantum model, quantum kernel ridge on 10 qubits, reaches 0.492 debye mean absolute error with 1,000 labels, and 0.437 on formulas it never saw. Its classical twin, RBF kernel ridge on the same 10 inputs, gets 0.490 and 0.433. The paired difference is a thousandth of a debye. Every quantum variant lands in the same place, including the control with no entanglement. The team's Z-feature model is a bit weaker. And a classical kernel that isn't limited to 10 inputs does better still, at 0.453.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Simulation hides the cost. On a real device every kernel entry is its own circuit, so the fidelity kernel needs one circuit per pair of molecules: almost half a million just to train on 1,000 molecules, and about 1,640 QPU hours to train and predict our test sets at 1,000 shots. The feature-based models need one or three circuits per molecule: about 1.7 and 5 hours. For scale, IBM's free plan gives 10 minutes a month. Compiled for IBM hardware, one kernel circuit is 206 layers deep with 70 two-qubit gates, the main source of hardware error.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We then ran the team's Z feature ridge on IBM's ibm_quebec processor, through PINQ squared. We picked it because it needs only one circuit per molecule. First we rehearsed the exact same circuits on a simulated noise model of that device on our laptop. Then we sent one job: 160 circuits, for 100 training and 60 test molecules, 1,000 shots each, with no error mitigation. It used 45 seconds of QPU time, close to our 41-second estimate, after about 85 minutes in the queue. The ridge readout was then refit on the device's own measurements.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 The result: 0.778 debye on the real device, against 0.794 in exact simulation, and about 0.8 on the simulated noise models. With only 60 test molecules each number is uncertain by about a tenth of a debye, so the honest reading is that the device did as well as perfect simulation, not better. Refitting the readout on the device's own noisy measurements is what makes this model robust: it learns around the noise.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(~50 s) Back to our four questions. One: any model on our 10 inputs reaches about half a debye with 1,000 labels; to get below a tenth of a debye you need a physics-shaped model and about 10,000 labels, and with all 99 thousand it reaches 0.04. Two: no, the quantum kernels tie their classical twin, and the no-entanglement control ties too. Three: on the test set, new formulas were no harder, though on our development holdout they were, so it depends on which formulas you hold out. Four: on a real device only shot-aware or feature-based quantum models work, and our Z ridge ran on IBM hardware as accurately as in simulation.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975196"/>
            <a:ext cx="10566549" cy="44698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Verdana Pro" panose="020F0502020204030204" pitchFamily="34" charset="0"/>
                <a:ea typeface="Space Grotesk" pitchFamily="34" charset="-122"/>
                <a:cs typeface="Verdana Pro" panose="020F0502020204030204" pitchFamily="34" charset="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726" y="1726977"/>
            <a:ext cx="10566474" cy="4318223"/>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Verdana" panose="020B0604030504040204" pitchFamily="34" charset="0"/>
                <a:ea typeface="Verdana" panose="020B0604030504040204" pitchFamily="34" charset="0"/>
                <a:cs typeface="Verdana" panose="020B0604030504040204" pitchFamily="34" charset="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26" y="975196"/>
            <a:ext cx="10566549" cy="44698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726" y="1726977"/>
            <a:ext cx="10566474" cy="4318223"/>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Verdana Pro" panose="020B0604030504040204"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Sketch of a Bloch sphere with a state vector"/>
          <p:cNvPicPr>
            <a:picLocks noChangeAspect="1"/>
          </p:cNvPicPr>
          <p:nvPr/>
        </p:nvPicPr>
        <p:blipFill>
          <a:blip r:embed="rId3"/>
          <a:srcRect/>
          <a:stretch/>
        </p:blipFill>
        <p:spPr>
          <a:xfrm>
            <a:off x="7874000" y="1587500"/>
            <a:ext cx="3302000" cy="3302000"/>
          </a:xfrm>
          <a:prstGeom prst="rect">
            <a:avLst/>
          </a:prstGeom>
        </p:spPr>
      </p:pic>
      <p:sp>
        <p:nvSpPr>
          <p:cNvPr id="3" name="Text 0"/>
          <p:cNvSpPr/>
          <p:nvPr/>
        </p:nvSpPr>
        <p:spPr>
          <a:xfrm>
            <a:off x="812726" y="812726"/>
            <a:ext cx="10883545" cy="256456"/>
          </a:xfrm>
          <a:prstGeom prst="rect">
            <a:avLst/>
          </a:prstGeom>
          <a:noFill/>
          <a:ln/>
        </p:spPr>
        <p:txBody>
          <a:bodyPr wrap="square" lIns="0" tIns="0" rIns="0" bIns="0" rtlCol="0" anchor="t">
            <a:normAutofit/>
          </a:bodyPr>
          <a:lstStyle/>
          <a:p>
            <a:pPr marL="0" indent="0" algn="l">
              <a:lnSpc>
                <a:spcPts val="1820"/>
              </a:lnSpc>
              <a:buNone/>
            </a:pPr>
            <a:r>
              <a:rPr lang="en-US" sz="1300" b="1" kern="0" spc="150">
                <a:solidFill>
                  <a:srgbClr val="8AB4FF"/>
                </a:solidFill>
                <a:latin typeface="Verdana" panose="020B0604030504040204" pitchFamily="34" charset="0"/>
                <a:ea typeface="Verdana" panose="020B0604030504040204" pitchFamily="34" charset="0"/>
                <a:cs typeface="IBM Plex Sans" pitchFamily="34" charset="-120"/>
              </a:rPr>
              <a:t>QISKIT FALL FEST 2026 · UOTTAWA · PROMPT 07</a:t>
            </a:r>
            <a:endParaRPr lang="en-US" sz="1300">
              <a:latin typeface="Verdana" panose="020B0604030504040204" pitchFamily="34" charset="0"/>
            </a:endParaRPr>
          </a:p>
        </p:txBody>
      </p:sp>
      <p:sp>
        <p:nvSpPr>
          <p:cNvPr id="4" name="Text 1"/>
          <p:cNvSpPr>
            <a:spLocks noGrp="1"/>
          </p:cNvSpPr>
          <p:nvPr>
            <p:ph type="title"/>
          </p:nvPr>
        </p:nvSpPr>
        <p:spPr>
          <a:xfrm>
            <a:off x="812726" y="1246932"/>
            <a:ext cx="7063740" cy="2025650"/>
          </a:xfrm>
          <a:prstGeom prst="rect">
            <a:avLst/>
          </a:prstGeom>
          <a:noFill/>
          <a:ln/>
        </p:spPr>
        <p:txBody>
          <a:bodyPr wrap="square" lIns="0" tIns="0" rIns="0" bIns="0" rtlCol="0" anchor="t">
            <a:normAutofit/>
          </a:bodyPr>
          <a:lstStyle/>
          <a:p>
            <a:pPr marL="0" indent="0" algn="l">
              <a:lnSpc>
                <a:spcPts val="5250"/>
              </a:lnSpc>
              <a:buNone/>
            </a:pPr>
            <a:r>
              <a:rPr lang="en-US" sz="5000">
                <a:solidFill>
                  <a:srgbClr val="F3F1EA"/>
                </a:solidFill>
                <a:cs typeface="Space Grotesk" pitchFamily="34" charset="-120"/>
              </a:rPr>
              <a:t>Learning molecular dipoles from fewer labels</a:t>
            </a:r>
            <a:endParaRPr lang="en-US" sz="5000"/>
          </a:p>
        </p:txBody>
      </p:sp>
      <p:sp>
        <p:nvSpPr>
          <p:cNvPr id="5" name="Text 2"/>
          <p:cNvSpPr/>
          <p:nvPr/>
        </p:nvSpPr>
        <p:spPr>
          <a:xfrm>
            <a:off x="812726" y="3450332"/>
            <a:ext cx="7061274" cy="355550"/>
          </a:xfrm>
          <a:prstGeom prst="rect">
            <a:avLst/>
          </a:prstGeom>
          <a:noFill/>
          <a:ln/>
        </p:spPr>
        <p:txBody>
          <a:bodyPr wrap="square" lIns="0" tIns="0" rIns="0" bIns="0" rtlCol="0" anchor="t">
            <a:normAutofit/>
          </a:bodyPr>
          <a:lstStyle/>
          <a:p>
            <a:pPr marL="0" indent="0" algn="l">
              <a:lnSpc>
                <a:spcPts val="2600"/>
              </a:lnSpc>
              <a:buNone/>
            </a:pPr>
            <a:r>
              <a:rPr lang="en-US" sz="2000">
                <a:solidFill>
                  <a:srgbClr val="B9C4D6"/>
                </a:solidFill>
                <a:latin typeface="Verdana" panose="020B0604030504040204" pitchFamily="34" charset="0"/>
                <a:ea typeface="Verdana" panose="020B0604030504040204" pitchFamily="34" charset="0"/>
                <a:cs typeface="IBM Plex Sans" pitchFamily="34" charset="-120"/>
              </a:rPr>
              <a:t>Quantum kernel regression vs classical models on QM9</a:t>
            </a:r>
            <a:endParaRPr lang="en-US" sz="2000">
              <a:latin typeface="Verdana" panose="020B0604030504040204" pitchFamily="34" charset="0"/>
            </a:endParaRPr>
          </a:p>
        </p:txBody>
      </p:sp>
      <p:sp>
        <p:nvSpPr>
          <p:cNvPr id="6" name="Text 3"/>
          <p:cNvSpPr/>
          <p:nvPr/>
        </p:nvSpPr>
        <p:spPr>
          <a:xfrm>
            <a:off x="812726" y="5796359"/>
            <a:ext cx="10883545" cy="274315"/>
          </a:xfrm>
          <a:prstGeom prst="rect">
            <a:avLst/>
          </a:prstGeom>
          <a:noFill/>
          <a:ln/>
        </p:spPr>
        <p:txBody>
          <a:bodyPr wrap="square" lIns="0" tIns="0" rIns="0" bIns="0" rtlCol="0" anchor="t">
            <a:normAutofit/>
          </a:bodyPr>
          <a:lstStyle/>
          <a:p>
            <a:pPr>
              <a:lnSpc>
                <a:spcPts val="1960"/>
              </a:lnSpc>
            </a:pPr>
            <a:r>
              <a:rPr lang="en-US" sz="1400">
                <a:solidFill>
                  <a:srgbClr val="B9C4D6"/>
                </a:solidFill>
                <a:latin typeface="Verdana"/>
                <a:ea typeface="Verdana"/>
                <a:cs typeface="IBM Plex Sans" pitchFamily="34" charset="-120"/>
              </a:rPr>
              <a:t>Team Honey Pack Research · Roman Daher · Douglass Jeffrey · Jadon Xia · October 2026</a:t>
            </a:r>
            <a:endParaRPr lang="en-US" sz="1400">
              <a:latin typeface="Verdana"/>
              <a:ea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26" y="660301"/>
            <a:ext cx="10883545" cy="238720"/>
          </a:xfrm>
          <a:prstGeom prst="rect">
            <a:avLst/>
          </a:prstGeom>
          <a:noFill/>
          <a:ln/>
        </p:spPr>
        <p:txBody>
          <a:bodyPr wrap="square" lIns="0" tIns="0" rIns="0" bIns="0" rtlCol="0" anchor="t">
            <a:normAutofit/>
          </a:bodyPr>
          <a:lstStyle/>
          <a:p>
            <a:pPr marL="0" indent="0" algn="l">
              <a:lnSpc>
                <a:spcPts val="1680"/>
              </a:lnSpc>
              <a:buNone/>
            </a:pPr>
            <a:endParaRPr lang="en-US" sz="1200">
              <a:latin typeface="Verdana" panose="020B0604030504040204" pitchFamily="34" charset="0"/>
            </a:endParaRPr>
          </a:p>
        </p:txBody>
      </p:sp>
      <p:sp>
        <p:nvSpPr>
          <p:cNvPr id="3" name="Text 1"/>
          <p:cNvSpPr>
            <a:spLocks noGrp="1"/>
          </p:cNvSpPr>
          <p:nvPr>
            <p:ph type="title"/>
          </p:nvPr>
        </p:nvSpPr>
        <p:spPr>
          <a:xfrm>
            <a:off x="812726" y="975196"/>
            <a:ext cx="10883545" cy="919361"/>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0F1B2D"/>
                </a:solidFill>
                <a:cs typeface="Space Grotesk" pitchFamily="34" charset="-120"/>
              </a:rPr>
              <a:t>“How much reference data does a model need to predict molecular polarity?”</a:t>
            </a:r>
            <a:endParaRPr lang="en-US" sz="3200"/>
          </a:p>
        </p:txBody>
      </p:sp>
      <p:sp>
        <p:nvSpPr>
          <p:cNvPr id="4" name="Text 2"/>
          <p:cNvSpPr/>
          <p:nvPr/>
        </p:nvSpPr>
        <p:spPr>
          <a:xfrm>
            <a:off x="812726" y="2123157"/>
            <a:ext cx="9810750" cy="1130201"/>
          </a:xfrm>
          <a:prstGeom prst="rect">
            <a:avLst/>
          </a:prstGeom>
          <a:noFill/>
          <a:ln/>
        </p:spPr>
        <p:txBody>
          <a:bodyPr wrap="square" lIns="0" tIns="0" rIns="0" bIns="0" rtlCol="0" anchor="t">
            <a:normAutofit/>
          </a:bodyPr>
          <a:lstStyle/>
          <a:p>
            <a:pPr marL="0" indent="0" algn="l">
              <a:lnSpc>
                <a:spcPts val="2175"/>
              </a:lnSpc>
              <a:buNone/>
            </a:pPr>
            <a:r>
              <a:rPr lang="en-US" sz="1500">
                <a:solidFill>
                  <a:srgbClr val="4A5568"/>
                </a:solidFill>
                <a:latin typeface="Verdana" panose="020B0604030504040204" pitchFamily="34" charset="0"/>
                <a:ea typeface="Verdana" panose="020B0604030504040204" pitchFamily="34" charset="0"/>
                <a:cs typeface="IBM Plex Sans" pitchFamily="34" charset="-120"/>
              </a:rPr>
              <a:t>The dipole moment |μ| measures how far a molecule’s positive and negative charge are pulled apart; it drives solubility, intermolecular forces and spectroscopy. Every label in QM9 is a density-functional-theory calculation, so a model that needs fewer labels saves real compute. Quantum kernels are often proposed for exactly this small-data regime.</a:t>
            </a:r>
            <a:endParaRPr lang="en-US" sz="1500">
              <a:latin typeface="Verdana" panose="020B0604030504040204" pitchFamily="34" charset="0"/>
            </a:endParaRPr>
          </a:p>
        </p:txBody>
      </p:sp>
      <p:sp>
        <p:nvSpPr>
          <p:cNvPr id="5" name="Shape 3"/>
          <p:cNvSpPr/>
          <p:nvPr/>
        </p:nvSpPr>
        <p:spPr>
          <a:xfrm>
            <a:off x="815901" y="3485133"/>
            <a:ext cx="2521000" cy="1603102"/>
          </a:xfrm>
          <a:prstGeom prst="roundRect">
            <a:avLst>
              <a:gd name="adj" fmla="val 6140"/>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6" name="Text 4"/>
          <p:cNvSpPr/>
          <p:nvPr/>
        </p:nvSpPr>
        <p:spPr>
          <a:xfrm>
            <a:off x="1023813" y="3693046"/>
            <a:ext cx="2168329" cy="41657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2558C0"/>
                </a:solidFill>
                <a:latin typeface="Verdana Pro" panose="020F0502020204030204" pitchFamily="34" charset="0"/>
                <a:ea typeface="Space Grotesk" pitchFamily="34" charset="-122"/>
                <a:cs typeface="Space Grotesk" pitchFamily="34" charset="-120"/>
              </a:rPr>
              <a:t>01</a:t>
            </a:r>
            <a:endParaRPr lang="en-US" sz="2200">
              <a:latin typeface="Verdana" panose="020B0604030504040204" pitchFamily="34" charset="0"/>
            </a:endParaRPr>
          </a:p>
        </p:txBody>
      </p:sp>
      <p:sp>
        <p:nvSpPr>
          <p:cNvPr id="7" name="Text 5"/>
          <p:cNvSpPr/>
          <p:nvPr/>
        </p:nvSpPr>
        <p:spPr>
          <a:xfrm>
            <a:off x="1023813" y="4160366"/>
            <a:ext cx="2168329" cy="505371"/>
          </a:xfrm>
          <a:prstGeom prst="rect">
            <a:avLst/>
          </a:prstGeom>
          <a:noFill/>
          <a:ln/>
        </p:spPr>
        <p:txBody>
          <a:bodyPr wrap="square" lIns="0" tIns="0" rIns="0" bIns="0" rtlCol="0" anchor="t">
            <a:normAutofit/>
          </a:bodyPr>
          <a:lstStyle/>
          <a:p>
            <a:pPr marL="0" indent="0" algn="l">
              <a:lnSpc>
                <a:spcPts val="1890"/>
              </a:lnSpc>
              <a:buNone/>
            </a:pPr>
            <a:r>
              <a:rPr lang="en-US" sz="1400">
                <a:solidFill>
                  <a:srgbClr val="1B2433"/>
                </a:solidFill>
                <a:latin typeface="Verdana" panose="020B0604030504040204" pitchFamily="34" charset="0"/>
                <a:ea typeface="Verdana" panose="020B0604030504040204" pitchFamily="34" charset="0"/>
                <a:cs typeface="IBM Plex Sans" pitchFamily="34" charset="-120"/>
              </a:rPr>
              <a:t>How fast does error fall as labels grow?</a:t>
            </a:r>
            <a:endParaRPr lang="en-US" sz="1400">
              <a:latin typeface="Verdana" panose="020B0604030504040204" pitchFamily="34" charset="0"/>
            </a:endParaRPr>
          </a:p>
        </p:txBody>
      </p:sp>
      <p:sp>
        <p:nvSpPr>
          <p:cNvPr id="8" name="Shape 6"/>
          <p:cNvSpPr/>
          <p:nvPr/>
        </p:nvSpPr>
        <p:spPr>
          <a:xfrm>
            <a:off x="3495551" y="3485133"/>
            <a:ext cx="2521124" cy="1603102"/>
          </a:xfrm>
          <a:prstGeom prst="roundRect">
            <a:avLst>
              <a:gd name="adj" fmla="val 6140"/>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9" name="Text 7"/>
          <p:cNvSpPr/>
          <p:nvPr/>
        </p:nvSpPr>
        <p:spPr>
          <a:xfrm>
            <a:off x="3703464" y="3693046"/>
            <a:ext cx="2168457" cy="41657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2558C0"/>
                </a:solidFill>
                <a:latin typeface="Verdana Pro" panose="020F0502020204030204" pitchFamily="34" charset="0"/>
                <a:ea typeface="Space Grotesk" pitchFamily="34" charset="-122"/>
                <a:cs typeface="Space Grotesk" pitchFamily="34" charset="-120"/>
              </a:rPr>
              <a:t>02</a:t>
            </a:r>
            <a:endParaRPr lang="en-US" sz="2200">
              <a:latin typeface="Verdana" panose="020B0604030504040204" pitchFamily="34" charset="0"/>
            </a:endParaRPr>
          </a:p>
        </p:txBody>
      </p:sp>
      <p:sp>
        <p:nvSpPr>
          <p:cNvPr id="10" name="Text 8"/>
          <p:cNvSpPr/>
          <p:nvPr/>
        </p:nvSpPr>
        <p:spPr>
          <a:xfrm>
            <a:off x="3703464" y="4160366"/>
            <a:ext cx="2168457" cy="505371"/>
          </a:xfrm>
          <a:prstGeom prst="rect">
            <a:avLst/>
          </a:prstGeom>
          <a:noFill/>
          <a:ln/>
        </p:spPr>
        <p:txBody>
          <a:bodyPr wrap="square" lIns="0" tIns="0" rIns="0" bIns="0" rtlCol="0" anchor="t">
            <a:normAutofit/>
          </a:bodyPr>
          <a:lstStyle/>
          <a:p>
            <a:pPr marL="0" indent="0" algn="l">
              <a:lnSpc>
                <a:spcPts val="1890"/>
              </a:lnSpc>
              <a:buNone/>
            </a:pPr>
            <a:r>
              <a:rPr lang="en-US" sz="1400">
                <a:solidFill>
                  <a:srgbClr val="1B2433"/>
                </a:solidFill>
                <a:latin typeface="Verdana" panose="020B0604030504040204" pitchFamily="34" charset="0"/>
                <a:ea typeface="Verdana" panose="020B0604030504040204" pitchFamily="34" charset="0"/>
                <a:cs typeface="IBM Plex Sans" pitchFamily="34" charset="-120"/>
              </a:rPr>
              <a:t>Can a quantum model match its classical twin?</a:t>
            </a:r>
            <a:endParaRPr lang="en-US" sz="1400">
              <a:latin typeface="Verdana" panose="020B0604030504040204" pitchFamily="34" charset="0"/>
            </a:endParaRPr>
          </a:p>
        </p:txBody>
      </p:sp>
      <p:sp>
        <p:nvSpPr>
          <p:cNvPr id="11" name="Shape 9"/>
          <p:cNvSpPr/>
          <p:nvPr/>
        </p:nvSpPr>
        <p:spPr>
          <a:xfrm>
            <a:off x="6175325" y="3485133"/>
            <a:ext cx="2521000" cy="1603102"/>
          </a:xfrm>
          <a:prstGeom prst="roundRect">
            <a:avLst>
              <a:gd name="adj" fmla="val 6140"/>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2" name="Text 10"/>
          <p:cNvSpPr/>
          <p:nvPr/>
        </p:nvSpPr>
        <p:spPr>
          <a:xfrm>
            <a:off x="6383238" y="3693046"/>
            <a:ext cx="2168329" cy="41657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2558C0"/>
                </a:solidFill>
                <a:latin typeface="Verdana Pro" panose="020F0502020204030204" pitchFamily="34" charset="0"/>
                <a:ea typeface="Space Grotesk" pitchFamily="34" charset="-122"/>
                <a:cs typeface="Space Grotesk" pitchFamily="34" charset="-120"/>
              </a:rPr>
              <a:t>03</a:t>
            </a:r>
            <a:endParaRPr lang="en-US" sz="2200">
              <a:latin typeface="Verdana" panose="020B0604030504040204" pitchFamily="34" charset="0"/>
            </a:endParaRPr>
          </a:p>
        </p:txBody>
      </p:sp>
      <p:sp>
        <p:nvSpPr>
          <p:cNvPr id="13" name="Text 11"/>
          <p:cNvSpPr/>
          <p:nvPr/>
        </p:nvSpPr>
        <p:spPr>
          <a:xfrm>
            <a:off x="6383238" y="4160366"/>
            <a:ext cx="2168329" cy="745356"/>
          </a:xfrm>
          <a:prstGeom prst="rect">
            <a:avLst/>
          </a:prstGeom>
          <a:noFill/>
          <a:ln/>
        </p:spPr>
        <p:txBody>
          <a:bodyPr wrap="square" lIns="0" tIns="0" rIns="0" bIns="0" rtlCol="0" anchor="t">
            <a:normAutofit/>
          </a:bodyPr>
          <a:lstStyle/>
          <a:p>
            <a:pPr marL="0" indent="0" algn="l">
              <a:lnSpc>
                <a:spcPts val="1890"/>
              </a:lnSpc>
              <a:buNone/>
            </a:pPr>
            <a:r>
              <a:rPr lang="en-US" sz="1400">
                <a:solidFill>
                  <a:srgbClr val="1B2433"/>
                </a:solidFill>
                <a:latin typeface="Verdana" panose="020B0604030504040204" pitchFamily="34" charset="0"/>
                <a:ea typeface="Verdana" panose="020B0604030504040204" pitchFamily="34" charset="0"/>
                <a:cs typeface="IBM Plex Sans" pitchFamily="34" charset="-120"/>
              </a:rPr>
              <a:t>Do models extrapolate to formulas never seen in training?</a:t>
            </a:r>
            <a:endParaRPr lang="en-US" sz="1400">
              <a:latin typeface="Verdana" panose="020B0604030504040204" pitchFamily="34" charset="0"/>
            </a:endParaRPr>
          </a:p>
        </p:txBody>
      </p:sp>
      <p:sp>
        <p:nvSpPr>
          <p:cNvPr id="14" name="Shape 12"/>
          <p:cNvSpPr/>
          <p:nvPr/>
        </p:nvSpPr>
        <p:spPr>
          <a:xfrm>
            <a:off x="8854976" y="3485133"/>
            <a:ext cx="2521124" cy="1603102"/>
          </a:xfrm>
          <a:prstGeom prst="roundRect">
            <a:avLst>
              <a:gd name="adj" fmla="val 6140"/>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5" name="Text 13"/>
          <p:cNvSpPr/>
          <p:nvPr/>
        </p:nvSpPr>
        <p:spPr>
          <a:xfrm>
            <a:off x="9062889" y="3693046"/>
            <a:ext cx="2168457" cy="416570"/>
          </a:xfrm>
          <a:prstGeom prst="rect">
            <a:avLst/>
          </a:prstGeom>
          <a:noFill/>
          <a:ln/>
        </p:spPr>
        <p:txBody>
          <a:bodyPr wrap="square" lIns="0" tIns="0" rIns="0" bIns="0" rtlCol="0" anchor="t">
            <a:normAutofit/>
          </a:bodyPr>
          <a:lstStyle/>
          <a:p>
            <a:pPr marL="0" indent="0" algn="l">
              <a:lnSpc>
                <a:spcPts val="3080"/>
              </a:lnSpc>
              <a:buNone/>
            </a:pPr>
            <a:r>
              <a:rPr lang="en-US" sz="2200" b="1">
                <a:solidFill>
                  <a:srgbClr val="2558C0"/>
                </a:solidFill>
                <a:latin typeface="Verdana Pro" panose="020F0502020204030204" pitchFamily="34" charset="0"/>
                <a:ea typeface="Space Grotesk" pitchFamily="34" charset="-122"/>
                <a:cs typeface="Space Grotesk" pitchFamily="34" charset="-120"/>
              </a:rPr>
              <a:t>04</a:t>
            </a:r>
            <a:endParaRPr lang="en-US" sz="2200">
              <a:latin typeface="Verdana" panose="020B0604030504040204" pitchFamily="34" charset="0"/>
            </a:endParaRPr>
          </a:p>
        </p:txBody>
      </p:sp>
      <p:sp>
        <p:nvSpPr>
          <p:cNvPr id="16" name="Text 14"/>
          <p:cNvSpPr/>
          <p:nvPr/>
        </p:nvSpPr>
        <p:spPr>
          <a:xfrm>
            <a:off x="9062889" y="4160366"/>
            <a:ext cx="2168457" cy="505371"/>
          </a:xfrm>
          <a:prstGeom prst="rect">
            <a:avLst/>
          </a:prstGeom>
          <a:noFill/>
          <a:ln/>
        </p:spPr>
        <p:txBody>
          <a:bodyPr wrap="square" lIns="0" tIns="0" rIns="0" bIns="0" rtlCol="0" anchor="t">
            <a:normAutofit fontScale="92500"/>
          </a:bodyPr>
          <a:lstStyle/>
          <a:p>
            <a:pPr marL="0" indent="0" algn="l">
              <a:lnSpc>
                <a:spcPts val="1890"/>
              </a:lnSpc>
              <a:buNone/>
            </a:pPr>
            <a:r>
              <a:rPr lang="en-US" sz="1400">
                <a:solidFill>
                  <a:srgbClr val="1B2433"/>
                </a:solidFill>
                <a:latin typeface="Verdana" panose="020B0604030504040204" pitchFamily="34" charset="0"/>
                <a:ea typeface="Verdana" panose="020B0604030504040204" pitchFamily="34" charset="0"/>
                <a:cs typeface="IBM Plex Sans" pitchFamily="34" charset="-120"/>
              </a:rPr>
              <a:t>Does it survive shots, noise and real hardware?</a:t>
            </a:r>
            <a:endParaRPr lang="en-US" sz="1400">
              <a:latin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a:latin typeface="Verdana" panose="020B0604030504040204" pitchFamily="34" charset="0"/>
            </a:endParaRPr>
          </a:p>
        </p:txBody>
      </p:sp>
      <p:sp>
        <p:nvSpPr>
          <p:cNvPr id="3" name="Text 1"/>
          <p:cNvSpPr>
            <a:spLocks noGrp="1"/>
          </p:cNvSpPr>
          <p:nvPr>
            <p:ph type="title"/>
          </p:nvPr>
        </p:nvSpPr>
        <p:spPr>
          <a:xfrm>
            <a:off x="812800" y="975320"/>
            <a:ext cx="10883392" cy="472414"/>
          </a:xfrm>
          <a:prstGeom prst="rect">
            <a:avLst/>
          </a:prstGeom>
          <a:noFill/>
          <a:ln/>
        </p:spPr>
        <p:txBody>
          <a:bodyPr wrap="square" lIns="0" tIns="0" rIns="0" bIns="0" rtlCol="0" anchor="t">
            <a:normAutofit fontScale="90000"/>
          </a:bodyPr>
          <a:lstStyle/>
          <a:p>
            <a:pPr marL="0" indent="0" algn="l">
              <a:lnSpc>
                <a:spcPts val="3520"/>
              </a:lnSpc>
              <a:buNone/>
            </a:pPr>
            <a:r>
              <a:rPr lang="en-US" sz="3200" b="1" i="0">
                <a:solidFill>
                  <a:srgbClr val="0F1B2D"/>
                </a:solidFill>
                <a:cs typeface="Space Grotesk" pitchFamily="34" charset="-120"/>
              </a:rPr>
              <a:t>Predict how polar a molecule is from its structure</a:t>
            </a:r>
            <a:endParaRPr lang="en-US" sz="3200" b="1"/>
          </a:p>
        </p:txBody>
      </p:sp>
      <p:sp>
        <p:nvSpPr>
          <p:cNvPr id="4" name="Shape 2"/>
          <p:cNvSpPr/>
          <p:nvPr/>
        </p:nvSpPr>
        <p:spPr>
          <a:xfrm>
            <a:off x="815975" y="1679509"/>
            <a:ext cx="3943350" cy="2755239"/>
          </a:xfrm>
          <a:prstGeom prst="roundRect">
            <a:avLst>
              <a:gd name="adj" fmla="val 3572"/>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5" name="Text 3"/>
          <p:cNvSpPr/>
          <p:nvPr/>
        </p:nvSpPr>
        <p:spPr>
          <a:xfrm>
            <a:off x="1045633" y="1909167"/>
            <a:ext cx="35885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INPUTS, FROM QM9</a:t>
            </a:r>
            <a:endParaRPr lang="en-US" sz="1200">
              <a:latin typeface="Verdana" panose="020B0604030504040204" pitchFamily="34" charset="0"/>
            </a:endParaRPr>
          </a:p>
        </p:txBody>
      </p:sp>
      <p:sp>
        <p:nvSpPr>
          <p:cNvPr id="6" name="Text 4"/>
          <p:cNvSpPr/>
          <p:nvPr/>
        </p:nvSpPr>
        <p:spPr>
          <a:xfrm>
            <a:off x="1045633" y="2236788"/>
            <a:ext cx="3588554" cy="299707"/>
          </a:xfrm>
          <a:prstGeom prst="rect">
            <a:avLst/>
          </a:prstGeom>
          <a:noFill/>
          <a:ln/>
        </p:spPr>
        <p:txBody>
          <a:bodyPr wrap="square" lIns="0" tIns="0" rIns="0" bIns="0" rtlCol="0" anchor="t">
            <a:normAutofit fontScale="92500"/>
          </a:bodyPr>
          <a:lstStyle/>
          <a:p>
            <a:pPr marL="0" indent="0" algn="l">
              <a:lnSpc>
                <a:spcPts val="2160"/>
              </a:lnSpc>
              <a:buNone/>
            </a:pPr>
            <a:r>
              <a:rPr lang="en-US" sz="1800" b="1">
                <a:solidFill>
                  <a:srgbClr val="0F1B2D"/>
                </a:solidFill>
                <a:latin typeface="Verdana Pro" panose="020F0502020204030204" pitchFamily="34" charset="0"/>
                <a:ea typeface="Space Grotesk" pitchFamily="34" charset="-122"/>
                <a:cs typeface="Space Grotesk" pitchFamily="34" charset="-120"/>
              </a:rPr>
              <a:t>Atoms and their 3D positions</a:t>
            </a:r>
            <a:endParaRPr lang="en-US" sz="1800">
              <a:latin typeface="Verdana" panose="020B0604030504040204" pitchFamily="34" charset="0"/>
            </a:endParaRPr>
          </a:p>
        </p:txBody>
      </p:sp>
      <p:sp>
        <p:nvSpPr>
          <p:cNvPr id="7" name="Text 5"/>
          <p:cNvSpPr/>
          <p:nvPr/>
        </p:nvSpPr>
        <p:spPr>
          <a:xfrm>
            <a:off x="1045633" y="2625394"/>
            <a:ext cx="3588554" cy="487627"/>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Z</a:t>
            </a:r>
            <a:r>
              <a:rPr lang="en-US" sz="1300">
                <a:solidFill>
                  <a:srgbClr val="1B2433"/>
                </a:solidFill>
                <a:latin typeface="Verdana" panose="020B0604030504040204" pitchFamily="34" charset="0"/>
                <a:ea typeface="Verdana" panose="020B0604030504040204" pitchFamily="34" charset="0"/>
                <a:cs typeface="IBM Plex Sans" pitchFamily="34" charset="-120"/>
              </a:rPr>
              <a:t>: the atomic number of every atom (H, C, N, O or F)</a:t>
            </a:r>
            <a:endParaRPr lang="en-US" sz="1300">
              <a:latin typeface="Verdana" panose="020B0604030504040204" pitchFamily="34" charset="0"/>
            </a:endParaRPr>
          </a:p>
        </p:txBody>
      </p:sp>
      <p:sp>
        <p:nvSpPr>
          <p:cNvPr id="8" name="Text 6"/>
          <p:cNvSpPr/>
          <p:nvPr/>
        </p:nvSpPr>
        <p:spPr>
          <a:xfrm>
            <a:off x="1045633" y="3201921"/>
            <a:ext cx="3588554" cy="487627"/>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R</a:t>
            </a:r>
            <a:r>
              <a:rPr lang="en-US" sz="1300">
                <a:solidFill>
                  <a:srgbClr val="1B2433"/>
                </a:solidFill>
                <a:latin typeface="Verdana" panose="020B0604030504040204" pitchFamily="34" charset="0"/>
                <a:ea typeface="Verdana" panose="020B0604030504040204" pitchFamily="34" charset="0"/>
                <a:cs typeface="IBM Plex Sans" pitchFamily="34" charset="-120"/>
              </a:rPr>
              <a:t>: the x, y, z coordinates of every atom, in ångström</a:t>
            </a:r>
            <a:endParaRPr lang="en-US" sz="1300">
              <a:latin typeface="Verdana" panose="020B0604030504040204" pitchFamily="34" charset="0"/>
            </a:endParaRPr>
          </a:p>
        </p:txBody>
      </p:sp>
      <p:sp>
        <p:nvSpPr>
          <p:cNvPr id="9" name="Text 7"/>
          <p:cNvSpPr/>
          <p:nvPr/>
        </p:nvSpPr>
        <p:spPr>
          <a:xfrm>
            <a:off x="1045633" y="3778448"/>
            <a:ext cx="3588554"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3 to 29 atoms per molecule, up to 9 of them heavier than hydrogen</a:t>
            </a:r>
            <a:endParaRPr lang="en-US" sz="1200">
              <a:latin typeface="Verdana" panose="020B0604030504040204" pitchFamily="34" charset="0"/>
            </a:endParaRPr>
          </a:p>
        </p:txBody>
      </p:sp>
      <p:pic>
        <p:nvPicPr>
          <p:cNvPr id="10" name="Image 0" descr="arrow-right"/>
          <p:cNvPicPr>
            <a:picLocks noChangeAspect="1"/>
          </p:cNvPicPr>
          <p:nvPr/>
        </p:nvPicPr>
        <p:blipFill>
          <a:blip r:embed="rId3"/>
          <a:srcRect/>
          <a:stretch/>
        </p:blipFill>
        <p:spPr>
          <a:xfrm>
            <a:off x="4864100" y="2980928"/>
            <a:ext cx="304800" cy="152400"/>
          </a:xfrm>
          <a:prstGeom prst="rect">
            <a:avLst/>
          </a:prstGeom>
        </p:spPr>
      </p:pic>
      <p:sp>
        <p:nvSpPr>
          <p:cNvPr id="11" name="Shape 8"/>
          <p:cNvSpPr/>
          <p:nvPr/>
        </p:nvSpPr>
        <p:spPr>
          <a:xfrm>
            <a:off x="5270500" y="2365044"/>
            <a:ext cx="1651000" cy="1384168"/>
          </a:xfrm>
          <a:prstGeom prst="roundRect">
            <a:avLst>
              <a:gd name="adj" fmla="val 7340"/>
            </a:avLst>
          </a:prstGeom>
          <a:solidFill>
            <a:srgbClr val="0F1B2D"/>
          </a:solidFill>
          <a:ln/>
        </p:spPr>
        <p:txBody>
          <a:bodyPr/>
          <a:lstStyle/>
          <a:p>
            <a:endParaRPr lang="en-CA">
              <a:latin typeface="Verdana" panose="020B0604030504040204" pitchFamily="34" charset="0"/>
            </a:endParaRPr>
          </a:p>
        </p:txBody>
      </p:sp>
      <p:sp>
        <p:nvSpPr>
          <p:cNvPr id="12" name="Text 9"/>
          <p:cNvSpPr/>
          <p:nvPr/>
        </p:nvSpPr>
        <p:spPr>
          <a:xfrm>
            <a:off x="5473700" y="2568244"/>
            <a:ext cx="1295400" cy="513027"/>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F3F1EA"/>
                </a:solidFill>
                <a:latin typeface="Verdana Pro" panose="020F0502020204030204" pitchFamily="34" charset="0"/>
                <a:ea typeface="Space Grotesk" pitchFamily="34" charset="-122"/>
                <a:cs typeface="Space Grotesk" pitchFamily="34" charset="-120"/>
              </a:rPr>
              <a:t>Regression model</a:t>
            </a:r>
            <a:endParaRPr lang="en-US" sz="1600">
              <a:latin typeface="Verdana" panose="020B0604030504040204" pitchFamily="34" charset="0"/>
            </a:endParaRPr>
          </a:p>
        </p:txBody>
      </p:sp>
      <p:sp>
        <p:nvSpPr>
          <p:cNvPr id="13" name="Text 10"/>
          <p:cNvSpPr/>
          <p:nvPr/>
        </p:nvSpPr>
        <p:spPr>
          <a:xfrm>
            <a:off x="5473700" y="3119371"/>
            <a:ext cx="1295400"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B9C4D6"/>
                </a:solidFill>
                <a:latin typeface="Verdana" panose="020B0604030504040204" pitchFamily="34" charset="0"/>
                <a:ea typeface="Verdana" panose="020B0604030504040204" pitchFamily="34" charset="0"/>
                <a:cs typeface="IBM Plex Sans" pitchFamily="34" charset="-120"/>
              </a:rPr>
              <a:t>quantum or classical</a:t>
            </a:r>
            <a:endParaRPr lang="en-US" sz="1200">
              <a:latin typeface="Verdana" panose="020B0604030504040204" pitchFamily="34" charset="0"/>
            </a:endParaRPr>
          </a:p>
        </p:txBody>
      </p:sp>
      <p:pic>
        <p:nvPicPr>
          <p:cNvPr id="14" name="Image 1" descr="arrow-right"/>
          <p:cNvPicPr>
            <a:picLocks noChangeAspect="1"/>
          </p:cNvPicPr>
          <p:nvPr/>
        </p:nvPicPr>
        <p:blipFill>
          <a:blip r:embed="rId3"/>
          <a:srcRect/>
          <a:stretch/>
        </p:blipFill>
        <p:spPr>
          <a:xfrm>
            <a:off x="7023100" y="2980928"/>
            <a:ext cx="304800" cy="152400"/>
          </a:xfrm>
          <a:prstGeom prst="rect">
            <a:avLst/>
          </a:prstGeom>
        </p:spPr>
      </p:pic>
      <p:sp>
        <p:nvSpPr>
          <p:cNvPr id="15" name="Shape 11"/>
          <p:cNvSpPr/>
          <p:nvPr/>
        </p:nvSpPr>
        <p:spPr>
          <a:xfrm>
            <a:off x="7432675" y="1937279"/>
            <a:ext cx="3943350" cy="2239698"/>
          </a:xfrm>
          <a:prstGeom prst="roundRect">
            <a:avLst>
              <a:gd name="adj" fmla="val 4395"/>
            </a:avLst>
          </a:prstGeom>
          <a:solidFill>
            <a:srgbClr val="E6EDFA"/>
          </a:solidFill>
          <a:ln w="6350">
            <a:solidFill>
              <a:srgbClr val="C7D5F2"/>
            </a:solidFill>
            <a:prstDash val="solid"/>
          </a:ln>
        </p:spPr>
        <p:txBody>
          <a:bodyPr/>
          <a:lstStyle/>
          <a:p>
            <a:endParaRPr lang="en-CA">
              <a:latin typeface="Verdana" panose="020B0604030504040204" pitchFamily="34" charset="0"/>
            </a:endParaRPr>
          </a:p>
        </p:txBody>
      </p:sp>
      <p:sp>
        <p:nvSpPr>
          <p:cNvPr id="16" name="Text 12"/>
          <p:cNvSpPr/>
          <p:nvPr/>
        </p:nvSpPr>
        <p:spPr>
          <a:xfrm>
            <a:off x="7662334" y="2166938"/>
            <a:ext cx="35885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1D4699"/>
                </a:solidFill>
                <a:latin typeface="Verdana" panose="020B0604030504040204" pitchFamily="34" charset="0"/>
                <a:ea typeface="Verdana" panose="020B0604030504040204" pitchFamily="34" charset="0"/>
                <a:cs typeface="IBM Plex Sans" pitchFamily="34" charset="-120"/>
              </a:rPr>
              <a:t>OUTPUT</a:t>
            </a:r>
            <a:endParaRPr lang="en-US" sz="1200">
              <a:latin typeface="Verdana" panose="020B0604030504040204" pitchFamily="34" charset="0"/>
            </a:endParaRPr>
          </a:p>
        </p:txBody>
      </p:sp>
      <p:sp>
        <p:nvSpPr>
          <p:cNvPr id="17" name="Text 13"/>
          <p:cNvSpPr/>
          <p:nvPr/>
        </p:nvSpPr>
        <p:spPr>
          <a:xfrm>
            <a:off x="7662334" y="2494558"/>
            <a:ext cx="3588554" cy="574014"/>
          </a:xfrm>
          <a:prstGeom prst="rect">
            <a:avLst/>
          </a:prstGeom>
          <a:noFill/>
          <a:ln/>
        </p:spPr>
        <p:txBody>
          <a:bodyPr wrap="square" lIns="0" tIns="0" rIns="0" bIns="0" rtlCol="0" anchor="t">
            <a:normAutofit/>
          </a:bodyPr>
          <a:lstStyle/>
          <a:p>
            <a:pPr marL="0" indent="0" algn="l">
              <a:lnSpc>
                <a:spcPts val="2160"/>
              </a:lnSpc>
              <a:buNone/>
            </a:pPr>
            <a:r>
              <a:rPr lang="en-US" sz="1800" b="1">
                <a:solidFill>
                  <a:srgbClr val="0F1B2D"/>
                </a:solidFill>
                <a:latin typeface="Verdana Pro" panose="020F0502020204030204" pitchFamily="34" charset="0"/>
                <a:ea typeface="Space Grotesk" pitchFamily="34" charset="-122"/>
                <a:cs typeface="Space Grotesk" pitchFamily="34" charset="-120"/>
              </a:rPr>
              <a:t>Dipole moment magnitude |μ|, in debye (D)</a:t>
            </a:r>
            <a:endParaRPr lang="en-US" sz="1800">
              <a:latin typeface="Verdana" panose="020B0604030504040204" pitchFamily="34" charset="0"/>
            </a:endParaRPr>
          </a:p>
        </p:txBody>
      </p:sp>
      <p:sp>
        <p:nvSpPr>
          <p:cNvPr id="18" name="Text 14"/>
          <p:cNvSpPr/>
          <p:nvPr/>
        </p:nvSpPr>
        <p:spPr>
          <a:xfrm>
            <a:off x="7662334" y="3157471"/>
            <a:ext cx="3588554" cy="487627"/>
          </a:xfrm>
          <a:prstGeom prst="rect">
            <a:avLst/>
          </a:prstGeom>
          <a:noFill/>
          <a:ln/>
        </p:spPr>
        <p:txBody>
          <a:bodyPr wrap="square" lIns="0" tIns="0" rIns="0" bIns="0" rtlCol="0" anchor="t">
            <a:normAutofit/>
          </a:bodyPr>
          <a:lstStyle/>
          <a:p>
            <a:pPr marL="0" indent="0" algn="l">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Charge separation: how much charge is pulled apart, times how far</a:t>
            </a:r>
            <a:endParaRPr lang="en-US" sz="1300">
              <a:latin typeface="Verdana" panose="020B0604030504040204" pitchFamily="34" charset="0"/>
            </a:endParaRPr>
          </a:p>
        </p:txBody>
      </p:sp>
      <p:sp>
        <p:nvSpPr>
          <p:cNvPr id="19" name="Text 15"/>
          <p:cNvSpPr/>
          <p:nvPr/>
        </p:nvSpPr>
        <p:spPr>
          <a:xfrm>
            <a:off x="7662334" y="3733998"/>
            <a:ext cx="3588554" cy="238720"/>
          </a:xfrm>
          <a:prstGeom prst="rect">
            <a:avLst/>
          </a:prstGeom>
          <a:noFill/>
          <a:ln/>
        </p:spPr>
        <p:txBody>
          <a:bodyPr wrap="square" lIns="0" tIns="0" rIns="0" bIns="0" rtlCol="0" anchor="t">
            <a:normAutofit fontScale="92500"/>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Methane 0 D · water 1.85 D · QM9 average 2.7 D</a:t>
            </a:r>
            <a:endParaRPr lang="en-US" sz="1200">
              <a:latin typeface="Verdana" panose="020B0604030504040204" pitchFamily="34" charset="0"/>
            </a:endParaRPr>
          </a:p>
        </p:txBody>
      </p:sp>
      <p:sp>
        <p:nvSpPr>
          <p:cNvPr id="20" name="Shape 16"/>
          <p:cNvSpPr/>
          <p:nvPr/>
        </p:nvSpPr>
        <p:spPr>
          <a:xfrm>
            <a:off x="812800" y="4691923"/>
            <a:ext cx="10566400" cy="767027"/>
          </a:xfrm>
          <a:prstGeom prst="roundRect">
            <a:avLst>
              <a:gd name="adj" fmla="val 13246"/>
            </a:avLst>
          </a:prstGeom>
          <a:solidFill>
            <a:srgbClr val="E6EDFA"/>
          </a:solidFill>
          <a:ln/>
        </p:spPr>
        <p:txBody>
          <a:bodyPr/>
          <a:lstStyle/>
          <a:p>
            <a:endParaRPr lang="en-CA">
              <a:latin typeface="Verdana" panose="020B0604030504040204" pitchFamily="34" charset="0"/>
            </a:endParaRPr>
          </a:p>
        </p:txBody>
      </p:sp>
      <p:pic>
        <p:nvPicPr>
          <p:cNvPr id="21" name="Image 2" descr="Lightbulb"/>
          <p:cNvPicPr>
            <a:picLocks noChangeAspect="1"/>
          </p:cNvPicPr>
          <p:nvPr/>
        </p:nvPicPr>
        <p:blipFill>
          <a:blip r:embed="rId4"/>
          <a:srcRect l="-108" r="-108"/>
          <a:stretch/>
        </p:blipFill>
        <p:spPr>
          <a:xfrm>
            <a:off x="1016000" y="4935736"/>
            <a:ext cx="184547" cy="279400"/>
          </a:xfrm>
          <a:prstGeom prst="rect">
            <a:avLst/>
          </a:prstGeom>
        </p:spPr>
      </p:pic>
      <p:sp>
        <p:nvSpPr>
          <p:cNvPr id="22" name="Text 17"/>
          <p:cNvSpPr/>
          <p:nvPr/>
        </p:nvSpPr>
        <p:spPr>
          <a:xfrm>
            <a:off x="1327547" y="4844323"/>
            <a:ext cx="10143907" cy="487627"/>
          </a:xfrm>
          <a:prstGeom prst="rect">
            <a:avLst/>
          </a:prstGeom>
          <a:noFill/>
          <a:ln/>
        </p:spPr>
        <p:txBody>
          <a:bodyPr wrap="square" lIns="0" tIns="0" rIns="0" bIns="0" rtlCol="0" anchor="t">
            <a:normAutofit/>
          </a:bodyPr>
          <a:lstStyle/>
          <a:p>
            <a:pPr marL="0" indent="0" algn="l">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Each QM9 label took a quantum-chemistry (DFT) calculation, so a model that needs fewer labels saves real compute. |μ| does not change when a molecule is rotated or moved, so neither may the model.</a:t>
            </a:r>
            <a:endParaRPr lang="en-US" sz="1300">
              <a:latin typeface="Verdan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5901" y="1480427"/>
            <a:ext cx="10883545" cy="238720"/>
          </a:xfrm>
          <a:prstGeom prst="rect">
            <a:avLst/>
          </a:prstGeom>
          <a:noFill/>
          <a:ln/>
        </p:spPr>
        <p:txBody>
          <a:bodyPr wrap="square" lIns="0" tIns="0" rIns="0" bIns="0" rtlCol="0" anchor="t">
            <a:normAutofit/>
          </a:bodyPr>
          <a:lstStyle/>
          <a:p>
            <a:pPr marL="0" indent="0" algn="l">
              <a:lnSpc>
                <a:spcPts val="1680"/>
              </a:lnSpc>
              <a:buNone/>
            </a:pPr>
            <a:endParaRPr lang="en-US" sz="1200">
              <a:latin typeface="Verdana" panose="020B0604030504040204" pitchFamily="34" charset="0"/>
            </a:endParaRPr>
          </a:p>
        </p:txBody>
      </p:sp>
      <p:sp>
        <p:nvSpPr>
          <p:cNvPr id="3" name="Text 1"/>
          <p:cNvSpPr>
            <a:spLocks noGrp="1"/>
          </p:cNvSpPr>
          <p:nvPr>
            <p:ph type="title"/>
          </p:nvPr>
        </p:nvSpPr>
        <p:spPr>
          <a:xfrm>
            <a:off x="812726" y="975196"/>
            <a:ext cx="11379274" cy="472380"/>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0F1B2D"/>
                </a:solidFill>
                <a:cs typeface="Space Grotesk" pitchFamily="34" charset="-120"/>
              </a:rPr>
              <a:t>How do we evaluate the models?</a:t>
            </a:r>
            <a:endParaRPr lang="en-US" sz="3200"/>
          </a:p>
        </p:txBody>
      </p:sp>
      <p:sp>
        <p:nvSpPr>
          <p:cNvPr id="4" name="Shape 2"/>
          <p:cNvSpPr/>
          <p:nvPr/>
        </p:nvSpPr>
        <p:spPr>
          <a:xfrm>
            <a:off x="819076" y="2499478"/>
            <a:ext cx="5175349" cy="2667471"/>
          </a:xfrm>
          <a:prstGeom prst="roundRect">
            <a:avLst>
              <a:gd name="adj" fmla="val 3690"/>
            </a:avLst>
          </a:prstGeom>
          <a:solidFill>
            <a:schemeClr val="accent6">
              <a:lumMod val="60000"/>
              <a:lumOff val="40000"/>
            </a:schemeClr>
          </a:solidFill>
          <a:ln w="6350">
            <a:solidFill>
              <a:srgbClr val="E2DED5"/>
            </a:solidFill>
            <a:prstDash val="solid"/>
          </a:ln>
        </p:spPr>
        <p:txBody>
          <a:bodyPr/>
          <a:lstStyle/>
          <a:p>
            <a:endParaRPr lang="en-CA">
              <a:latin typeface="Verdana" panose="020B0604030504040204" pitchFamily="34" charset="0"/>
            </a:endParaRPr>
          </a:p>
        </p:txBody>
      </p:sp>
      <p:sp>
        <p:nvSpPr>
          <p:cNvPr id="5" name="Text 3"/>
          <p:cNvSpPr/>
          <p:nvPr/>
        </p:nvSpPr>
        <p:spPr>
          <a:xfrm>
            <a:off x="1077838" y="2758240"/>
            <a:ext cx="479755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chemeClr val="accent6">
                    <a:lumMod val="50000"/>
                  </a:schemeClr>
                </a:solidFill>
                <a:latin typeface="Verdana" panose="020B0604030504040204" pitchFamily="34" charset="0"/>
                <a:ea typeface="Verdana" panose="020B0604030504040204" pitchFamily="34" charset="0"/>
                <a:cs typeface="IBM Plex Sans" pitchFamily="34" charset="-120"/>
              </a:rPr>
              <a:t>TRACK A</a:t>
            </a:r>
            <a:endParaRPr lang="en-US" sz="1200">
              <a:solidFill>
                <a:schemeClr val="accent6">
                  <a:lumMod val="50000"/>
                </a:schemeClr>
              </a:solidFill>
              <a:latin typeface="Verdana" panose="020B0604030504040204" pitchFamily="34" charset="0"/>
            </a:endParaRPr>
          </a:p>
        </p:txBody>
      </p:sp>
      <p:sp>
        <p:nvSpPr>
          <p:cNvPr id="6" name="Text 4"/>
          <p:cNvSpPr/>
          <p:nvPr/>
        </p:nvSpPr>
        <p:spPr>
          <a:xfrm>
            <a:off x="1077838" y="3073136"/>
            <a:ext cx="4797559" cy="330126"/>
          </a:xfrm>
          <a:prstGeom prst="rect">
            <a:avLst/>
          </a:prstGeom>
          <a:noFill/>
          <a:ln/>
        </p:spPr>
        <p:txBody>
          <a:bodyPr wrap="square" lIns="0" tIns="0" rIns="0" bIns="0" rtlCol="0" anchor="t">
            <a:normAutofit/>
          </a:bodyPr>
          <a:lstStyle/>
          <a:p>
            <a:pPr marL="0" indent="0" algn="l">
              <a:lnSpc>
                <a:spcPts val="2400"/>
              </a:lnSpc>
              <a:buNone/>
            </a:pPr>
            <a:r>
              <a:rPr lang="en-US" sz="1600" b="1">
                <a:solidFill>
                  <a:srgbClr val="0F1B2D"/>
                </a:solidFill>
                <a:latin typeface="Verdana Pro" panose="020F0502020204030204" pitchFamily="34" charset="0"/>
                <a:ea typeface="Space Grotesk" pitchFamily="34" charset="-122"/>
                <a:cs typeface="Space Grotesk" pitchFamily="34" charset="-120"/>
              </a:rPr>
              <a:t>Best Performing Classical Model?</a:t>
            </a:r>
            <a:endParaRPr lang="en-US" sz="1600">
              <a:latin typeface="Verdana" panose="020B0604030504040204" pitchFamily="34" charset="0"/>
            </a:endParaRPr>
          </a:p>
        </p:txBody>
      </p:sp>
      <p:sp>
        <p:nvSpPr>
          <p:cNvPr id="7" name="Text 5"/>
          <p:cNvSpPr/>
          <p:nvPr/>
        </p:nvSpPr>
        <p:spPr>
          <a:xfrm>
            <a:off x="1077838" y="3479437"/>
            <a:ext cx="4797559" cy="274315"/>
          </a:xfrm>
          <a:prstGeom prst="rect">
            <a:avLst/>
          </a:prstGeom>
          <a:noFill/>
          <a:ln/>
        </p:spPr>
        <p:txBody>
          <a:bodyPr wrap="square" lIns="0" tIns="0" rIns="0" bIns="0" rtlCol="0" anchor="t">
            <a:normAutofit/>
          </a:bodyPr>
          <a:lstStyle/>
          <a:p>
            <a:pPr marL="0" indent="0" algn="l">
              <a:lnSpc>
                <a:spcPts val="1960"/>
              </a:lnSpc>
              <a:buNone/>
            </a:pPr>
            <a:r>
              <a:rPr lang="en-US" sz="1400" i="1">
                <a:solidFill>
                  <a:srgbClr val="4A5568"/>
                </a:solidFill>
                <a:latin typeface="Verdana" panose="020B0604030504040204" pitchFamily="34" charset="0"/>
                <a:ea typeface="Verdana" panose="020B0604030504040204" pitchFamily="34" charset="0"/>
                <a:cs typeface="IBM Plex Sans" pitchFamily="34" charset="-120"/>
              </a:rPr>
              <a:t>How far can classical go from atoms and geometry?</a:t>
            </a:r>
            <a:endParaRPr lang="en-US" sz="1400">
              <a:latin typeface="Verdana" panose="020B0604030504040204" pitchFamily="34" charset="0"/>
            </a:endParaRPr>
          </a:p>
        </p:txBody>
      </p:sp>
      <p:sp>
        <p:nvSpPr>
          <p:cNvPr id="8" name="Text 6"/>
          <p:cNvSpPr/>
          <p:nvPr/>
        </p:nvSpPr>
        <p:spPr>
          <a:xfrm>
            <a:off x="1156070" y="3829927"/>
            <a:ext cx="4711707" cy="1056779"/>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a:solidFill>
                  <a:srgbClr val="1B2433"/>
                </a:solidFill>
                <a:latin typeface="Verdana" panose="020B0604030504040204" pitchFamily="34" charset="0"/>
                <a:ea typeface="Verdana" panose="020B0604030504040204" pitchFamily="34" charset="0"/>
                <a:cs typeface="IBM Plex Sans" pitchFamily="34" charset="-120"/>
              </a:rPr>
              <a:t>Up to all 99,198 training labels</a:t>
            </a:r>
            <a:endParaRPr lang="en-US" sz="1400">
              <a:latin typeface="Verdana" panose="020B0604030504040204" pitchFamily="34" charset="0"/>
            </a:endParaRPr>
          </a:p>
          <a:p>
            <a:pPr marL="175768" indent="-175768" algn="l">
              <a:lnSpc>
                <a:spcPts val="2030"/>
              </a:lnSpc>
              <a:buSzPct val="100000"/>
              <a:buChar char="•"/>
            </a:pPr>
            <a:r>
              <a:rPr lang="en-US" sz="1400">
                <a:solidFill>
                  <a:srgbClr val="1B2433"/>
                </a:solidFill>
                <a:latin typeface="Verdana" panose="020B0604030504040204" pitchFamily="34" charset="0"/>
                <a:ea typeface="Verdana" panose="020B0604030504040204" pitchFamily="34" charset="0"/>
                <a:cs typeface="IBM Plex Sans" pitchFamily="34" charset="-120"/>
              </a:rPr>
              <a:t>All 188 features</a:t>
            </a:r>
          </a:p>
          <a:p>
            <a:pPr marL="175768" indent="-175768" algn="l">
              <a:lnSpc>
                <a:spcPts val="2030"/>
              </a:lnSpc>
              <a:buSzPct val="100000"/>
              <a:buChar char="•"/>
            </a:pPr>
            <a:r>
              <a:rPr lang="en-US" sz="1400">
                <a:solidFill>
                  <a:srgbClr val="1B2433"/>
                </a:solidFill>
                <a:latin typeface="Verdana" panose="020B0604030504040204" pitchFamily="34" charset="0"/>
                <a:ea typeface="Verdana" panose="020B0604030504040204" pitchFamily="34" charset="0"/>
                <a:cs typeface="IBM Plex Sans" pitchFamily="34" charset="-120"/>
              </a:rPr>
              <a:t>Ridge, RBF kernel ridge, XGBoost, and a latent-charge network</a:t>
            </a:r>
            <a:endParaRPr lang="en-US" sz="1400">
              <a:latin typeface="Verdana" panose="020B0604030504040204" pitchFamily="34" charset="0"/>
            </a:endParaRPr>
          </a:p>
        </p:txBody>
      </p:sp>
      <p:sp>
        <p:nvSpPr>
          <p:cNvPr id="9" name="Shape 7"/>
          <p:cNvSpPr/>
          <p:nvPr/>
        </p:nvSpPr>
        <p:spPr>
          <a:xfrm>
            <a:off x="6203925" y="2499478"/>
            <a:ext cx="5175349" cy="2667471"/>
          </a:xfrm>
          <a:prstGeom prst="roundRect">
            <a:avLst>
              <a:gd name="adj" fmla="val 3690"/>
            </a:avLst>
          </a:prstGeom>
          <a:solidFill>
            <a:schemeClr val="accent4">
              <a:lumMod val="40000"/>
              <a:lumOff val="60000"/>
            </a:schemeClr>
          </a:solidFill>
          <a:ln w="6350">
            <a:solidFill>
              <a:srgbClr val="F0CDB8"/>
            </a:solidFill>
            <a:prstDash val="solid"/>
          </a:ln>
        </p:spPr>
        <p:txBody>
          <a:bodyPr/>
          <a:lstStyle/>
          <a:p>
            <a:endParaRPr lang="en-CA">
              <a:latin typeface="Verdana" panose="020B0604030504040204" pitchFamily="34" charset="0"/>
            </a:endParaRPr>
          </a:p>
        </p:txBody>
      </p:sp>
      <p:sp>
        <p:nvSpPr>
          <p:cNvPr id="10" name="Text 8"/>
          <p:cNvSpPr/>
          <p:nvPr/>
        </p:nvSpPr>
        <p:spPr>
          <a:xfrm>
            <a:off x="6462688" y="2758240"/>
            <a:ext cx="479755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chemeClr val="accent3"/>
                </a:solidFill>
                <a:latin typeface="Verdana" panose="020B0604030504040204" pitchFamily="34" charset="0"/>
                <a:ea typeface="Verdana" panose="020B0604030504040204" pitchFamily="34" charset="0"/>
                <a:cs typeface="IBM Plex Sans" pitchFamily="34" charset="-120"/>
              </a:rPr>
              <a:t>TRACK B</a:t>
            </a:r>
            <a:endParaRPr lang="en-US" sz="1200">
              <a:solidFill>
                <a:schemeClr val="accent3"/>
              </a:solidFill>
              <a:latin typeface="Verdana" panose="020B0604030504040204" pitchFamily="34" charset="0"/>
            </a:endParaRPr>
          </a:p>
        </p:txBody>
      </p:sp>
      <p:sp>
        <p:nvSpPr>
          <p:cNvPr id="11" name="Text 9"/>
          <p:cNvSpPr/>
          <p:nvPr/>
        </p:nvSpPr>
        <p:spPr>
          <a:xfrm>
            <a:off x="6462688" y="3073136"/>
            <a:ext cx="4797559" cy="634851"/>
          </a:xfrm>
          <a:prstGeom prst="rect">
            <a:avLst/>
          </a:prstGeom>
          <a:noFill/>
          <a:ln/>
        </p:spPr>
        <p:txBody>
          <a:bodyPr wrap="square" lIns="0" tIns="0" rIns="0" bIns="0" rtlCol="0" anchor="t">
            <a:normAutofit/>
          </a:bodyPr>
          <a:lstStyle/>
          <a:p>
            <a:pPr marL="0" indent="0" algn="l">
              <a:lnSpc>
                <a:spcPts val="2400"/>
              </a:lnSpc>
              <a:buNone/>
            </a:pPr>
            <a:r>
              <a:rPr lang="en-US" sz="1600" b="1">
                <a:solidFill>
                  <a:srgbClr val="0F1B2D"/>
                </a:solidFill>
                <a:latin typeface="Verdana Pro" panose="020F0502020204030204" pitchFamily="34" charset="0"/>
                <a:ea typeface="Space Grotesk" pitchFamily="34" charset="-122"/>
              </a:rPr>
              <a:t>Can we design a useful Quantum Model?</a:t>
            </a:r>
            <a:endParaRPr lang="en-US" sz="1600">
              <a:latin typeface="Verdana" panose="020B0604030504040204" pitchFamily="34" charset="0"/>
            </a:endParaRPr>
          </a:p>
        </p:txBody>
      </p:sp>
      <p:sp>
        <p:nvSpPr>
          <p:cNvPr id="12" name="Text 10"/>
          <p:cNvSpPr/>
          <p:nvPr/>
        </p:nvSpPr>
        <p:spPr>
          <a:xfrm>
            <a:off x="6392819" y="3479438"/>
            <a:ext cx="4797559" cy="350490"/>
          </a:xfrm>
          <a:prstGeom prst="rect">
            <a:avLst/>
          </a:prstGeom>
          <a:noFill/>
          <a:ln/>
        </p:spPr>
        <p:txBody>
          <a:bodyPr wrap="square" lIns="0" tIns="0" rIns="0" bIns="0" rtlCol="0" anchor="t">
            <a:normAutofit/>
          </a:bodyPr>
          <a:lstStyle/>
          <a:p>
            <a:pPr marL="0" indent="0" algn="l">
              <a:lnSpc>
                <a:spcPts val="1960"/>
              </a:lnSpc>
              <a:buNone/>
            </a:pPr>
            <a:r>
              <a:rPr lang="en-US" sz="1400" i="1">
                <a:solidFill>
                  <a:srgbClr val="4A5568"/>
                </a:solidFill>
                <a:latin typeface="Verdana" panose="020B0604030504040204" pitchFamily="34" charset="0"/>
                <a:ea typeface="Verdana" panose="020B0604030504040204" pitchFamily="34" charset="0"/>
                <a:cs typeface="IBM Plex Sans" pitchFamily="34" charset="-120"/>
              </a:rPr>
              <a:t>How does Quantum perform under the same inputs?</a:t>
            </a:r>
            <a:endParaRPr lang="en-US" sz="1400">
              <a:latin typeface="Verdana" panose="020B0604030504040204" pitchFamily="34" charset="0"/>
            </a:endParaRPr>
          </a:p>
        </p:txBody>
      </p:sp>
      <p:sp>
        <p:nvSpPr>
          <p:cNvPr id="13" name="Text 11"/>
          <p:cNvSpPr/>
          <p:nvPr/>
        </p:nvSpPr>
        <p:spPr>
          <a:xfrm>
            <a:off x="6478671" y="3854406"/>
            <a:ext cx="4711707" cy="798934"/>
          </a:xfrm>
          <a:prstGeom prst="rect">
            <a:avLst/>
          </a:prstGeom>
          <a:noFill/>
          <a:ln/>
        </p:spPr>
        <p:txBody>
          <a:bodyPr wrap="square" lIns="0" tIns="0" rIns="0" bIns="0" rtlCol="0" anchor="t">
            <a:normAutofit fontScale="92500"/>
          </a:bodyPr>
          <a:lstStyle/>
          <a:p>
            <a:pPr marL="175768" indent="-175768" algn="l">
              <a:lnSpc>
                <a:spcPts val="2030"/>
              </a:lnSpc>
              <a:buSzPct val="100000"/>
              <a:buChar char="•"/>
            </a:pPr>
            <a:r>
              <a:rPr lang="en-US" sz="1400">
                <a:solidFill>
                  <a:srgbClr val="1B2433"/>
                </a:solidFill>
                <a:latin typeface="Verdana" panose="020B0604030504040204" pitchFamily="34" charset="0"/>
                <a:ea typeface="Verdana" panose="020B0604030504040204" pitchFamily="34" charset="0"/>
                <a:cs typeface="IBM Plex Sans" pitchFamily="34" charset="-120"/>
              </a:rPr>
              <a:t>At most 1,000 labels (N = 100, 300, 1,000)</a:t>
            </a:r>
            <a:endParaRPr lang="en-US" sz="1400">
              <a:latin typeface="Verdana" panose="020B0604030504040204" pitchFamily="34" charset="0"/>
            </a:endParaRPr>
          </a:p>
          <a:p>
            <a:pPr marL="175768" indent="-175768" algn="l">
              <a:lnSpc>
                <a:spcPts val="2030"/>
              </a:lnSpc>
              <a:buSzPct val="100000"/>
              <a:buChar char="•"/>
            </a:pPr>
            <a:r>
              <a:rPr lang="en-US" sz="1400">
                <a:solidFill>
                  <a:srgbClr val="1B2433"/>
                </a:solidFill>
                <a:latin typeface="Verdana" panose="020B0604030504040204" pitchFamily="34" charset="0"/>
                <a:ea typeface="Verdana" panose="020B0604030504040204" pitchFamily="34" charset="0"/>
                <a:cs typeface="IBM Plex Sans" pitchFamily="34" charset="-120"/>
              </a:rPr>
              <a:t>The same 10 inputs, one per qubit</a:t>
            </a:r>
            <a:endParaRPr lang="en-US" sz="1400">
              <a:latin typeface="Verdana" panose="020B0604030504040204" pitchFamily="34" charset="0"/>
            </a:endParaRPr>
          </a:p>
          <a:p>
            <a:pPr marL="175768" indent="-175768" algn="l">
              <a:lnSpc>
                <a:spcPts val="2030"/>
              </a:lnSpc>
              <a:buSzPct val="100000"/>
              <a:buChar char="•"/>
            </a:pPr>
            <a:r>
              <a:rPr lang="en-US" sz="1400">
                <a:solidFill>
                  <a:srgbClr val="1B2433"/>
                </a:solidFill>
                <a:latin typeface="Verdana" panose="020B0604030504040204" pitchFamily="34" charset="0"/>
                <a:ea typeface="Verdana" panose="020B0604030504040204" pitchFamily="34" charset="0"/>
                <a:cs typeface="IBM Plex Sans" pitchFamily="34" charset="-120"/>
              </a:rPr>
              <a:t>Same scaling, target, CV folds and 88-candidate grid</a:t>
            </a:r>
            <a:endParaRPr lang="en-US" sz="1400">
              <a:latin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DATA</a:t>
            </a:r>
            <a:endParaRPr lang="en-US" sz="1200">
              <a:latin typeface="Verdana" panose="020B0604030504040204" pitchFamily="34" charset="0"/>
            </a:endParaRPr>
          </a:p>
        </p:txBody>
      </p:sp>
      <p:sp>
        <p:nvSpPr>
          <p:cNvPr id="3" name="Text 1"/>
          <p:cNvSpPr>
            <a:spLocks noGrp="1"/>
          </p:cNvSpPr>
          <p:nvPr>
            <p:ph type="title"/>
          </p:nvPr>
        </p:nvSpPr>
        <p:spPr>
          <a:xfrm>
            <a:off x="812800" y="975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0F1B2D"/>
                </a:solidFill>
                <a:latin typeface="Verdana Pro" panose="020B0604030504040204" pitchFamily="34" charset="0"/>
                <a:cs typeface="Space Grotesk" pitchFamily="34" charset="-120"/>
              </a:rPr>
              <a:t>QM9: 133,885 molecules</a:t>
            </a:r>
            <a:endParaRPr lang="en-US" sz="3200"/>
          </a:p>
        </p:txBody>
      </p:sp>
      <p:sp>
        <p:nvSpPr>
          <p:cNvPr id="4" name="Shape 2"/>
          <p:cNvSpPr/>
          <p:nvPr/>
        </p:nvSpPr>
        <p:spPr>
          <a:xfrm>
            <a:off x="2625725" y="1824700"/>
            <a:ext cx="6597650" cy="586317"/>
          </a:xfrm>
          <a:prstGeom prst="roundRect">
            <a:avLst>
              <a:gd name="adj" fmla="val 12455"/>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5" name="Text 3"/>
          <p:cNvSpPr/>
          <p:nvPr/>
        </p:nvSpPr>
        <p:spPr>
          <a:xfrm>
            <a:off x="2804583" y="2002302"/>
            <a:ext cx="4831249" cy="256514"/>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Published QM9</a:t>
            </a:r>
            <a:r>
              <a:rPr lang="en-US" sz="1300">
                <a:solidFill>
                  <a:srgbClr val="1B2433"/>
                </a:solidFill>
                <a:latin typeface="Verdana" panose="020B0604030504040204" pitchFamily="34" charset="0"/>
                <a:ea typeface="Verdana" panose="020B0604030504040204" pitchFamily="34" charset="0"/>
                <a:cs typeface="IBM Plex Sans" pitchFamily="34" charset="-120"/>
              </a:rPr>
              <a:t> (figshare collection 978904)</a:t>
            </a:r>
            <a:endParaRPr lang="en-US" sz="1300">
              <a:latin typeface="Verdana" panose="020B0604030504040204" pitchFamily="34" charset="0"/>
            </a:endParaRPr>
          </a:p>
        </p:txBody>
      </p:sp>
      <p:sp>
        <p:nvSpPr>
          <p:cNvPr id="6" name="Text 4"/>
          <p:cNvSpPr/>
          <p:nvPr/>
        </p:nvSpPr>
        <p:spPr>
          <a:xfrm>
            <a:off x="7596717" y="1940058"/>
            <a:ext cx="1447800" cy="381000"/>
          </a:xfrm>
          <a:prstGeom prst="rect">
            <a:avLst/>
          </a:prstGeom>
          <a:noFill/>
          <a:ln/>
        </p:spPr>
        <p:txBody>
          <a:bodyPr wrap="square" lIns="0" tIns="0" rIns="0" bIns="0" rtlCol="0" anchor="t">
            <a:normAutofit/>
          </a:bodyPr>
          <a:lstStyle/>
          <a:p>
            <a:pPr marL="0" indent="0" algn="r">
              <a:lnSpc>
                <a:spcPts val="2800"/>
              </a:lnSpc>
              <a:buNone/>
            </a:pPr>
            <a:r>
              <a:rPr lang="en-US" sz="2000" b="1">
                <a:solidFill>
                  <a:srgbClr val="0F1B2D"/>
                </a:solidFill>
                <a:latin typeface="Verdana Pro" panose="020B0604030504040204" pitchFamily="34" charset="0"/>
                <a:ea typeface="Space Grotesk" pitchFamily="34" charset="-122"/>
                <a:cs typeface="Space Grotesk" pitchFamily="34" charset="-120"/>
              </a:rPr>
              <a:t>133,885</a:t>
            </a:r>
            <a:endParaRPr lang="en-US" sz="2000">
              <a:latin typeface="Verdana" panose="020B0604030504040204" pitchFamily="34" charset="0"/>
            </a:endParaRPr>
          </a:p>
        </p:txBody>
      </p:sp>
      <p:sp>
        <p:nvSpPr>
          <p:cNvPr id="7" name="Shape 5"/>
          <p:cNvSpPr/>
          <p:nvPr/>
        </p:nvSpPr>
        <p:spPr>
          <a:xfrm>
            <a:off x="2625725" y="2493567"/>
            <a:ext cx="6597650" cy="692944"/>
          </a:xfrm>
          <a:prstGeom prst="roundRect">
            <a:avLst>
              <a:gd name="adj" fmla="val 10538"/>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8" name="Text 6"/>
          <p:cNvSpPr/>
          <p:nvPr/>
        </p:nvSpPr>
        <p:spPr>
          <a:xfrm>
            <a:off x="2804583" y="2608925"/>
            <a:ext cx="4831249" cy="487627"/>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Uncharacterized:</a:t>
            </a:r>
            <a:r>
              <a:rPr lang="en-US" sz="1300">
                <a:solidFill>
                  <a:srgbClr val="1B2433"/>
                </a:solidFill>
                <a:latin typeface="Verdana" panose="020B0604030504040204" pitchFamily="34" charset="0"/>
                <a:ea typeface="Verdana" panose="020B0604030504040204" pitchFamily="34" charset="0"/>
                <a:cs typeface="IBM Plex Sans" pitchFamily="34" charset="-120"/>
              </a:rPr>
              <a:t> the optimized geometry no longer matches the intended molecule</a:t>
            </a:r>
            <a:endParaRPr lang="en-US" sz="1300">
              <a:latin typeface="Verdana" panose="020B0604030504040204" pitchFamily="34" charset="0"/>
            </a:endParaRPr>
          </a:p>
        </p:txBody>
      </p:sp>
      <p:sp>
        <p:nvSpPr>
          <p:cNvPr id="9" name="Text 7"/>
          <p:cNvSpPr/>
          <p:nvPr/>
        </p:nvSpPr>
        <p:spPr>
          <a:xfrm>
            <a:off x="7596717" y="2662239"/>
            <a:ext cx="1447800" cy="381000"/>
          </a:xfrm>
          <a:prstGeom prst="rect">
            <a:avLst/>
          </a:prstGeom>
          <a:noFill/>
          <a:ln/>
        </p:spPr>
        <p:txBody>
          <a:bodyPr wrap="square" lIns="0" tIns="0" rIns="0" bIns="0" rtlCol="0" anchor="t">
            <a:normAutofit/>
          </a:bodyPr>
          <a:lstStyle/>
          <a:p>
            <a:pPr marL="0" indent="0" algn="r">
              <a:lnSpc>
                <a:spcPts val="2800"/>
              </a:lnSpc>
              <a:buNone/>
            </a:pPr>
            <a:r>
              <a:rPr lang="en-US" sz="2000" b="1">
                <a:solidFill>
                  <a:srgbClr val="8A2E12"/>
                </a:solidFill>
                <a:latin typeface="Verdana Pro" panose="020B0604030504040204" pitchFamily="34" charset="0"/>
                <a:ea typeface="Space Grotesk" pitchFamily="34" charset="-122"/>
                <a:cs typeface="Space Grotesk" pitchFamily="34" charset="-120"/>
              </a:rPr>
              <a:t>− 3,054</a:t>
            </a:r>
            <a:endParaRPr lang="en-US" sz="2000">
              <a:latin typeface="Verdana" panose="020B0604030504040204" pitchFamily="34" charset="0"/>
            </a:endParaRPr>
          </a:p>
        </p:txBody>
      </p:sp>
      <p:sp>
        <p:nvSpPr>
          <p:cNvPr id="10" name="Shape 8"/>
          <p:cNvSpPr/>
          <p:nvPr/>
        </p:nvSpPr>
        <p:spPr>
          <a:xfrm>
            <a:off x="2625725" y="3269061"/>
            <a:ext cx="6597650" cy="692944"/>
          </a:xfrm>
          <a:prstGeom prst="roundRect">
            <a:avLst>
              <a:gd name="adj" fmla="val 10538"/>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1" name="Text 9"/>
          <p:cNvSpPr/>
          <p:nvPr/>
        </p:nvSpPr>
        <p:spPr>
          <a:xfrm>
            <a:off x="2804583" y="3384419"/>
            <a:ext cx="4831249" cy="487627"/>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Hard to converge,</a:t>
            </a:r>
            <a:r>
              <a:rPr lang="en-US" sz="1300">
                <a:solidFill>
                  <a:srgbClr val="1B2433"/>
                </a:solidFill>
                <a:latin typeface="Verdana" panose="020B0604030504040204" pitchFamily="34" charset="0"/>
                <a:ea typeface="Verdana" panose="020B0604030504040204" pitchFamily="34" charset="0"/>
                <a:cs typeface="IBM Plex Sans" pitchFamily="34" charset="-120"/>
              </a:rPr>
              <a:t> flagged in QM9’s readme (11 listed, 3 already removed)</a:t>
            </a:r>
            <a:endParaRPr lang="en-US" sz="1300">
              <a:latin typeface="Verdana" panose="020B0604030504040204" pitchFamily="34" charset="0"/>
            </a:endParaRPr>
          </a:p>
        </p:txBody>
      </p:sp>
      <p:sp>
        <p:nvSpPr>
          <p:cNvPr id="12" name="Text 10"/>
          <p:cNvSpPr/>
          <p:nvPr/>
        </p:nvSpPr>
        <p:spPr>
          <a:xfrm>
            <a:off x="7596717" y="3437733"/>
            <a:ext cx="1447800" cy="381000"/>
          </a:xfrm>
          <a:prstGeom prst="rect">
            <a:avLst/>
          </a:prstGeom>
          <a:noFill/>
          <a:ln/>
        </p:spPr>
        <p:txBody>
          <a:bodyPr wrap="square" lIns="0" tIns="0" rIns="0" bIns="0" rtlCol="0" anchor="t">
            <a:normAutofit/>
          </a:bodyPr>
          <a:lstStyle/>
          <a:p>
            <a:pPr marL="0" indent="0" algn="r">
              <a:lnSpc>
                <a:spcPts val="2800"/>
              </a:lnSpc>
              <a:buNone/>
            </a:pPr>
            <a:r>
              <a:rPr lang="en-US" sz="2000" b="1">
                <a:solidFill>
                  <a:srgbClr val="8A2E12"/>
                </a:solidFill>
                <a:latin typeface="Verdana Pro" panose="020B0604030504040204" pitchFamily="34" charset="0"/>
                <a:ea typeface="Space Grotesk" pitchFamily="34" charset="-122"/>
                <a:cs typeface="Space Grotesk" pitchFamily="34" charset="-120"/>
              </a:rPr>
              <a:t>− 8</a:t>
            </a:r>
            <a:endParaRPr lang="en-US" sz="2000">
              <a:latin typeface="Verdana" panose="020B0604030504040204" pitchFamily="34" charset="0"/>
            </a:endParaRPr>
          </a:p>
        </p:txBody>
      </p:sp>
      <p:sp>
        <p:nvSpPr>
          <p:cNvPr id="13" name="Shape 11"/>
          <p:cNvSpPr/>
          <p:nvPr/>
        </p:nvSpPr>
        <p:spPr>
          <a:xfrm>
            <a:off x="2625725" y="4044555"/>
            <a:ext cx="6597650" cy="692944"/>
          </a:xfrm>
          <a:prstGeom prst="roundRect">
            <a:avLst>
              <a:gd name="adj" fmla="val 10538"/>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4" name="Text 12"/>
          <p:cNvSpPr/>
          <p:nvPr/>
        </p:nvSpPr>
        <p:spPr>
          <a:xfrm>
            <a:off x="2804583" y="4159913"/>
            <a:ext cx="4831249" cy="487627"/>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Duplicates:</a:t>
            </a:r>
            <a:r>
              <a:rPr lang="en-US" sz="1300">
                <a:solidFill>
                  <a:srgbClr val="1B2433"/>
                </a:solidFill>
                <a:latin typeface="Verdana" panose="020B0604030504040204" pitchFamily="34" charset="0"/>
                <a:ea typeface="Verdana" panose="020B0604030504040204" pitchFamily="34" charset="0"/>
                <a:cs typeface="IBM Plex Sans" pitchFamily="34" charset="-120"/>
              </a:rPr>
              <a:t> the same molecule listed twice; we keep one copy so no molecule sits in two sets</a:t>
            </a:r>
            <a:endParaRPr lang="en-US" sz="1300">
              <a:latin typeface="Verdana" panose="020B0604030504040204" pitchFamily="34" charset="0"/>
            </a:endParaRPr>
          </a:p>
        </p:txBody>
      </p:sp>
      <p:sp>
        <p:nvSpPr>
          <p:cNvPr id="15" name="Text 13"/>
          <p:cNvSpPr/>
          <p:nvPr/>
        </p:nvSpPr>
        <p:spPr>
          <a:xfrm>
            <a:off x="7596717" y="4213226"/>
            <a:ext cx="1447800" cy="381000"/>
          </a:xfrm>
          <a:prstGeom prst="rect">
            <a:avLst/>
          </a:prstGeom>
          <a:noFill/>
          <a:ln/>
        </p:spPr>
        <p:txBody>
          <a:bodyPr wrap="square" lIns="0" tIns="0" rIns="0" bIns="0" rtlCol="0" anchor="t">
            <a:normAutofit/>
          </a:bodyPr>
          <a:lstStyle/>
          <a:p>
            <a:pPr marL="0" indent="0" algn="r">
              <a:lnSpc>
                <a:spcPts val="2800"/>
              </a:lnSpc>
              <a:buNone/>
            </a:pPr>
            <a:r>
              <a:rPr lang="en-US" sz="2000" b="1">
                <a:solidFill>
                  <a:srgbClr val="8A2E12"/>
                </a:solidFill>
                <a:latin typeface="Verdana Pro" panose="020B0604030504040204" pitchFamily="34" charset="0"/>
                <a:ea typeface="Space Grotesk" pitchFamily="34" charset="-122"/>
                <a:cs typeface="Space Grotesk" pitchFamily="34" charset="-120"/>
              </a:rPr>
              <a:t>− 140</a:t>
            </a:r>
            <a:endParaRPr lang="en-US" sz="2000">
              <a:latin typeface="Verdana" panose="020B0604030504040204" pitchFamily="34" charset="0"/>
            </a:endParaRPr>
          </a:p>
        </p:txBody>
      </p:sp>
      <p:sp>
        <p:nvSpPr>
          <p:cNvPr id="16" name="Shape 14"/>
          <p:cNvSpPr/>
          <p:nvPr/>
        </p:nvSpPr>
        <p:spPr>
          <a:xfrm>
            <a:off x="2622550" y="4816873"/>
            <a:ext cx="6604000" cy="619720"/>
          </a:xfrm>
          <a:prstGeom prst="roundRect">
            <a:avLst>
              <a:gd name="adj" fmla="val 12296"/>
            </a:avLst>
          </a:prstGeom>
          <a:solidFill>
            <a:srgbClr val="2558C0"/>
          </a:solidFill>
          <a:ln/>
        </p:spPr>
        <p:txBody>
          <a:bodyPr/>
          <a:lstStyle/>
          <a:p>
            <a:endParaRPr lang="en-CA">
              <a:latin typeface="Verdana" panose="020B0604030504040204" pitchFamily="34" charset="0"/>
            </a:endParaRPr>
          </a:p>
        </p:txBody>
      </p:sp>
      <p:sp>
        <p:nvSpPr>
          <p:cNvPr id="17" name="Text 15"/>
          <p:cNvSpPr/>
          <p:nvPr/>
        </p:nvSpPr>
        <p:spPr>
          <a:xfrm>
            <a:off x="2800350" y="5002280"/>
            <a:ext cx="4839970" cy="274307"/>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FDFCF9"/>
                </a:solidFill>
                <a:latin typeface="Verdana" panose="020B0604030504040204" pitchFamily="34" charset="0"/>
                <a:ea typeface="Verdana" panose="020B0604030504040204" pitchFamily="34" charset="0"/>
                <a:cs typeface="IBM Plex Sans" pitchFamily="34" charset="-120"/>
              </a:rPr>
              <a:t>Final cleaned dataset</a:t>
            </a:r>
            <a:endParaRPr lang="en-US" sz="1400">
              <a:latin typeface="Verdana" panose="020B0604030504040204" pitchFamily="34" charset="0"/>
            </a:endParaRPr>
          </a:p>
        </p:txBody>
      </p:sp>
      <p:sp>
        <p:nvSpPr>
          <p:cNvPr id="18" name="Text 16"/>
          <p:cNvSpPr/>
          <p:nvPr/>
        </p:nvSpPr>
        <p:spPr>
          <a:xfrm>
            <a:off x="7600950" y="4931173"/>
            <a:ext cx="1447800" cy="416520"/>
          </a:xfrm>
          <a:prstGeom prst="rect">
            <a:avLst/>
          </a:prstGeom>
          <a:noFill/>
          <a:ln/>
        </p:spPr>
        <p:txBody>
          <a:bodyPr wrap="square" lIns="0" tIns="0" rIns="0" bIns="0" rtlCol="0" anchor="t">
            <a:normAutofit/>
          </a:bodyPr>
          <a:lstStyle/>
          <a:p>
            <a:pPr marL="0" indent="0" algn="r">
              <a:lnSpc>
                <a:spcPts val="3080"/>
              </a:lnSpc>
              <a:buNone/>
            </a:pPr>
            <a:r>
              <a:rPr lang="en-US" sz="2200" b="1">
                <a:solidFill>
                  <a:srgbClr val="FDFCF9"/>
                </a:solidFill>
                <a:latin typeface="Verdana Pro" panose="020B0604030504040204" pitchFamily="34" charset="0"/>
                <a:ea typeface="Space Grotesk" pitchFamily="34" charset="-122"/>
                <a:cs typeface="Space Grotesk" pitchFamily="34" charset="-120"/>
              </a:rPr>
              <a:t>130,683</a:t>
            </a:r>
            <a:endParaRPr lang="en-US" sz="2200">
              <a:latin typeface="Verdana" panose="020B0604030504040204" pitchFamily="34" charset="0"/>
            </a:endParaRPr>
          </a:p>
        </p:txBody>
      </p:sp>
      <p:sp>
        <p:nvSpPr>
          <p:cNvPr id="28" name="Text 26"/>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280"/>
                </a:solidFill>
                <a:latin typeface="Verdana" panose="020B0604030504040204" pitchFamily="34" charset="0"/>
                <a:ea typeface="Verdana" panose="020B0604030504040204" pitchFamily="34" charset="0"/>
                <a:cs typeface="IBM Plex Sans" pitchFamily="34" charset="-120"/>
              </a:rPr>
              <a:t>Ramakrishnan et al., Sci. Data 1, 140022 (2014) · all files verified against figshare’s MD5 checksums · 0 parse failures</a:t>
            </a:r>
            <a:endParaRPr lang="en-US" sz="1200">
              <a:latin typeface="Verdan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19C5F7B-C83B-79CA-87BE-44127257B16D}"/>
              </a:ext>
            </a:extLst>
          </p:cNvPr>
          <p:cNvPicPr>
            <a:picLocks noChangeAspect="1"/>
          </p:cNvPicPr>
          <p:nvPr/>
        </p:nvPicPr>
        <p:blipFill>
          <a:blip r:embed="rId3"/>
          <a:stretch>
            <a:fillRect/>
          </a:stretch>
        </p:blipFill>
        <p:spPr>
          <a:xfrm>
            <a:off x="4832133" y="380900"/>
            <a:ext cx="7079566" cy="2647425"/>
          </a:xfrm>
          <a:prstGeom prst="rect">
            <a:avLst/>
          </a:prstGeom>
        </p:spPr>
      </p:pic>
      <p:sp>
        <p:nvSpPr>
          <p:cNvPr id="2" name="Text 0"/>
          <p:cNvSpPr/>
          <p:nvPr/>
        </p:nvSpPr>
        <p:spPr>
          <a:xfrm>
            <a:off x="812727" y="607938"/>
            <a:ext cx="1891059" cy="21561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rPr>
              <a:t>DATA</a:t>
            </a:r>
            <a:endParaRPr lang="en-US" sz="1200">
              <a:latin typeface="Verdana" panose="020B0604030504040204" pitchFamily="34" charset="0"/>
            </a:endParaRPr>
          </a:p>
        </p:txBody>
      </p:sp>
      <p:sp>
        <p:nvSpPr>
          <p:cNvPr id="3" name="Text 1"/>
          <p:cNvSpPr>
            <a:spLocks noGrp="1"/>
          </p:cNvSpPr>
          <p:nvPr>
            <p:ph type="title"/>
          </p:nvPr>
        </p:nvSpPr>
        <p:spPr>
          <a:xfrm>
            <a:off x="691029" y="988259"/>
            <a:ext cx="3893280" cy="972137"/>
          </a:xfrm>
          <a:prstGeom prst="rect">
            <a:avLst/>
          </a:prstGeom>
          <a:noFill/>
          <a:ln/>
        </p:spPr>
        <p:txBody>
          <a:bodyPr wrap="square" lIns="0" tIns="0" rIns="0" bIns="0" rtlCol="0" anchor="t">
            <a:normAutofit/>
          </a:bodyPr>
          <a:lstStyle/>
          <a:p>
            <a:pPr marL="0" indent="0" algn="l">
              <a:lnSpc>
                <a:spcPts val="3520"/>
              </a:lnSpc>
              <a:buNone/>
            </a:pPr>
            <a:r>
              <a:rPr lang="en-US" sz="1800" b="1" i="0">
                <a:solidFill>
                  <a:srgbClr val="0F1B2D"/>
                </a:solidFill>
                <a:cs typeface="Space Grotesk" pitchFamily="34" charset="-120"/>
              </a:rPr>
              <a:t>QM9, split by whole formulas</a:t>
            </a:r>
            <a:endParaRPr lang="en-US" sz="1800"/>
          </a:p>
        </p:txBody>
      </p:sp>
      <p:sp>
        <p:nvSpPr>
          <p:cNvPr id="4" name="Text 2"/>
          <p:cNvSpPr/>
          <p:nvPr/>
        </p:nvSpPr>
        <p:spPr>
          <a:xfrm>
            <a:off x="1183249" y="1488936"/>
            <a:ext cx="3401060" cy="787400"/>
          </a:xfrm>
          <a:prstGeom prst="rect">
            <a:avLst/>
          </a:prstGeom>
          <a:noFill/>
          <a:ln/>
        </p:spPr>
        <p:txBody>
          <a:bodyPr wrap="square" lIns="0" tIns="0" rIns="0" bIns="0" rtlCol="0" anchor="t">
            <a:normAutofit/>
          </a:bodyPr>
          <a:lstStyle/>
          <a:p>
            <a:pPr marL="0" indent="0" algn="l">
              <a:lnSpc>
                <a:spcPts val="6000"/>
              </a:lnSpc>
              <a:buNone/>
            </a:pPr>
            <a:r>
              <a:rPr lang="en-US" sz="4000" b="1">
                <a:solidFill>
                  <a:srgbClr val="2558C0"/>
                </a:solidFill>
                <a:latin typeface="Verdana Pro" panose="020F0502020204030204" pitchFamily="34" charset="0"/>
                <a:ea typeface="Space Grotesk" pitchFamily="34" charset="-122"/>
                <a:cs typeface="Space Grotesk" pitchFamily="34" charset="-120"/>
              </a:rPr>
              <a:t>130,683</a:t>
            </a:r>
            <a:endParaRPr lang="en-US" sz="4000">
              <a:latin typeface="Verdana" panose="020B0604030504040204" pitchFamily="34" charset="0"/>
            </a:endParaRPr>
          </a:p>
        </p:txBody>
      </p:sp>
      <p:sp>
        <p:nvSpPr>
          <p:cNvPr id="5" name="Text 3"/>
          <p:cNvSpPr/>
          <p:nvPr/>
        </p:nvSpPr>
        <p:spPr>
          <a:xfrm>
            <a:off x="780167" y="2401327"/>
            <a:ext cx="3433620" cy="825351"/>
          </a:xfrm>
          <a:prstGeom prst="rect">
            <a:avLst/>
          </a:prstGeom>
          <a:noFill/>
          <a:ln/>
        </p:spPr>
        <p:txBody>
          <a:bodyPr wrap="square" lIns="0" tIns="0" rIns="0" bIns="0" rtlCol="0" anchor="t">
            <a:normAutofit/>
          </a:bodyPr>
          <a:lstStyle/>
          <a:p>
            <a:pPr marL="0" indent="0" algn="l">
              <a:lnSpc>
                <a:spcPts val="2100"/>
              </a:lnSpc>
              <a:buNone/>
            </a:pPr>
            <a:r>
              <a:rPr lang="en-US" sz="1500">
                <a:solidFill>
                  <a:srgbClr val="1B2433"/>
                </a:solidFill>
                <a:latin typeface="Verdana" panose="020B0604030504040204" pitchFamily="34" charset="0"/>
                <a:ea typeface="Verdana" panose="020B0604030504040204" pitchFamily="34" charset="0"/>
                <a:cs typeface="IBM Plex Sans" pitchFamily="34" charset="-120"/>
              </a:rPr>
              <a:t>small organic molecules (up to 9 heavy atoms: C, N, O, F) with DFT geometries and dipoles</a:t>
            </a:r>
            <a:endParaRPr lang="en-US" sz="1500">
              <a:latin typeface="Verdana" panose="020B0604030504040204" pitchFamily="34" charset="0"/>
            </a:endParaRPr>
          </a:p>
        </p:txBody>
      </p:sp>
      <p:graphicFrame>
        <p:nvGraphicFramePr>
          <p:cNvPr id="7" name="Table 0"/>
          <p:cNvGraphicFramePr>
            <a:graphicFrameLocks noGrp="1"/>
          </p:cNvGraphicFramePr>
          <p:nvPr>
            <p:extLst>
              <p:ext uri="{D42A27DB-BD31-4B8C-83A1-F6EECF244321}">
                <p14:modId xmlns:p14="http://schemas.microsoft.com/office/powerpoint/2010/main" val="501010585"/>
              </p:ext>
            </p:extLst>
          </p:nvPr>
        </p:nvGraphicFramePr>
        <p:xfrm>
          <a:off x="4832132" y="3308202"/>
          <a:ext cx="7079568" cy="2512830"/>
        </p:xfrm>
        <a:graphic>
          <a:graphicData uri="http://schemas.openxmlformats.org/drawingml/2006/table">
            <a:tbl>
              <a:tblPr/>
              <a:tblGrid>
                <a:gridCol w="1911483">
                  <a:extLst>
                    <a:ext uri="{9D8B030D-6E8A-4147-A177-3AD203B41FA5}">
                      <a16:colId xmlns:a16="http://schemas.microsoft.com/office/drawing/2014/main" val="20000"/>
                    </a:ext>
                  </a:extLst>
                </a:gridCol>
                <a:gridCol w="1203527">
                  <a:extLst>
                    <a:ext uri="{9D8B030D-6E8A-4147-A177-3AD203B41FA5}">
                      <a16:colId xmlns:a16="http://schemas.microsoft.com/office/drawing/2014/main" val="20001"/>
                    </a:ext>
                  </a:extLst>
                </a:gridCol>
                <a:gridCol w="1061936">
                  <a:extLst>
                    <a:ext uri="{9D8B030D-6E8A-4147-A177-3AD203B41FA5}">
                      <a16:colId xmlns:a16="http://schemas.microsoft.com/office/drawing/2014/main" val="20002"/>
                    </a:ext>
                  </a:extLst>
                </a:gridCol>
                <a:gridCol w="2902622">
                  <a:extLst>
                    <a:ext uri="{9D8B030D-6E8A-4147-A177-3AD203B41FA5}">
                      <a16:colId xmlns:a16="http://schemas.microsoft.com/office/drawing/2014/main" val="20003"/>
                    </a:ext>
                  </a:extLst>
                </a:gridCol>
              </a:tblGrid>
              <a:tr h="426558">
                <a:tc>
                  <a:txBody>
                    <a:bodyPr/>
                    <a:lstStyle/>
                    <a:p>
                      <a:pPr marL="0" indent="0">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Set</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Molecules</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Formulas</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Role</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0040">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Training pool</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99,198</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497</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a:latin typeface="Verdana" panose="020B0604030504040204" pitchFamily="34" charset="0"/>
                          <a:ea typeface="Verdana" panose="020B0604030504040204" pitchFamily="34" charset="0"/>
                          <a:cs typeface="IBM Plex Sans" charset="0"/>
                        </a:rPr>
                        <a:t>General pool for training models</a:t>
                      </a: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426558">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dev</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5,000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257</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Model development</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426558">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dev_unseen</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4,183</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26</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Development, held-out formulas</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426558">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test_familiar</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5,484</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257</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Test: formulas seen in training</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extLst>
                  <a:ext uri="{0D108BD9-81ED-4DB2-BD59-A6C34878D82A}">
                    <a16:rowId xmlns:a16="http://schemas.microsoft.com/office/drawing/2014/main" val="10004"/>
                  </a:ext>
                </a:extLst>
              </a:tr>
              <a:tr h="426558">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test_unseen</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16,818</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93</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Test: formulas never seen</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extLst>
                  <a:ext uri="{0D108BD9-81ED-4DB2-BD59-A6C34878D82A}">
                    <a16:rowId xmlns:a16="http://schemas.microsoft.com/office/drawing/2014/main" val="10005"/>
                  </a:ext>
                </a:extLst>
              </a:tr>
            </a:tbl>
          </a:graphicData>
        </a:graphic>
      </p:graphicFrame>
      <p:sp>
        <p:nvSpPr>
          <p:cNvPr id="32" name="Shape 17">
            <a:extLst>
              <a:ext uri="{FF2B5EF4-FFF2-40B4-BE49-F238E27FC236}">
                <a16:creationId xmlns:a16="http://schemas.microsoft.com/office/drawing/2014/main" id="{55EEB061-A293-31E2-A402-D90D8A6058A1}"/>
              </a:ext>
            </a:extLst>
          </p:cNvPr>
          <p:cNvSpPr/>
          <p:nvPr/>
        </p:nvSpPr>
        <p:spPr>
          <a:xfrm>
            <a:off x="780167" y="3391389"/>
            <a:ext cx="3606800" cy="0"/>
          </a:xfrm>
          <a:prstGeom prst="line">
            <a:avLst/>
          </a:prstGeom>
          <a:noFill/>
          <a:ln w="12700">
            <a:solidFill>
              <a:srgbClr val="E2DED5"/>
            </a:solidFill>
            <a:prstDash val="solid"/>
          </a:ln>
        </p:spPr>
        <p:txBody>
          <a:bodyPr/>
          <a:lstStyle/>
          <a:p>
            <a:endParaRPr lang="en-CA">
              <a:latin typeface="Verdana" panose="020B0604030504040204" pitchFamily="34" charset="0"/>
            </a:endParaRPr>
          </a:p>
        </p:txBody>
      </p:sp>
      <p:sp>
        <p:nvSpPr>
          <p:cNvPr id="34" name="Text 18">
            <a:extLst>
              <a:ext uri="{FF2B5EF4-FFF2-40B4-BE49-F238E27FC236}">
                <a16:creationId xmlns:a16="http://schemas.microsoft.com/office/drawing/2014/main" id="{34B59B10-7BA1-D0D0-F669-C416625935C2}"/>
              </a:ext>
            </a:extLst>
          </p:cNvPr>
          <p:cNvSpPr/>
          <p:nvPr/>
        </p:nvSpPr>
        <p:spPr>
          <a:xfrm>
            <a:off x="780167" y="3499339"/>
            <a:ext cx="3715004" cy="256514"/>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F1B2D"/>
                </a:solidFill>
                <a:latin typeface="Verdana" panose="020B0604030504040204" pitchFamily="34" charset="0"/>
                <a:ea typeface="Verdana" panose="020B0604030504040204" pitchFamily="34" charset="0"/>
                <a:cs typeface="IBM Plex Sans" pitchFamily="34" charset="-120"/>
              </a:rPr>
              <a:t>What’s in it?</a:t>
            </a:r>
            <a:endParaRPr lang="en-US" sz="1300">
              <a:latin typeface="Verdana" panose="020B0604030504040204" pitchFamily="34" charset="0"/>
            </a:endParaRPr>
          </a:p>
        </p:txBody>
      </p:sp>
      <p:sp>
        <p:nvSpPr>
          <p:cNvPr id="36" name="Text 19">
            <a:extLst>
              <a:ext uri="{FF2B5EF4-FFF2-40B4-BE49-F238E27FC236}">
                <a16:creationId xmlns:a16="http://schemas.microsoft.com/office/drawing/2014/main" id="{360E5925-EE21-350E-9603-F8AB9A2F70DA}"/>
              </a:ext>
            </a:extLst>
          </p:cNvPr>
          <p:cNvSpPr/>
          <p:nvPr/>
        </p:nvSpPr>
        <p:spPr>
          <a:xfrm>
            <a:off x="780167" y="3768553"/>
            <a:ext cx="3715004"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Small organic molecules from the GDB-17 enumeration: C, H, N, O and F only</a:t>
            </a:r>
            <a:endParaRPr lang="en-US" sz="1200">
              <a:latin typeface="Verdana" panose="020B0604030504040204" pitchFamily="34" charset="0"/>
            </a:endParaRPr>
          </a:p>
        </p:txBody>
      </p:sp>
      <p:sp>
        <p:nvSpPr>
          <p:cNvPr id="38" name="Shape 20">
            <a:extLst>
              <a:ext uri="{FF2B5EF4-FFF2-40B4-BE49-F238E27FC236}">
                <a16:creationId xmlns:a16="http://schemas.microsoft.com/office/drawing/2014/main" id="{9252C265-294B-C315-351F-BD32384BF9EC}"/>
              </a:ext>
            </a:extLst>
          </p:cNvPr>
          <p:cNvSpPr/>
          <p:nvPr/>
        </p:nvSpPr>
        <p:spPr>
          <a:xfrm>
            <a:off x="780167" y="4353944"/>
            <a:ext cx="3606800" cy="0"/>
          </a:xfrm>
          <a:prstGeom prst="line">
            <a:avLst/>
          </a:prstGeom>
          <a:noFill/>
          <a:ln w="12700">
            <a:solidFill>
              <a:srgbClr val="E2DED5"/>
            </a:solidFill>
            <a:prstDash val="solid"/>
          </a:ln>
        </p:spPr>
        <p:txBody>
          <a:bodyPr/>
          <a:lstStyle/>
          <a:p>
            <a:endParaRPr lang="en-CA">
              <a:latin typeface="Verdana" panose="020B0604030504040204" pitchFamily="34" charset="0"/>
            </a:endParaRPr>
          </a:p>
        </p:txBody>
      </p:sp>
      <p:sp>
        <p:nvSpPr>
          <p:cNvPr id="40" name="Text 21">
            <a:extLst>
              <a:ext uri="{FF2B5EF4-FFF2-40B4-BE49-F238E27FC236}">
                <a16:creationId xmlns:a16="http://schemas.microsoft.com/office/drawing/2014/main" id="{77A92B14-C543-CA8C-DEEF-5F7FFCF5BFE5}"/>
              </a:ext>
            </a:extLst>
          </p:cNvPr>
          <p:cNvSpPr/>
          <p:nvPr/>
        </p:nvSpPr>
        <p:spPr>
          <a:xfrm>
            <a:off x="780167" y="4461894"/>
            <a:ext cx="3715004" cy="256514"/>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F1B2D"/>
                </a:solidFill>
                <a:latin typeface="Verdana" panose="020B0604030504040204" pitchFamily="34" charset="0"/>
                <a:ea typeface="Verdana" panose="020B0604030504040204" pitchFamily="34" charset="0"/>
                <a:cs typeface="IBM Plex Sans" pitchFamily="34" charset="-120"/>
              </a:rPr>
              <a:t>Where labels come from?</a:t>
            </a:r>
            <a:endParaRPr lang="en-US" sz="1300">
              <a:latin typeface="Verdana" panose="020B0604030504040204" pitchFamily="34" charset="0"/>
            </a:endParaRPr>
          </a:p>
        </p:txBody>
      </p:sp>
      <p:sp>
        <p:nvSpPr>
          <p:cNvPr id="42" name="Text 22">
            <a:extLst>
              <a:ext uri="{FF2B5EF4-FFF2-40B4-BE49-F238E27FC236}">
                <a16:creationId xmlns:a16="http://schemas.microsoft.com/office/drawing/2014/main" id="{D5A1885D-8DD3-ECA6-DA7F-2F1F3795FFF5}"/>
              </a:ext>
            </a:extLst>
          </p:cNvPr>
          <p:cNvSpPr/>
          <p:nvPr/>
        </p:nvSpPr>
        <p:spPr>
          <a:xfrm>
            <a:off x="780167" y="4731107"/>
            <a:ext cx="3715004"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DFT calculations (B3LYP/6-31G(2df,p)), </a:t>
            </a:r>
            <a:r>
              <a:rPr lang="en-US" sz="1200" u="sng">
                <a:solidFill>
                  <a:srgbClr val="4A5568"/>
                </a:solidFill>
                <a:latin typeface="Verdana" panose="020B0604030504040204" pitchFamily="34" charset="0"/>
                <a:ea typeface="Verdana" panose="020B0604030504040204" pitchFamily="34" charset="0"/>
                <a:cs typeface="IBM Plex Sans" pitchFamily="34" charset="-120"/>
              </a:rPr>
              <a:t>not</a:t>
            </a:r>
            <a:r>
              <a:rPr lang="en-US" sz="1200">
                <a:solidFill>
                  <a:srgbClr val="4A5568"/>
                </a:solidFill>
                <a:latin typeface="Verdana" panose="020B0604030504040204" pitchFamily="34" charset="0"/>
                <a:ea typeface="Verdana" panose="020B0604030504040204" pitchFamily="34" charset="0"/>
                <a:cs typeface="IBM Plex Sans" pitchFamily="34" charset="-120"/>
              </a:rPr>
              <a:t> lab measurements</a:t>
            </a:r>
            <a:endParaRPr lang="en-US" sz="1200">
              <a:latin typeface="Verdana" panose="020B0604030504040204" pitchFamily="34" charset="0"/>
            </a:endParaRPr>
          </a:p>
        </p:txBody>
      </p:sp>
      <p:sp>
        <p:nvSpPr>
          <p:cNvPr id="44" name="Shape 23">
            <a:extLst>
              <a:ext uri="{FF2B5EF4-FFF2-40B4-BE49-F238E27FC236}">
                <a16:creationId xmlns:a16="http://schemas.microsoft.com/office/drawing/2014/main" id="{C3D7161D-3067-C55E-36D1-E925A063E998}"/>
              </a:ext>
            </a:extLst>
          </p:cNvPr>
          <p:cNvSpPr/>
          <p:nvPr/>
        </p:nvSpPr>
        <p:spPr>
          <a:xfrm>
            <a:off x="780167" y="5316497"/>
            <a:ext cx="3606800" cy="0"/>
          </a:xfrm>
          <a:prstGeom prst="line">
            <a:avLst/>
          </a:prstGeom>
          <a:noFill/>
          <a:ln w="12700">
            <a:solidFill>
              <a:srgbClr val="E2DED5"/>
            </a:solidFill>
            <a:prstDash val="solid"/>
          </a:ln>
        </p:spPr>
        <p:txBody>
          <a:bodyPr/>
          <a:lstStyle/>
          <a:p>
            <a:endParaRPr lang="en-CA">
              <a:latin typeface="Verdana" panose="020B0604030504040204" pitchFamily="34" charset="0"/>
            </a:endParaRPr>
          </a:p>
        </p:txBody>
      </p:sp>
      <p:sp>
        <p:nvSpPr>
          <p:cNvPr id="46" name="Text 24">
            <a:extLst>
              <a:ext uri="{FF2B5EF4-FFF2-40B4-BE49-F238E27FC236}">
                <a16:creationId xmlns:a16="http://schemas.microsoft.com/office/drawing/2014/main" id="{78089D99-16FF-D313-AE5D-8B86B7C3FD2C}"/>
              </a:ext>
            </a:extLst>
          </p:cNvPr>
          <p:cNvSpPr/>
          <p:nvPr/>
        </p:nvSpPr>
        <p:spPr>
          <a:xfrm>
            <a:off x="780167" y="5424447"/>
            <a:ext cx="3715004" cy="256514"/>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0F1B2D"/>
                </a:solidFill>
                <a:latin typeface="Verdana" panose="020B0604030504040204" pitchFamily="34" charset="0"/>
                <a:ea typeface="Verdana" panose="020B0604030504040204" pitchFamily="34" charset="0"/>
                <a:cs typeface="IBM Plex Sans" pitchFamily="34" charset="-120"/>
              </a:rPr>
              <a:t>Any extreme outliers?</a:t>
            </a:r>
            <a:endParaRPr lang="en-US" sz="1300">
              <a:latin typeface="Verdana" panose="020B0604030504040204" pitchFamily="34" charset="0"/>
            </a:endParaRPr>
          </a:p>
        </p:txBody>
      </p:sp>
      <p:sp>
        <p:nvSpPr>
          <p:cNvPr id="48" name="Text 25">
            <a:extLst>
              <a:ext uri="{FF2B5EF4-FFF2-40B4-BE49-F238E27FC236}">
                <a16:creationId xmlns:a16="http://schemas.microsoft.com/office/drawing/2014/main" id="{6175F5D2-1C43-2C42-69DD-975488081433}"/>
              </a:ext>
            </a:extLst>
          </p:cNvPr>
          <p:cNvSpPr/>
          <p:nvPr/>
        </p:nvSpPr>
        <p:spPr>
          <a:xfrm>
            <a:off x="780167" y="5693661"/>
            <a:ext cx="3715004"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Rare zwitterions up to 29.6 D, still valid in our model</a:t>
            </a:r>
            <a:endParaRPr lang="en-US" sz="1200">
              <a:latin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23BEEC8-4CB3-A344-3AAE-3D420DC3EFFE}"/>
              </a:ext>
            </a:extLst>
          </p:cNvPr>
          <p:cNvPicPr>
            <a:picLocks noChangeAspect="1"/>
          </p:cNvPicPr>
          <p:nvPr/>
        </p:nvPicPr>
        <p:blipFill>
          <a:blip r:embed="rId3"/>
          <a:stretch>
            <a:fillRect/>
          </a:stretch>
        </p:blipFill>
        <p:spPr>
          <a:xfrm>
            <a:off x="7382824" y="2022793"/>
            <a:ext cx="4451477" cy="4056587"/>
          </a:xfrm>
          <a:prstGeom prst="rect">
            <a:avLst/>
          </a:prstGeom>
        </p:spPr>
      </p:pic>
      <p:sp>
        <p:nvSpPr>
          <p:cNvPr id="2" name="Text 0"/>
          <p:cNvSpPr/>
          <p:nvPr/>
        </p:nvSpPr>
        <p:spPr>
          <a:xfrm>
            <a:off x="342900" y="421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CONSTRAINTS</a:t>
            </a:r>
            <a:endParaRPr lang="en-US" sz="1200">
              <a:latin typeface="Verdana" panose="020B0604030504040204" pitchFamily="34" charset="0"/>
            </a:endParaRPr>
          </a:p>
        </p:txBody>
      </p:sp>
      <p:sp>
        <p:nvSpPr>
          <p:cNvPr id="3" name="Text 1"/>
          <p:cNvSpPr>
            <a:spLocks noGrp="1"/>
          </p:cNvSpPr>
          <p:nvPr>
            <p:ph type="title"/>
          </p:nvPr>
        </p:nvSpPr>
        <p:spPr>
          <a:xfrm>
            <a:off x="242488" y="833522"/>
            <a:ext cx="11659952" cy="516927"/>
          </a:xfrm>
          <a:prstGeom prst="rect">
            <a:avLst/>
          </a:prstGeom>
          <a:noFill/>
          <a:ln/>
        </p:spPr>
        <p:txBody>
          <a:bodyPr wrap="square" lIns="0" tIns="0" rIns="0" bIns="0" rtlCol="0" anchor="t">
            <a:normAutofit/>
          </a:bodyPr>
          <a:lstStyle/>
          <a:p>
            <a:pPr marL="0" indent="0" algn="l">
              <a:lnSpc>
                <a:spcPts val="3520"/>
              </a:lnSpc>
              <a:buNone/>
            </a:pPr>
            <a:r>
              <a:rPr lang="en-US" sz="2400" b="1" i="0">
                <a:solidFill>
                  <a:srgbClr val="0F1B2D"/>
                </a:solidFill>
                <a:cs typeface="Space Grotesk" pitchFamily="34" charset="-120"/>
              </a:rPr>
              <a:t>Why we left QM9’s DFT outputs</a:t>
            </a:r>
            <a:r>
              <a:rPr lang="en-US" sz="2400" b="1">
                <a:cs typeface="Space Grotesk" pitchFamily="34" charset="-120"/>
              </a:rPr>
              <a:t> out of our training features  </a:t>
            </a:r>
            <a:endParaRPr lang="en-US" sz="2400"/>
          </a:p>
        </p:txBody>
      </p:sp>
      <p:sp>
        <p:nvSpPr>
          <p:cNvPr id="5" name="Shape 3"/>
          <p:cNvSpPr/>
          <p:nvPr/>
        </p:nvSpPr>
        <p:spPr>
          <a:xfrm>
            <a:off x="269348" y="2056217"/>
            <a:ext cx="2500712" cy="1576068"/>
          </a:xfrm>
          <a:prstGeom prst="roundRect">
            <a:avLst>
              <a:gd name="adj" fmla="val 4642"/>
            </a:avLst>
          </a:prstGeom>
          <a:solidFill>
            <a:srgbClr val="FDFCF9"/>
          </a:solidFill>
          <a:ln w="6350">
            <a:solidFill>
              <a:srgbClr val="E2DED5"/>
            </a:solidFill>
            <a:prstDash val="solid"/>
          </a:ln>
        </p:spPr>
        <p:txBody>
          <a:bodyPr/>
          <a:lstStyle/>
          <a:p>
            <a:endParaRPr lang="en-CA" sz="1200">
              <a:latin typeface="Verdana" panose="020B0604030504040204" pitchFamily="34" charset="0"/>
            </a:endParaRPr>
          </a:p>
        </p:txBody>
      </p:sp>
      <p:sp>
        <p:nvSpPr>
          <p:cNvPr id="7" name="Text 5"/>
          <p:cNvSpPr/>
          <p:nvPr/>
        </p:nvSpPr>
        <p:spPr>
          <a:xfrm>
            <a:off x="435146" y="2249669"/>
            <a:ext cx="2214679" cy="292248"/>
          </a:xfrm>
          <a:prstGeom prst="rect">
            <a:avLst/>
          </a:prstGeom>
          <a:noFill/>
          <a:ln/>
        </p:spPr>
        <p:txBody>
          <a:bodyPr wrap="square" lIns="0" tIns="0" rIns="0" bIns="0" rtlCol="0" anchor="t">
            <a:normAutofit fontScale="92500"/>
          </a:bodyPr>
          <a:lstStyle/>
          <a:p>
            <a:pPr marL="0" indent="0" algn="l">
              <a:lnSpc>
                <a:spcPts val="1920"/>
              </a:lnSpc>
              <a:buNone/>
            </a:pPr>
            <a:r>
              <a:rPr lang="en-US" sz="1200" b="1">
                <a:solidFill>
                  <a:srgbClr val="0F1B2D"/>
                </a:solidFill>
                <a:latin typeface="Verdana Pro" panose="020F0502020204030204" pitchFamily="34" charset="0"/>
                <a:ea typeface="Space Grotesk" pitchFamily="34" charset="-122"/>
                <a:cs typeface="Space Grotesk" pitchFamily="34" charset="-120"/>
              </a:rPr>
              <a:t>Circular at prediction time</a:t>
            </a:r>
            <a:endParaRPr lang="en-US" sz="1200">
              <a:latin typeface="Verdana" panose="020B0604030504040204" pitchFamily="34" charset="0"/>
            </a:endParaRPr>
          </a:p>
        </p:txBody>
      </p:sp>
      <p:sp>
        <p:nvSpPr>
          <p:cNvPr id="8" name="Text 6"/>
          <p:cNvSpPr/>
          <p:nvPr/>
        </p:nvSpPr>
        <p:spPr>
          <a:xfrm>
            <a:off x="416724" y="2541917"/>
            <a:ext cx="2353337" cy="1035344"/>
          </a:xfrm>
          <a:prstGeom prst="rect">
            <a:avLst/>
          </a:prstGeom>
          <a:noFill/>
          <a:ln/>
        </p:spPr>
        <p:txBody>
          <a:bodyPr wrap="square" lIns="0" tIns="0" rIns="0" bIns="0" rtlCol="0" anchor="t">
            <a:normAutofit fontScale="92500"/>
          </a:bodyPr>
          <a:lstStyle/>
          <a:p>
            <a:pPr marL="0" indent="0" algn="l">
              <a:lnSpc>
                <a:spcPts val="182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To get them for a new molecule you would run DFT, and that run already gives |μ|. The model would predict nothing new.</a:t>
            </a:r>
            <a:endParaRPr lang="en-US" sz="1200">
              <a:latin typeface="Verdana" panose="020B0604030504040204" pitchFamily="34" charset="0"/>
            </a:endParaRPr>
          </a:p>
        </p:txBody>
      </p:sp>
      <p:sp>
        <p:nvSpPr>
          <p:cNvPr id="9" name="Shape 7"/>
          <p:cNvSpPr/>
          <p:nvPr/>
        </p:nvSpPr>
        <p:spPr>
          <a:xfrm>
            <a:off x="269348" y="4008408"/>
            <a:ext cx="2500712" cy="1784434"/>
          </a:xfrm>
          <a:prstGeom prst="roundRect">
            <a:avLst>
              <a:gd name="adj" fmla="val 4642"/>
            </a:avLst>
          </a:prstGeom>
          <a:solidFill>
            <a:srgbClr val="FDFCF9"/>
          </a:solidFill>
          <a:ln w="6350">
            <a:solidFill>
              <a:srgbClr val="E2DED5"/>
            </a:solidFill>
            <a:prstDash val="solid"/>
          </a:ln>
        </p:spPr>
        <p:txBody>
          <a:bodyPr/>
          <a:lstStyle/>
          <a:p>
            <a:endParaRPr lang="en-CA" sz="1200">
              <a:latin typeface="Verdana" panose="020B0604030504040204" pitchFamily="34" charset="0"/>
            </a:endParaRPr>
          </a:p>
        </p:txBody>
      </p:sp>
      <p:sp>
        <p:nvSpPr>
          <p:cNvPr id="11" name="Text 9"/>
          <p:cNvSpPr/>
          <p:nvPr/>
        </p:nvSpPr>
        <p:spPr>
          <a:xfrm>
            <a:off x="593487" y="4144034"/>
            <a:ext cx="2581033" cy="516926"/>
          </a:xfrm>
          <a:prstGeom prst="rect">
            <a:avLst/>
          </a:prstGeom>
          <a:noFill/>
          <a:ln/>
        </p:spPr>
        <p:txBody>
          <a:bodyPr wrap="square" lIns="0" tIns="0" rIns="0" bIns="0" rtlCol="0" anchor="t">
            <a:normAutofit/>
          </a:bodyPr>
          <a:lstStyle/>
          <a:p>
            <a:pPr marL="0" indent="0" algn="l">
              <a:lnSpc>
                <a:spcPts val="1920"/>
              </a:lnSpc>
              <a:buNone/>
            </a:pPr>
            <a:r>
              <a:rPr lang="en-US" sz="1100" b="1">
                <a:solidFill>
                  <a:srgbClr val="0F1B2D"/>
                </a:solidFill>
                <a:latin typeface="Verdana Pro" panose="020F0502020204030204" pitchFamily="34" charset="0"/>
                <a:ea typeface="Space Grotesk" pitchFamily="34" charset="-122"/>
                <a:cs typeface="Space Grotesk" pitchFamily="34" charset="-120"/>
              </a:rPr>
              <a:t>They leak the answer</a:t>
            </a:r>
            <a:endParaRPr lang="en-US" sz="1100">
              <a:latin typeface="Verdana" panose="020B0604030504040204" pitchFamily="34" charset="0"/>
            </a:endParaRPr>
          </a:p>
        </p:txBody>
      </p:sp>
      <p:sp>
        <p:nvSpPr>
          <p:cNvPr id="12" name="Text 10"/>
          <p:cNvSpPr/>
          <p:nvPr/>
        </p:nvSpPr>
        <p:spPr>
          <a:xfrm>
            <a:off x="416724" y="4523113"/>
            <a:ext cx="2233101" cy="974899"/>
          </a:xfrm>
          <a:prstGeom prst="rect">
            <a:avLst/>
          </a:prstGeom>
          <a:noFill/>
          <a:ln/>
        </p:spPr>
        <p:txBody>
          <a:bodyPr wrap="square" lIns="0" tIns="0" rIns="0" bIns="0" rtlCol="0" anchor="t">
            <a:normAutofit fontScale="92500"/>
          </a:bodyPr>
          <a:lstStyle/>
          <a:p>
            <a:pPr marL="0" indent="0" algn="l">
              <a:lnSpc>
                <a:spcPts val="182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The Mulliken point-charge dipole tracks |μ| at r = 0.94 (MI 1.05), twice as informative as our best legal feature.</a:t>
            </a:r>
            <a:endParaRPr lang="en-US" sz="1200">
              <a:latin typeface="Verdana" panose="020B0604030504040204" pitchFamily="34" charset="0"/>
            </a:endParaRPr>
          </a:p>
        </p:txBody>
      </p:sp>
      <p:pic>
        <p:nvPicPr>
          <p:cNvPr id="22" name="Picture 21">
            <a:extLst>
              <a:ext uri="{FF2B5EF4-FFF2-40B4-BE49-F238E27FC236}">
                <a16:creationId xmlns:a16="http://schemas.microsoft.com/office/drawing/2014/main" id="{0C70CEA4-DB03-AAA2-9EEB-A53B0DF6622A}"/>
              </a:ext>
            </a:extLst>
          </p:cNvPr>
          <p:cNvPicPr>
            <a:picLocks noChangeAspect="1"/>
          </p:cNvPicPr>
          <p:nvPr/>
        </p:nvPicPr>
        <p:blipFill>
          <a:blip r:embed="rId4"/>
          <a:stretch>
            <a:fillRect/>
          </a:stretch>
        </p:blipFill>
        <p:spPr>
          <a:xfrm>
            <a:off x="2973964" y="2041751"/>
            <a:ext cx="4307419" cy="40376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62625A-0D7B-AEBF-E60B-83CEB1384408}"/>
              </a:ext>
            </a:extLst>
          </p:cNvPr>
          <p:cNvPicPr>
            <a:picLocks noChangeAspect="1"/>
          </p:cNvPicPr>
          <p:nvPr/>
        </p:nvPicPr>
        <p:blipFill>
          <a:blip r:embed="rId3"/>
          <a:stretch>
            <a:fillRect/>
          </a:stretch>
        </p:blipFill>
        <p:spPr>
          <a:xfrm>
            <a:off x="7082093" y="3429000"/>
            <a:ext cx="3778375" cy="3313973"/>
          </a:xfrm>
          <a:prstGeom prst="rect">
            <a:avLst/>
          </a:prstGeom>
        </p:spPr>
      </p:pic>
      <p:pic>
        <p:nvPicPr>
          <p:cNvPr id="7" name="Picture 6">
            <a:extLst>
              <a:ext uri="{FF2B5EF4-FFF2-40B4-BE49-F238E27FC236}">
                <a16:creationId xmlns:a16="http://schemas.microsoft.com/office/drawing/2014/main" id="{1A37C49A-FEAA-9803-55F0-7FA1477EBDCB}"/>
              </a:ext>
            </a:extLst>
          </p:cNvPr>
          <p:cNvPicPr>
            <a:picLocks noChangeAspect="1"/>
          </p:cNvPicPr>
          <p:nvPr/>
        </p:nvPicPr>
        <p:blipFill>
          <a:blip r:embed="rId4"/>
          <a:stretch>
            <a:fillRect/>
          </a:stretch>
        </p:blipFill>
        <p:spPr>
          <a:xfrm>
            <a:off x="6360354" y="265147"/>
            <a:ext cx="5221854" cy="2940170"/>
          </a:xfrm>
          <a:prstGeom prst="rect">
            <a:avLst/>
          </a:prstGeom>
        </p:spPr>
      </p:pic>
      <p:sp>
        <p:nvSpPr>
          <p:cNvPr id="9" name="TextBox 8">
            <a:extLst>
              <a:ext uri="{FF2B5EF4-FFF2-40B4-BE49-F238E27FC236}">
                <a16:creationId xmlns:a16="http://schemas.microsoft.com/office/drawing/2014/main" id="{2C5AE7EC-B830-1D42-6DAA-77CD64E7464E}"/>
              </a:ext>
            </a:extLst>
          </p:cNvPr>
          <p:cNvSpPr txBox="1"/>
          <p:nvPr/>
        </p:nvSpPr>
        <p:spPr>
          <a:xfrm>
            <a:off x="0" y="54522"/>
            <a:ext cx="6096000" cy="287771"/>
          </a:xfrm>
          <a:prstGeom prst="rect">
            <a:avLst/>
          </a:prstGeom>
          <a:noFill/>
        </p:spPr>
        <p:txBody>
          <a:bodyPr wrap="square">
            <a:sp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rPr>
              <a:t>EXPLORATORY DATA ANALYSIS</a:t>
            </a:r>
            <a:endParaRPr lang="en-US" sz="1200">
              <a:latin typeface="Verdana" panose="020B0604030504040204" pitchFamily="34" charset="0"/>
            </a:endParaRPr>
          </a:p>
        </p:txBody>
      </p:sp>
      <p:pic>
        <p:nvPicPr>
          <p:cNvPr id="11" name="Picture 10">
            <a:extLst>
              <a:ext uri="{FF2B5EF4-FFF2-40B4-BE49-F238E27FC236}">
                <a16:creationId xmlns:a16="http://schemas.microsoft.com/office/drawing/2014/main" id="{929C65B9-4152-CB54-622E-268AF2D88988}"/>
              </a:ext>
            </a:extLst>
          </p:cNvPr>
          <p:cNvPicPr>
            <a:picLocks noChangeAspect="1"/>
          </p:cNvPicPr>
          <p:nvPr/>
        </p:nvPicPr>
        <p:blipFill>
          <a:blip r:embed="rId5"/>
          <a:stretch>
            <a:fillRect/>
          </a:stretch>
        </p:blipFill>
        <p:spPr>
          <a:xfrm>
            <a:off x="399447" y="4731766"/>
            <a:ext cx="5639044" cy="2071712"/>
          </a:xfrm>
          <a:prstGeom prst="rect">
            <a:avLst/>
          </a:prstGeom>
        </p:spPr>
      </p:pic>
      <p:pic>
        <p:nvPicPr>
          <p:cNvPr id="14" name="Picture 13">
            <a:extLst>
              <a:ext uri="{FF2B5EF4-FFF2-40B4-BE49-F238E27FC236}">
                <a16:creationId xmlns:a16="http://schemas.microsoft.com/office/drawing/2014/main" id="{727FE682-DA73-5112-B57B-FA098B074F9C}"/>
              </a:ext>
            </a:extLst>
          </p:cNvPr>
          <p:cNvPicPr>
            <a:picLocks noChangeAspect="1"/>
          </p:cNvPicPr>
          <p:nvPr/>
        </p:nvPicPr>
        <p:blipFill>
          <a:blip r:embed="rId6"/>
          <a:srcRect b="16690"/>
          <a:stretch>
            <a:fillRect/>
          </a:stretch>
        </p:blipFill>
        <p:spPr>
          <a:xfrm>
            <a:off x="399447" y="614949"/>
            <a:ext cx="4481514" cy="3733531"/>
          </a:xfrm>
          <a:prstGeom prst="rect">
            <a:avLst/>
          </a:prstGeom>
        </p:spPr>
      </p:pic>
    </p:spTree>
    <p:extLst>
      <p:ext uri="{BB962C8B-B14F-4D97-AF65-F5344CB8AC3E}">
        <p14:creationId xmlns:p14="http://schemas.microsoft.com/office/powerpoint/2010/main" val="3216730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1927" y="1534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FEATURE ENGINEERING</a:t>
            </a:r>
            <a:endParaRPr lang="en-US" sz="1200">
              <a:latin typeface="Verdana" panose="020B0604030504040204" pitchFamily="34" charset="0"/>
            </a:endParaRPr>
          </a:p>
        </p:txBody>
      </p:sp>
      <p:sp>
        <p:nvSpPr>
          <p:cNvPr id="3" name="Text 1"/>
          <p:cNvSpPr>
            <a:spLocks noGrp="1"/>
          </p:cNvSpPr>
          <p:nvPr>
            <p:ph type="title"/>
          </p:nvPr>
        </p:nvSpPr>
        <p:spPr>
          <a:xfrm>
            <a:off x="176437" y="514146"/>
            <a:ext cx="7023100" cy="452041"/>
          </a:xfrm>
          <a:prstGeom prst="rect">
            <a:avLst/>
          </a:prstGeom>
          <a:noFill/>
          <a:ln/>
        </p:spPr>
        <p:txBody>
          <a:bodyPr wrap="square" lIns="0" tIns="0" rIns="0" bIns="0" rtlCol="0" anchor="t">
            <a:normAutofit/>
          </a:bodyPr>
          <a:lstStyle/>
          <a:p>
            <a:pPr marL="0" indent="0" algn="l">
              <a:lnSpc>
                <a:spcPts val="3520"/>
              </a:lnSpc>
              <a:buNone/>
            </a:pPr>
            <a:r>
              <a:rPr lang="en-US" sz="2000" b="1" i="0">
                <a:solidFill>
                  <a:srgbClr val="0F1B2D"/>
                </a:solidFill>
                <a:latin typeface="Verdana Pro" panose="020B0604030504040204" pitchFamily="34" charset="0"/>
                <a:cs typeface="Space Grotesk" pitchFamily="34" charset="-120"/>
              </a:rPr>
              <a:t>Best features: physics estimates of the dipole</a:t>
            </a:r>
            <a:endParaRPr lang="en-US" sz="2000"/>
          </a:p>
        </p:txBody>
      </p:sp>
      <p:sp>
        <p:nvSpPr>
          <p:cNvPr id="4" name="Shape 2"/>
          <p:cNvSpPr/>
          <p:nvPr/>
        </p:nvSpPr>
        <p:spPr>
          <a:xfrm>
            <a:off x="389078" y="1400278"/>
            <a:ext cx="6597650" cy="1319787"/>
          </a:xfrm>
          <a:prstGeom prst="roundRect">
            <a:avLst>
              <a:gd name="adj" fmla="val 9573"/>
            </a:avLst>
          </a:prstGeom>
          <a:solidFill>
            <a:srgbClr val="FFD700"/>
          </a:solidFill>
          <a:ln w="6350">
            <a:solidFill>
              <a:srgbClr val="C7D5F2"/>
            </a:solidFill>
            <a:prstDash val="solid"/>
          </a:ln>
        </p:spPr>
        <p:txBody>
          <a:bodyPr/>
          <a:lstStyle/>
          <a:p>
            <a:endParaRPr lang="en-CA">
              <a:latin typeface="Verdana" panose="020B0604030504040204" pitchFamily="34" charset="0"/>
            </a:endParaRPr>
          </a:p>
        </p:txBody>
      </p:sp>
      <p:sp>
        <p:nvSpPr>
          <p:cNvPr id="5" name="Text 3"/>
          <p:cNvSpPr/>
          <p:nvPr/>
        </p:nvSpPr>
        <p:spPr>
          <a:xfrm>
            <a:off x="567936" y="1553735"/>
            <a:ext cx="1248013" cy="269214"/>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F1B2D"/>
                </a:solidFill>
                <a:latin typeface="Verdana Pro" panose="020B0604030504040204" pitchFamily="34" charset="0"/>
                <a:ea typeface="Space Grotesk" pitchFamily="34" charset="-122"/>
                <a:cs typeface="Space Grotesk" pitchFamily="34" charset="-120"/>
              </a:rPr>
              <a:t>QEq dipole</a:t>
            </a:r>
            <a:endParaRPr lang="en-US" sz="1600">
              <a:latin typeface="Verdana" panose="020B0604030504040204" pitchFamily="34" charset="0"/>
            </a:endParaRPr>
          </a:p>
        </p:txBody>
      </p:sp>
      <p:sp>
        <p:nvSpPr>
          <p:cNvPr id="6" name="Text 4"/>
          <p:cNvSpPr/>
          <p:nvPr/>
        </p:nvSpPr>
        <p:spPr>
          <a:xfrm>
            <a:off x="5246864" y="1501680"/>
            <a:ext cx="1593012" cy="238720"/>
          </a:xfrm>
          <a:prstGeom prst="rect">
            <a:avLst/>
          </a:prstGeom>
          <a:noFill/>
          <a:ln/>
        </p:spPr>
        <p:txBody>
          <a:bodyPr wrap="none" lIns="0" tIns="0" rIns="0" bIns="0" rtlCol="0" anchor="t">
            <a:normAutofit/>
          </a:bodyPr>
          <a:lstStyle/>
          <a:p>
            <a:pPr>
              <a:lnSpc>
                <a:spcPts val="1680"/>
              </a:lnSpc>
            </a:pPr>
            <a:r>
              <a:rPr lang="en-US" sz="1200" b="1">
                <a:solidFill>
                  <a:srgbClr val="0F1B2D"/>
                </a:solidFill>
                <a:latin typeface="Verdana Pro" panose="020B0604030504040204" pitchFamily="34" charset="0"/>
                <a:ea typeface="Space Grotesk" pitchFamily="34" charset="-122"/>
              </a:rPr>
              <a:t>I(</a:t>
            </a:r>
            <a:r>
              <a:rPr lang="en-US" sz="1200" b="1" err="1">
                <a:solidFill>
                  <a:srgbClr val="0F1B2D"/>
                </a:solidFill>
                <a:latin typeface="Verdana Pro" panose="020B0604030504040204" pitchFamily="34" charset="0"/>
                <a:ea typeface="Space Grotesk" pitchFamily="34" charset="-122"/>
              </a:rPr>
              <a:t>Qeq</a:t>
            </a:r>
            <a:r>
              <a:rPr lang="en-US" sz="1200" b="1">
                <a:solidFill>
                  <a:srgbClr val="0F1B2D"/>
                </a:solidFill>
                <a:latin typeface="Verdana Pro" panose="020B0604030504040204" pitchFamily="34" charset="0"/>
                <a:ea typeface="Space Grotesk" pitchFamily="34" charset="-122"/>
              </a:rPr>
              <a:t>; |μ|)= 0.52</a:t>
            </a:r>
          </a:p>
        </p:txBody>
      </p:sp>
      <p:sp>
        <p:nvSpPr>
          <p:cNvPr id="7" name="Text 5"/>
          <p:cNvSpPr/>
          <p:nvPr/>
        </p:nvSpPr>
        <p:spPr>
          <a:xfrm>
            <a:off x="567936" y="1848350"/>
            <a:ext cx="6427131" cy="594982"/>
          </a:xfrm>
          <a:prstGeom prst="rect">
            <a:avLst/>
          </a:prstGeom>
          <a:noFill/>
          <a:ln/>
        </p:spPr>
        <p:txBody>
          <a:bodyPr wrap="square" lIns="0" tIns="0" rIns="0" bIns="0" rtlCol="0" anchor="t">
            <a:noAutofit/>
          </a:bodyPr>
          <a:lstStyle/>
          <a:p>
            <a:pPr>
              <a:lnSpc>
                <a:spcPts val="1680"/>
              </a:lnSpc>
            </a:pPr>
            <a:r>
              <a:rPr lang="en-US" sz="1200">
                <a:solidFill>
                  <a:srgbClr val="1B2433"/>
                </a:solidFill>
                <a:latin typeface="Verdana" panose="020B0604030504040204" pitchFamily="34" charset="0"/>
              </a:rPr>
              <a:t>Charge equilibration gives each atom a charge by balancing tabulated electronegativities against Coulomb repulsion on the real geometry, then sums |Σ qᵢ rᵢ|. No fitting at all.</a:t>
            </a:r>
            <a:endParaRPr lang="en-US" sz="1200">
              <a:solidFill>
                <a:srgbClr val="0F1B2D"/>
              </a:solidFill>
              <a:latin typeface="Verdana" panose="020B0604030504040204" pitchFamily="34" charset="0"/>
            </a:endParaRPr>
          </a:p>
        </p:txBody>
      </p:sp>
      <p:sp>
        <p:nvSpPr>
          <p:cNvPr id="8" name="Shape 6"/>
          <p:cNvSpPr/>
          <p:nvPr/>
        </p:nvSpPr>
        <p:spPr>
          <a:xfrm>
            <a:off x="414095" y="4210629"/>
            <a:ext cx="6597650" cy="1145691"/>
          </a:xfrm>
          <a:prstGeom prst="roundRect">
            <a:avLst>
              <a:gd name="adj" fmla="val 9573"/>
            </a:avLst>
          </a:prstGeom>
          <a:solidFill>
            <a:srgbClr val="CD7F32"/>
          </a:solidFill>
          <a:ln w="6350">
            <a:solidFill>
              <a:srgbClr val="E2DED5"/>
            </a:solidFill>
            <a:prstDash val="solid"/>
          </a:ln>
        </p:spPr>
        <p:txBody>
          <a:bodyPr/>
          <a:lstStyle/>
          <a:p>
            <a:endParaRPr lang="en-CA">
              <a:latin typeface="Verdana" panose="020B0604030504040204" pitchFamily="34" charset="0"/>
            </a:endParaRPr>
          </a:p>
        </p:txBody>
      </p:sp>
      <p:sp>
        <p:nvSpPr>
          <p:cNvPr id="9" name="Text 7"/>
          <p:cNvSpPr/>
          <p:nvPr/>
        </p:nvSpPr>
        <p:spPr>
          <a:xfrm>
            <a:off x="592953" y="4364087"/>
            <a:ext cx="2913301" cy="299985"/>
          </a:xfrm>
          <a:prstGeom prst="rect">
            <a:avLst/>
          </a:prstGeom>
          <a:noFill/>
          <a:ln/>
        </p:spPr>
        <p:txBody>
          <a:bodyPr wrap="square" lIns="0" tIns="0" rIns="0" bIns="0" rtlCol="0" anchor="t">
            <a:normAutofit fontScale="85000" lnSpcReduction="10000"/>
          </a:bodyPr>
          <a:lstStyle/>
          <a:p>
            <a:pPr marL="0" indent="0" algn="l">
              <a:lnSpc>
                <a:spcPts val="1920"/>
              </a:lnSpc>
              <a:buNone/>
            </a:pPr>
            <a:r>
              <a:rPr lang="en-US" sz="1600" b="1">
                <a:solidFill>
                  <a:srgbClr val="0F1B2D"/>
                </a:solidFill>
                <a:latin typeface="Verdana Pro" panose="020B0604030504040204" pitchFamily="34" charset="0"/>
                <a:ea typeface="Space Grotesk" pitchFamily="34" charset="-122"/>
                <a:cs typeface="Space Grotesk" pitchFamily="34" charset="-120"/>
              </a:rPr>
              <a:t>Bond-dipole norm ||Σ </a:t>
            </a:r>
            <a:r>
              <a:rPr lang="en-US" sz="1600" b="1" err="1">
                <a:solidFill>
                  <a:srgbClr val="0F1B2D"/>
                </a:solidFill>
                <a:latin typeface="Verdana Pro" panose="020B0604030504040204" pitchFamily="34" charset="0"/>
                <a:ea typeface="Space Grotesk" pitchFamily="34" charset="-122"/>
                <a:cs typeface="Space Grotesk" pitchFamily="34" charset="-120"/>
              </a:rPr>
              <a:t>Δχ·û</a:t>
            </a:r>
            <a:r>
              <a:rPr lang="en-US" sz="1600" b="1">
                <a:solidFill>
                  <a:srgbClr val="0F1B2D"/>
                </a:solidFill>
                <a:latin typeface="Verdana Pro" panose="020B0604030504040204" pitchFamily="34" charset="0"/>
                <a:ea typeface="Space Grotesk" pitchFamily="34" charset="-122"/>
                <a:cs typeface="Space Grotesk" pitchFamily="34" charset="-120"/>
              </a:rPr>
              <a:t>||</a:t>
            </a:r>
            <a:endParaRPr lang="en-US" sz="1600">
              <a:latin typeface="Verdana" panose="020B0604030504040204" pitchFamily="34" charset="0"/>
            </a:endParaRPr>
          </a:p>
        </p:txBody>
      </p:sp>
      <p:sp>
        <p:nvSpPr>
          <p:cNvPr id="10" name="Text 8"/>
          <p:cNvSpPr/>
          <p:nvPr/>
        </p:nvSpPr>
        <p:spPr>
          <a:xfrm>
            <a:off x="4815891" y="4317664"/>
            <a:ext cx="2032324" cy="266006"/>
          </a:xfrm>
          <a:prstGeom prst="rect">
            <a:avLst/>
          </a:prstGeom>
          <a:noFill/>
          <a:ln/>
        </p:spPr>
        <p:txBody>
          <a:bodyPr wrap="none" lIns="0" tIns="0" rIns="0" bIns="0" rtlCol="0" anchor="t">
            <a:normAutofit/>
          </a:bodyPr>
          <a:lstStyle/>
          <a:p>
            <a:pPr>
              <a:lnSpc>
                <a:spcPts val="1680"/>
              </a:lnSpc>
            </a:pPr>
            <a:r>
              <a:rPr lang="en-US" sz="1200" b="1">
                <a:solidFill>
                  <a:srgbClr val="0F1B2D"/>
                </a:solidFill>
                <a:latin typeface="Verdana Pro" panose="020B0604030504040204" pitchFamily="34" charset="0"/>
                <a:ea typeface="Space Grotesk" pitchFamily="34" charset="-122"/>
              </a:rPr>
              <a:t>I(</a:t>
            </a:r>
            <a:r>
              <a:rPr lang="en-US" sz="1200" b="1">
                <a:solidFill>
                  <a:srgbClr val="0F1B2D"/>
                </a:solidFill>
                <a:latin typeface="Verdana Pro" panose="020B0604030504040204" pitchFamily="34" charset="0"/>
                <a:ea typeface="Space Grotesk" pitchFamily="34" charset="-122"/>
                <a:cs typeface="Space Grotesk" pitchFamily="34" charset="-120"/>
              </a:rPr>
              <a:t>|Σ </a:t>
            </a:r>
            <a:r>
              <a:rPr lang="en-US" sz="1200" b="1" err="1">
                <a:solidFill>
                  <a:srgbClr val="0F1B2D"/>
                </a:solidFill>
                <a:latin typeface="Verdana Pro" panose="020B0604030504040204" pitchFamily="34" charset="0"/>
                <a:ea typeface="Space Grotesk" pitchFamily="34" charset="-122"/>
                <a:cs typeface="Space Grotesk" pitchFamily="34" charset="-120"/>
              </a:rPr>
              <a:t>Δχ·û</a:t>
            </a:r>
            <a:r>
              <a:rPr lang="en-US" sz="1200" b="1">
                <a:solidFill>
                  <a:srgbClr val="0F1B2D"/>
                </a:solidFill>
                <a:latin typeface="Verdana Pro" panose="020B0604030504040204" pitchFamily="34" charset="0"/>
                <a:ea typeface="Space Grotesk" pitchFamily="34" charset="-122"/>
                <a:cs typeface="Space Grotesk" pitchFamily="34" charset="-120"/>
              </a:rPr>
              <a:t>|</a:t>
            </a:r>
            <a:r>
              <a:rPr lang="en-US" sz="1200" b="1">
                <a:solidFill>
                  <a:srgbClr val="0F1B2D"/>
                </a:solidFill>
                <a:latin typeface="Verdana Pro" panose="020B0604030504040204" pitchFamily="34" charset="0"/>
                <a:ea typeface="Space Grotesk" pitchFamily="34" charset="-122"/>
              </a:rPr>
              <a:t>; |μ|)= 0.30</a:t>
            </a:r>
          </a:p>
        </p:txBody>
      </p:sp>
      <p:sp>
        <p:nvSpPr>
          <p:cNvPr id="11" name="Text 9"/>
          <p:cNvSpPr/>
          <p:nvPr/>
        </p:nvSpPr>
        <p:spPr>
          <a:xfrm>
            <a:off x="592953" y="4658701"/>
            <a:ext cx="6427131" cy="503709"/>
          </a:xfrm>
          <a:prstGeom prst="rect">
            <a:avLst/>
          </a:prstGeom>
          <a:noFill/>
          <a:ln/>
        </p:spPr>
        <p:txBody>
          <a:bodyPr wrap="square" lIns="0" tIns="0" rIns="0" bIns="0" rtlCol="0" anchor="t">
            <a:normAutofit/>
          </a:bodyPr>
          <a:lstStyle/>
          <a:p>
            <a:pPr marL="0" indent="0" algn="l">
              <a:lnSpc>
                <a:spcPts val="1680"/>
              </a:lnSpc>
              <a:buNone/>
            </a:pPr>
            <a:r>
              <a:rPr lang="en-US" sz="1200">
                <a:solidFill>
                  <a:srgbClr val="1B2433"/>
                </a:solidFill>
                <a:latin typeface="Verdana" panose="020B0604030504040204" pitchFamily="34" charset="0"/>
                <a:ea typeface="Verdana" panose="020B0604030504040204" pitchFamily="34" charset="0"/>
                <a:cs typeface="IBM Plex Sans" pitchFamily="34" charset="-120"/>
              </a:rPr>
              <a:t>Each bond’s electronegativity difference, pointed along the bond and added as vectors, so bonds that cancel (as in CO₂) sum to zero.</a:t>
            </a:r>
            <a:endParaRPr lang="en-US" sz="1200">
              <a:latin typeface="Verdana" panose="020B0604030504040204" pitchFamily="34" charset="0"/>
            </a:endParaRPr>
          </a:p>
        </p:txBody>
      </p:sp>
      <p:sp>
        <p:nvSpPr>
          <p:cNvPr id="12" name="Shape 10"/>
          <p:cNvSpPr/>
          <p:nvPr/>
        </p:nvSpPr>
        <p:spPr>
          <a:xfrm>
            <a:off x="414095" y="2867762"/>
            <a:ext cx="6597650" cy="1181499"/>
          </a:xfrm>
          <a:prstGeom prst="roundRect">
            <a:avLst>
              <a:gd name="adj" fmla="val 12079"/>
            </a:avLst>
          </a:prstGeom>
          <a:solidFill>
            <a:srgbClr val="C0C0C0"/>
          </a:solidFill>
          <a:ln w="6350">
            <a:solidFill>
              <a:srgbClr val="E2DED5"/>
            </a:solidFill>
            <a:prstDash val="solid"/>
          </a:ln>
        </p:spPr>
        <p:txBody>
          <a:bodyPr/>
          <a:lstStyle/>
          <a:p>
            <a:endParaRPr lang="en-CA">
              <a:latin typeface="Verdana" panose="020B0604030504040204" pitchFamily="34" charset="0"/>
            </a:endParaRPr>
          </a:p>
        </p:txBody>
      </p:sp>
      <p:sp>
        <p:nvSpPr>
          <p:cNvPr id="13" name="Text 11"/>
          <p:cNvSpPr/>
          <p:nvPr/>
        </p:nvSpPr>
        <p:spPr>
          <a:xfrm>
            <a:off x="601292" y="3169272"/>
            <a:ext cx="2956243" cy="269214"/>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F1B2D"/>
                </a:solidFill>
                <a:latin typeface="Verdana Pro" panose="020B0604030504040204" pitchFamily="34" charset="0"/>
                <a:ea typeface="Space Grotesk" pitchFamily="34" charset="-122"/>
                <a:cs typeface="Space Grotesk" pitchFamily="34" charset="-120"/>
              </a:rPr>
              <a:t>Total bond polarity </a:t>
            </a:r>
            <a:r>
              <a:rPr lang="en-US" sz="1600" b="1" err="1">
                <a:solidFill>
                  <a:srgbClr val="0F1B2D"/>
                </a:solidFill>
                <a:latin typeface="Verdana Pro" panose="020B0604030504040204" pitchFamily="34" charset="0"/>
                <a:ea typeface="Space Grotesk" pitchFamily="34" charset="-122"/>
                <a:cs typeface="Space Grotesk" pitchFamily="34" charset="-120"/>
              </a:rPr>
              <a:t>Σ|Δχ</a:t>
            </a:r>
            <a:r>
              <a:rPr lang="en-US" sz="1600" b="1">
                <a:solidFill>
                  <a:srgbClr val="0F1B2D"/>
                </a:solidFill>
                <a:latin typeface="Verdana Pro" panose="020B0604030504040204" pitchFamily="34" charset="0"/>
                <a:ea typeface="Space Grotesk" pitchFamily="34" charset="-122"/>
                <a:cs typeface="Space Grotesk" pitchFamily="34" charset="-120"/>
              </a:rPr>
              <a:t>|</a:t>
            </a:r>
            <a:endParaRPr lang="en-US" sz="1600">
              <a:latin typeface="Verdana" panose="020B0604030504040204" pitchFamily="34" charset="0"/>
            </a:endParaRPr>
          </a:p>
        </p:txBody>
      </p:sp>
      <p:sp>
        <p:nvSpPr>
          <p:cNvPr id="14" name="Text 12"/>
          <p:cNvSpPr/>
          <p:nvPr/>
        </p:nvSpPr>
        <p:spPr>
          <a:xfrm>
            <a:off x="5093027" y="3112232"/>
            <a:ext cx="595643" cy="238720"/>
          </a:xfrm>
          <a:prstGeom prst="rect">
            <a:avLst/>
          </a:prstGeom>
          <a:noFill/>
          <a:ln/>
        </p:spPr>
        <p:txBody>
          <a:bodyPr wrap="none" lIns="0" tIns="0" rIns="0" bIns="0" rtlCol="0" anchor="t">
            <a:normAutofit/>
          </a:bodyPr>
          <a:lstStyle/>
          <a:p>
            <a:pPr>
              <a:lnSpc>
                <a:spcPts val="1680"/>
              </a:lnSpc>
            </a:pPr>
            <a:r>
              <a:rPr lang="en-US" sz="1200" b="1">
                <a:solidFill>
                  <a:srgbClr val="0F1B2D"/>
                </a:solidFill>
                <a:latin typeface="Verdana Pro" panose="020B0604030504040204" pitchFamily="34" charset="0"/>
                <a:ea typeface="Space Grotesk" pitchFamily="34" charset="-122"/>
              </a:rPr>
              <a:t>I(</a:t>
            </a:r>
            <a:r>
              <a:rPr lang="en-US" sz="1200" b="1" err="1">
                <a:solidFill>
                  <a:srgbClr val="0F1B2D"/>
                </a:solidFill>
                <a:latin typeface="Verdana Pro" panose="020B0604030504040204" pitchFamily="34" charset="0"/>
                <a:ea typeface="Space Grotesk" pitchFamily="34" charset="-122"/>
              </a:rPr>
              <a:t>Σ|Δχ</a:t>
            </a:r>
            <a:r>
              <a:rPr lang="en-US" sz="1200" b="1">
                <a:solidFill>
                  <a:srgbClr val="0F1B2D"/>
                </a:solidFill>
                <a:latin typeface="Verdana Pro" panose="020B0604030504040204" pitchFamily="34" charset="0"/>
                <a:ea typeface="Space Grotesk" pitchFamily="34" charset="-122"/>
              </a:rPr>
              <a:t>|; |μ|)= 0.38</a:t>
            </a:r>
          </a:p>
        </p:txBody>
      </p:sp>
      <p:sp>
        <p:nvSpPr>
          <p:cNvPr id="15" name="Text 13"/>
          <p:cNvSpPr/>
          <p:nvPr/>
        </p:nvSpPr>
        <p:spPr>
          <a:xfrm>
            <a:off x="601292" y="3463885"/>
            <a:ext cx="6427131"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1B2433"/>
                </a:solidFill>
                <a:latin typeface="Verdana" panose="020B0604030504040204" pitchFamily="34" charset="0"/>
                <a:ea typeface="Verdana" panose="020B0604030504040204" pitchFamily="34" charset="0"/>
                <a:cs typeface="IBM Plex Sans" pitchFamily="34" charset="-120"/>
              </a:rPr>
              <a:t>Sum of the magnitude of bond polarity.</a:t>
            </a:r>
            <a:endParaRPr lang="en-US" sz="1200">
              <a:latin typeface="Verdana" panose="020B0604030504040204" pitchFamily="34" charset="0"/>
            </a:endParaRPr>
          </a:p>
        </p:txBody>
      </p:sp>
      <p:sp>
        <p:nvSpPr>
          <p:cNvPr id="16" name="Text 14"/>
          <p:cNvSpPr/>
          <p:nvPr/>
        </p:nvSpPr>
        <p:spPr>
          <a:xfrm>
            <a:off x="601292" y="5450737"/>
            <a:ext cx="5945558" cy="613514"/>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280"/>
                </a:solidFill>
                <a:latin typeface="Verdana" panose="020B0604030504040204" pitchFamily="34" charset="0"/>
                <a:ea typeface="Verdana" panose="020B0604030504040204" pitchFamily="34" charset="0"/>
                <a:cs typeface="IBM Plex Sans" pitchFamily="34" charset="-120"/>
              </a:rPr>
              <a:t>I(X;Y): Estimated mutual information using </a:t>
            </a:r>
            <a:r>
              <a:rPr lang="en-US" sz="1200" err="1">
                <a:solidFill>
                  <a:srgbClr val="6B7280"/>
                </a:solidFill>
                <a:latin typeface="Verdana" panose="020B0604030504040204" pitchFamily="34" charset="0"/>
                <a:ea typeface="Verdana" panose="020B0604030504040204" pitchFamily="34" charset="0"/>
                <a:cs typeface="IBM Plex Sans" pitchFamily="34" charset="-120"/>
              </a:rPr>
              <a:t>sklearn</a:t>
            </a:r>
            <a:r>
              <a:rPr lang="en-US" sz="1200">
                <a:solidFill>
                  <a:srgbClr val="6B7280"/>
                </a:solidFill>
                <a:latin typeface="Verdana" panose="020B0604030504040204" pitchFamily="34" charset="0"/>
                <a:ea typeface="Verdana" panose="020B0604030504040204" pitchFamily="34" charset="0"/>
                <a:cs typeface="IBM Plex Sans" pitchFamily="34" charset="-120"/>
              </a:rPr>
              <a:t> </a:t>
            </a:r>
            <a:r>
              <a:rPr lang="en-US" sz="1200" err="1">
                <a:solidFill>
                  <a:srgbClr val="6B7280"/>
                </a:solidFill>
                <a:latin typeface="Verdana" panose="020B0604030504040204" pitchFamily="34" charset="0"/>
                <a:ea typeface="Verdana" panose="020B0604030504040204" pitchFamily="34" charset="0"/>
                <a:cs typeface="IBM Plex Sans" pitchFamily="34" charset="-120"/>
              </a:rPr>
              <a:t>mutual_info_regression</a:t>
            </a:r>
            <a:r>
              <a:rPr lang="en-US" sz="1200">
                <a:solidFill>
                  <a:srgbClr val="6B7280"/>
                </a:solidFill>
                <a:latin typeface="Verdana" panose="020B0604030504040204" pitchFamily="34" charset="0"/>
                <a:ea typeface="Verdana" panose="020B0604030504040204" pitchFamily="34" charset="0"/>
                <a:cs typeface="IBM Plex Sans" pitchFamily="34" charset="-120"/>
              </a:rPr>
              <a:t>. Measured in </a:t>
            </a:r>
            <a:r>
              <a:rPr lang="en-US" sz="1200" err="1">
                <a:solidFill>
                  <a:srgbClr val="6B7280"/>
                </a:solidFill>
                <a:latin typeface="Verdana" panose="020B0604030504040204" pitchFamily="34" charset="0"/>
                <a:ea typeface="Verdana" panose="020B0604030504040204" pitchFamily="34" charset="0"/>
                <a:cs typeface="IBM Plex Sans" pitchFamily="34" charset="-120"/>
              </a:rPr>
              <a:t>nats</a:t>
            </a:r>
            <a:r>
              <a:rPr lang="en-US" sz="1200">
                <a:solidFill>
                  <a:srgbClr val="6B7280"/>
                </a:solidFill>
                <a:latin typeface="Verdana" panose="020B0604030504040204" pitchFamily="34" charset="0"/>
                <a:ea typeface="Verdana" panose="020B0604030504040204" pitchFamily="34" charset="0"/>
                <a:cs typeface="IBM Plex Sans" pitchFamily="34" charset="-120"/>
              </a:rPr>
              <a:t>. (0 means independent).</a:t>
            </a:r>
            <a:endParaRPr lang="en-US" sz="1200">
              <a:latin typeface="Verdana" panose="020B0604030504040204" pitchFamily="34" charset="0"/>
            </a:endParaRPr>
          </a:p>
        </p:txBody>
      </p:sp>
      <p:pic>
        <p:nvPicPr>
          <p:cNvPr id="38" name="Picture 37">
            <a:extLst>
              <a:ext uri="{FF2B5EF4-FFF2-40B4-BE49-F238E27FC236}">
                <a16:creationId xmlns:a16="http://schemas.microsoft.com/office/drawing/2014/main" id="{B2977747-05D9-6A37-45CE-E5CCED9DD75E}"/>
              </a:ext>
            </a:extLst>
          </p:cNvPr>
          <p:cNvPicPr>
            <a:picLocks noChangeAspect="1"/>
          </p:cNvPicPr>
          <p:nvPr/>
        </p:nvPicPr>
        <p:blipFill>
          <a:blip r:embed="rId3"/>
          <a:srcRect r="47601"/>
          <a:stretch>
            <a:fillRect/>
          </a:stretch>
        </p:blipFill>
        <p:spPr>
          <a:xfrm>
            <a:off x="7987731" y="649764"/>
            <a:ext cx="3434149" cy="2701188"/>
          </a:xfrm>
          <a:prstGeom prst="rect">
            <a:avLst/>
          </a:prstGeom>
        </p:spPr>
      </p:pic>
      <p:pic>
        <p:nvPicPr>
          <p:cNvPr id="39" name="Picture 38">
            <a:extLst>
              <a:ext uri="{FF2B5EF4-FFF2-40B4-BE49-F238E27FC236}">
                <a16:creationId xmlns:a16="http://schemas.microsoft.com/office/drawing/2014/main" id="{C7F2F0C0-BC3B-529B-227C-683A2E19BE01}"/>
              </a:ext>
            </a:extLst>
          </p:cNvPr>
          <p:cNvPicPr>
            <a:picLocks noChangeAspect="1"/>
          </p:cNvPicPr>
          <p:nvPr/>
        </p:nvPicPr>
        <p:blipFill>
          <a:blip r:embed="rId3"/>
          <a:srcRect l="51447" t="-700" r="31" b="700"/>
          <a:stretch>
            <a:fillRect/>
          </a:stretch>
        </p:blipFill>
        <p:spPr>
          <a:xfrm>
            <a:off x="7987732" y="3316756"/>
            <a:ext cx="3434148" cy="29169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272976" y="261541"/>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FEATURE ENGINEERING CONT.</a:t>
            </a:r>
            <a:endParaRPr lang="en-US" sz="1200">
              <a:latin typeface="Verdana" panose="020B0604030504040204" pitchFamily="34" charset="0"/>
            </a:endParaRPr>
          </a:p>
        </p:txBody>
      </p:sp>
      <p:sp>
        <p:nvSpPr>
          <p:cNvPr id="3" name="Text 1"/>
          <p:cNvSpPr>
            <a:spLocks noGrp="1"/>
          </p:cNvSpPr>
          <p:nvPr>
            <p:ph type="title"/>
          </p:nvPr>
        </p:nvSpPr>
        <p:spPr>
          <a:xfrm>
            <a:off x="812726" y="975196"/>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0F1B2D"/>
                </a:solidFill>
                <a:cs typeface="Space Grotesk" pitchFamily="34" charset="-120"/>
              </a:rPr>
              <a:t>188 legal features </a:t>
            </a:r>
            <a:r>
              <a:rPr lang="en-US" b="1">
                <a:cs typeface="Space Grotesk" pitchFamily="34" charset="-120"/>
              </a:rPr>
              <a:t>from </a:t>
            </a:r>
            <a:r>
              <a:rPr lang="en-US" sz="3200" b="1" i="0">
                <a:solidFill>
                  <a:srgbClr val="0F1B2D"/>
                </a:solidFill>
                <a:cs typeface="Space Grotesk" pitchFamily="34" charset="-120"/>
              </a:rPr>
              <a:t>atoms and geometry</a:t>
            </a:r>
            <a:endParaRPr lang="en-US" sz="3200"/>
          </a:p>
        </p:txBody>
      </p:sp>
      <p:sp>
        <p:nvSpPr>
          <p:cNvPr id="4" name="Shape 2"/>
          <p:cNvSpPr/>
          <p:nvPr/>
        </p:nvSpPr>
        <p:spPr>
          <a:xfrm>
            <a:off x="858745" y="1679327"/>
            <a:ext cx="3431084" cy="1505124"/>
          </a:xfrm>
          <a:prstGeom prst="roundRect">
            <a:avLst>
              <a:gd name="adj" fmla="val 6539"/>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5" name="Text 3"/>
          <p:cNvSpPr/>
          <p:nvPr/>
        </p:nvSpPr>
        <p:spPr>
          <a:xfrm>
            <a:off x="998389" y="1836415"/>
            <a:ext cx="3158091" cy="388541"/>
          </a:xfrm>
          <a:prstGeom prst="rect">
            <a:avLst/>
          </a:prstGeom>
          <a:noFill/>
          <a:ln/>
        </p:spPr>
        <p:txBody>
          <a:bodyPr wrap="square" lIns="0" tIns="0" rIns="0" bIns="0" rtlCol="0" anchor="t">
            <a:normAutofit/>
          </a:bodyPr>
          <a:lstStyle/>
          <a:p>
            <a:pPr marL="0" indent="0" algn="l">
              <a:lnSpc>
                <a:spcPts val="2860"/>
              </a:lnSpc>
              <a:buNone/>
            </a:pPr>
            <a:r>
              <a:rPr lang="en-US" sz="2600" b="1">
                <a:solidFill>
                  <a:srgbClr val="2558C0"/>
                </a:solidFill>
                <a:latin typeface="Verdana Pro" panose="020F0502020204030204" pitchFamily="34" charset="0"/>
                <a:ea typeface="Space Grotesk" pitchFamily="34" charset="-122"/>
                <a:cs typeface="Space Grotesk" pitchFamily="34" charset="-120"/>
              </a:rPr>
              <a:t>5</a:t>
            </a:r>
            <a:endParaRPr lang="en-US" sz="2600">
              <a:latin typeface="Verdana" panose="020B0604030504040204" pitchFamily="34" charset="0"/>
            </a:endParaRPr>
          </a:p>
        </p:txBody>
      </p:sp>
      <p:sp>
        <p:nvSpPr>
          <p:cNvPr id="6" name="Text 4"/>
          <p:cNvSpPr/>
          <p:nvPr/>
        </p:nvSpPr>
        <p:spPr>
          <a:xfrm>
            <a:off x="998389" y="2250281"/>
            <a:ext cx="3158091" cy="274315"/>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Composition</a:t>
            </a:r>
            <a:endParaRPr lang="en-US" sz="1400">
              <a:latin typeface="Verdana" panose="020B0604030504040204" pitchFamily="34" charset="0"/>
            </a:endParaRPr>
          </a:p>
        </p:txBody>
      </p:sp>
      <p:sp>
        <p:nvSpPr>
          <p:cNvPr id="7" name="Text 5"/>
          <p:cNvSpPr/>
          <p:nvPr/>
        </p:nvSpPr>
        <p:spPr>
          <a:xfrm>
            <a:off x="998389" y="2549922"/>
            <a:ext cx="3158091"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Counts of C, H, N, O, F</a:t>
            </a:r>
            <a:endParaRPr lang="en-US" sz="1200">
              <a:latin typeface="Verdana" panose="020B0604030504040204" pitchFamily="34" charset="0"/>
            </a:endParaRPr>
          </a:p>
        </p:txBody>
      </p:sp>
      <p:sp>
        <p:nvSpPr>
          <p:cNvPr id="8" name="Shape 6"/>
          <p:cNvSpPr/>
          <p:nvPr/>
        </p:nvSpPr>
        <p:spPr>
          <a:xfrm>
            <a:off x="4380332" y="1696033"/>
            <a:ext cx="3431208" cy="1505124"/>
          </a:xfrm>
          <a:prstGeom prst="roundRect">
            <a:avLst>
              <a:gd name="adj" fmla="val 6539"/>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9" name="Text 7"/>
          <p:cNvSpPr/>
          <p:nvPr/>
        </p:nvSpPr>
        <p:spPr>
          <a:xfrm>
            <a:off x="4562822" y="1836415"/>
            <a:ext cx="3158218" cy="388541"/>
          </a:xfrm>
          <a:prstGeom prst="rect">
            <a:avLst/>
          </a:prstGeom>
          <a:noFill/>
          <a:ln/>
        </p:spPr>
        <p:txBody>
          <a:bodyPr wrap="square" lIns="0" tIns="0" rIns="0" bIns="0" rtlCol="0" anchor="t">
            <a:normAutofit/>
          </a:bodyPr>
          <a:lstStyle/>
          <a:p>
            <a:pPr marL="0" indent="0" algn="l">
              <a:lnSpc>
                <a:spcPts val="2860"/>
              </a:lnSpc>
              <a:buNone/>
            </a:pPr>
            <a:r>
              <a:rPr lang="en-US" sz="2600" b="1">
                <a:solidFill>
                  <a:srgbClr val="2558C0"/>
                </a:solidFill>
                <a:latin typeface="Verdana Pro" panose="020F0502020204030204" pitchFamily="34" charset="0"/>
                <a:ea typeface="Space Grotesk" pitchFamily="34" charset="-122"/>
                <a:cs typeface="Space Grotesk" pitchFamily="34" charset="-120"/>
              </a:rPr>
              <a:t>29</a:t>
            </a:r>
            <a:endParaRPr lang="en-US" sz="2600">
              <a:latin typeface="Verdana" panose="020B0604030504040204" pitchFamily="34" charset="0"/>
            </a:endParaRPr>
          </a:p>
        </p:txBody>
      </p:sp>
      <p:sp>
        <p:nvSpPr>
          <p:cNvPr id="10" name="Text 8"/>
          <p:cNvSpPr/>
          <p:nvPr/>
        </p:nvSpPr>
        <p:spPr>
          <a:xfrm>
            <a:off x="4562822" y="2250281"/>
            <a:ext cx="3158218" cy="274315"/>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Coulomb-matrix spectrum</a:t>
            </a:r>
            <a:endParaRPr lang="en-US" sz="1400">
              <a:latin typeface="Verdana" panose="020B0604030504040204" pitchFamily="34" charset="0"/>
            </a:endParaRPr>
          </a:p>
        </p:txBody>
      </p:sp>
      <p:sp>
        <p:nvSpPr>
          <p:cNvPr id="11" name="Text 9"/>
          <p:cNvSpPr/>
          <p:nvPr/>
        </p:nvSpPr>
        <p:spPr>
          <a:xfrm>
            <a:off x="4562822" y="2549922"/>
            <a:ext cx="3158218"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Sorted eigenvalues of nuclear repulsion</a:t>
            </a:r>
            <a:endParaRPr lang="en-US" sz="1200">
              <a:latin typeface="Verdana" panose="020B0604030504040204" pitchFamily="34" charset="0"/>
            </a:endParaRPr>
          </a:p>
        </p:txBody>
      </p:sp>
      <p:sp>
        <p:nvSpPr>
          <p:cNvPr id="12" name="Shape 10"/>
          <p:cNvSpPr/>
          <p:nvPr/>
        </p:nvSpPr>
        <p:spPr>
          <a:xfrm>
            <a:off x="7900590" y="1679327"/>
            <a:ext cx="3431084" cy="1505124"/>
          </a:xfrm>
          <a:prstGeom prst="roundRect">
            <a:avLst>
              <a:gd name="adj" fmla="val 6539"/>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3" name="Text 11"/>
          <p:cNvSpPr/>
          <p:nvPr/>
        </p:nvSpPr>
        <p:spPr>
          <a:xfrm>
            <a:off x="8127380" y="1836415"/>
            <a:ext cx="3158091" cy="388541"/>
          </a:xfrm>
          <a:prstGeom prst="rect">
            <a:avLst/>
          </a:prstGeom>
          <a:noFill/>
          <a:ln/>
        </p:spPr>
        <p:txBody>
          <a:bodyPr wrap="square" lIns="0" tIns="0" rIns="0" bIns="0" rtlCol="0" anchor="t">
            <a:normAutofit/>
          </a:bodyPr>
          <a:lstStyle/>
          <a:p>
            <a:pPr marL="0" indent="0" algn="l">
              <a:lnSpc>
                <a:spcPts val="2860"/>
              </a:lnSpc>
              <a:buNone/>
            </a:pPr>
            <a:r>
              <a:rPr lang="en-US" sz="2600" b="1">
                <a:solidFill>
                  <a:srgbClr val="2558C0"/>
                </a:solidFill>
                <a:latin typeface="Verdana Pro" panose="020F0502020204030204" pitchFamily="34" charset="0"/>
                <a:ea typeface="Space Grotesk" pitchFamily="34" charset="-122"/>
                <a:cs typeface="Space Grotesk" pitchFamily="34" charset="-120"/>
              </a:rPr>
              <a:t>26</a:t>
            </a:r>
            <a:endParaRPr lang="en-US" sz="2600">
              <a:latin typeface="Verdana" panose="020B0604030504040204" pitchFamily="34" charset="0"/>
            </a:endParaRPr>
          </a:p>
        </p:txBody>
      </p:sp>
      <p:sp>
        <p:nvSpPr>
          <p:cNvPr id="14" name="Text 12"/>
          <p:cNvSpPr/>
          <p:nvPr/>
        </p:nvSpPr>
        <p:spPr>
          <a:xfrm>
            <a:off x="8127380" y="2250281"/>
            <a:ext cx="3158091" cy="274315"/>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Geometry and bonds</a:t>
            </a:r>
            <a:endParaRPr lang="en-US" sz="1400">
              <a:latin typeface="Verdana" panose="020B0604030504040204" pitchFamily="34" charset="0"/>
            </a:endParaRPr>
          </a:p>
        </p:txBody>
      </p:sp>
      <p:sp>
        <p:nvSpPr>
          <p:cNvPr id="15" name="Text 13"/>
          <p:cNvSpPr/>
          <p:nvPr/>
        </p:nvSpPr>
        <p:spPr>
          <a:xfrm>
            <a:off x="8127380" y="2549922"/>
            <a:ext cx="3158091"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Bond lengths and orders, rings, moments of inertia</a:t>
            </a:r>
            <a:endParaRPr lang="en-US" sz="1200">
              <a:latin typeface="Verdana" panose="020B0604030504040204" pitchFamily="34" charset="0"/>
            </a:endParaRPr>
          </a:p>
        </p:txBody>
      </p:sp>
      <p:sp>
        <p:nvSpPr>
          <p:cNvPr id="16" name="Shape 14"/>
          <p:cNvSpPr/>
          <p:nvPr/>
        </p:nvSpPr>
        <p:spPr>
          <a:xfrm>
            <a:off x="858743" y="3447951"/>
            <a:ext cx="3431084" cy="1505124"/>
          </a:xfrm>
          <a:prstGeom prst="roundRect">
            <a:avLst>
              <a:gd name="adj" fmla="val 6539"/>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7" name="Text 15"/>
          <p:cNvSpPr/>
          <p:nvPr/>
        </p:nvSpPr>
        <p:spPr>
          <a:xfrm>
            <a:off x="998387" y="3611488"/>
            <a:ext cx="3158091" cy="388541"/>
          </a:xfrm>
          <a:prstGeom prst="rect">
            <a:avLst/>
          </a:prstGeom>
          <a:noFill/>
          <a:ln/>
        </p:spPr>
        <p:txBody>
          <a:bodyPr wrap="square" lIns="0" tIns="0" rIns="0" bIns="0" rtlCol="0" anchor="t">
            <a:normAutofit/>
          </a:bodyPr>
          <a:lstStyle/>
          <a:p>
            <a:pPr marL="0" indent="0" algn="l">
              <a:lnSpc>
                <a:spcPts val="2860"/>
              </a:lnSpc>
              <a:buNone/>
            </a:pPr>
            <a:r>
              <a:rPr lang="en-US" sz="2600" b="1">
                <a:solidFill>
                  <a:srgbClr val="2558C0"/>
                </a:solidFill>
                <a:latin typeface="Verdana Pro" panose="020F0502020204030204" pitchFamily="34" charset="0"/>
                <a:ea typeface="Space Grotesk" pitchFamily="34" charset="-122"/>
                <a:cs typeface="Space Grotesk" pitchFamily="34" charset="-120"/>
              </a:rPr>
              <a:t>19</a:t>
            </a:r>
            <a:endParaRPr lang="en-US" sz="2600">
              <a:latin typeface="Verdana" panose="020B0604030504040204" pitchFamily="34" charset="0"/>
            </a:endParaRPr>
          </a:p>
        </p:txBody>
      </p:sp>
      <p:sp>
        <p:nvSpPr>
          <p:cNvPr id="18" name="Text 16"/>
          <p:cNvSpPr/>
          <p:nvPr/>
        </p:nvSpPr>
        <p:spPr>
          <a:xfrm>
            <a:off x="998387" y="4025354"/>
            <a:ext cx="3158091" cy="274315"/>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Functional groups</a:t>
            </a:r>
            <a:endParaRPr lang="en-US" sz="1400">
              <a:latin typeface="Verdana" panose="020B0604030504040204" pitchFamily="34" charset="0"/>
            </a:endParaRPr>
          </a:p>
        </p:txBody>
      </p:sp>
      <p:sp>
        <p:nvSpPr>
          <p:cNvPr id="19" name="Text 17"/>
          <p:cNvSpPr/>
          <p:nvPr/>
        </p:nvSpPr>
        <p:spPr>
          <a:xfrm>
            <a:off x="998387" y="4324995"/>
            <a:ext cx="3211661" cy="398486"/>
          </a:xfrm>
          <a:prstGeom prst="rect">
            <a:avLst/>
          </a:prstGeom>
          <a:noFill/>
          <a:ln/>
        </p:spPr>
        <p:txBody>
          <a:bodyPr wrap="square" lIns="0" tIns="0" rIns="0" bIns="0" rtlCol="0" anchor="t">
            <a:no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Including the charged groups of zwitterions</a:t>
            </a:r>
            <a:endParaRPr lang="en-US" sz="1200">
              <a:latin typeface="Verdana" panose="020B0604030504040204" pitchFamily="34" charset="0"/>
            </a:endParaRPr>
          </a:p>
        </p:txBody>
      </p:sp>
      <p:sp>
        <p:nvSpPr>
          <p:cNvPr id="20" name="Shape 18"/>
          <p:cNvSpPr/>
          <p:nvPr/>
        </p:nvSpPr>
        <p:spPr>
          <a:xfrm>
            <a:off x="4380332" y="3429000"/>
            <a:ext cx="3431208" cy="1505124"/>
          </a:xfrm>
          <a:prstGeom prst="roundRect">
            <a:avLst>
              <a:gd name="adj" fmla="val 6539"/>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21" name="Text 19"/>
          <p:cNvSpPr/>
          <p:nvPr/>
        </p:nvSpPr>
        <p:spPr>
          <a:xfrm>
            <a:off x="4562820" y="3611488"/>
            <a:ext cx="3158218" cy="388541"/>
          </a:xfrm>
          <a:prstGeom prst="rect">
            <a:avLst/>
          </a:prstGeom>
          <a:noFill/>
          <a:ln/>
        </p:spPr>
        <p:txBody>
          <a:bodyPr wrap="square" lIns="0" tIns="0" rIns="0" bIns="0" rtlCol="0" anchor="t">
            <a:normAutofit/>
          </a:bodyPr>
          <a:lstStyle/>
          <a:p>
            <a:pPr marL="0" indent="0" algn="l">
              <a:lnSpc>
                <a:spcPts val="2860"/>
              </a:lnSpc>
              <a:buNone/>
            </a:pPr>
            <a:r>
              <a:rPr lang="en-US" sz="2600" b="1">
                <a:solidFill>
                  <a:srgbClr val="2558C0"/>
                </a:solidFill>
                <a:latin typeface="Verdana Pro" panose="020F0502020204030204" pitchFamily="34" charset="0"/>
                <a:ea typeface="Space Grotesk" pitchFamily="34" charset="-122"/>
                <a:cs typeface="Space Grotesk" pitchFamily="34" charset="-120"/>
              </a:rPr>
              <a:t>3</a:t>
            </a:r>
            <a:endParaRPr lang="en-US" sz="2600">
              <a:latin typeface="Verdana" panose="020B0604030504040204" pitchFamily="34" charset="0"/>
            </a:endParaRPr>
          </a:p>
        </p:txBody>
      </p:sp>
      <p:sp>
        <p:nvSpPr>
          <p:cNvPr id="22" name="Text 20"/>
          <p:cNvSpPr/>
          <p:nvPr/>
        </p:nvSpPr>
        <p:spPr>
          <a:xfrm>
            <a:off x="4562820" y="4025354"/>
            <a:ext cx="3158218" cy="274315"/>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QEq dipole</a:t>
            </a:r>
            <a:endParaRPr lang="en-US" sz="1400">
              <a:latin typeface="Verdana" panose="020B0604030504040204" pitchFamily="34" charset="0"/>
            </a:endParaRPr>
          </a:p>
        </p:txBody>
      </p:sp>
      <p:sp>
        <p:nvSpPr>
          <p:cNvPr id="23" name="Text 21"/>
          <p:cNvSpPr/>
          <p:nvPr/>
        </p:nvSpPr>
        <p:spPr>
          <a:xfrm>
            <a:off x="4562820" y="4324995"/>
            <a:ext cx="3158218"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Charge-equilibration estimate: the best single feature</a:t>
            </a:r>
            <a:endParaRPr lang="en-US" sz="1200">
              <a:latin typeface="Verdana" panose="020B0604030504040204" pitchFamily="34" charset="0"/>
            </a:endParaRPr>
          </a:p>
        </p:txBody>
      </p:sp>
      <p:sp>
        <p:nvSpPr>
          <p:cNvPr id="24" name="Shape 22"/>
          <p:cNvSpPr/>
          <p:nvPr/>
        </p:nvSpPr>
        <p:spPr>
          <a:xfrm>
            <a:off x="7900588" y="3417640"/>
            <a:ext cx="3431084" cy="1505124"/>
          </a:xfrm>
          <a:prstGeom prst="roundRect">
            <a:avLst>
              <a:gd name="adj" fmla="val 6539"/>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25" name="Text 23"/>
          <p:cNvSpPr/>
          <p:nvPr/>
        </p:nvSpPr>
        <p:spPr>
          <a:xfrm>
            <a:off x="8127378" y="3611488"/>
            <a:ext cx="3158091" cy="388541"/>
          </a:xfrm>
          <a:prstGeom prst="rect">
            <a:avLst/>
          </a:prstGeom>
          <a:noFill/>
          <a:ln/>
        </p:spPr>
        <p:txBody>
          <a:bodyPr wrap="square" lIns="0" tIns="0" rIns="0" bIns="0" rtlCol="0" anchor="t">
            <a:normAutofit/>
          </a:bodyPr>
          <a:lstStyle/>
          <a:p>
            <a:pPr marL="0" indent="0" algn="l">
              <a:lnSpc>
                <a:spcPts val="2860"/>
              </a:lnSpc>
              <a:buNone/>
            </a:pPr>
            <a:r>
              <a:rPr lang="en-US" sz="2600" b="1">
                <a:solidFill>
                  <a:srgbClr val="2558C0"/>
                </a:solidFill>
                <a:latin typeface="Verdana Pro" panose="020F0502020204030204" pitchFamily="34" charset="0"/>
                <a:ea typeface="Space Grotesk" pitchFamily="34" charset="-122"/>
                <a:cs typeface="Space Grotesk" pitchFamily="34" charset="-120"/>
              </a:rPr>
              <a:t>106</a:t>
            </a:r>
            <a:endParaRPr lang="en-US" sz="2600">
              <a:latin typeface="Verdana" panose="020B0604030504040204" pitchFamily="34" charset="0"/>
            </a:endParaRPr>
          </a:p>
        </p:txBody>
      </p:sp>
      <p:sp>
        <p:nvSpPr>
          <p:cNvPr id="26" name="Text 24"/>
          <p:cNvSpPr/>
          <p:nvPr/>
        </p:nvSpPr>
        <p:spPr>
          <a:xfrm>
            <a:off x="8127378" y="4025354"/>
            <a:ext cx="3158091" cy="274315"/>
          </a:xfrm>
          <a:prstGeom prst="rect">
            <a:avLst/>
          </a:prstGeom>
          <a:noFill/>
          <a:ln/>
        </p:spPr>
        <p:txBody>
          <a:bodyPr wrap="square" lIns="0" tIns="0" rIns="0" bIns="0" rtlCol="0" anchor="t">
            <a:normAutofit/>
          </a:bodyPr>
          <a:lstStyle/>
          <a:p>
            <a:pPr marL="0" indent="0" algn="l">
              <a:lnSpc>
                <a:spcPts val="196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Radial distributions</a:t>
            </a:r>
            <a:endParaRPr lang="en-US" sz="1400">
              <a:latin typeface="Verdana" panose="020B0604030504040204" pitchFamily="34" charset="0"/>
            </a:endParaRPr>
          </a:p>
        </p:txBody>
      </p:sp>
      <p:sp>
        <p:nvSpPr>
          <p:cNvPr id="27" name="Text 25"/>
          <p:cNvSpPr/>
          <p:nvPr/>
        </p:nvSpPr>
        <p:spPr>
          <a:xfrm>
            <a:off x="8127378" y="4324995"/>
            <a:ext cx="3158091" cy="238720"/>
          </a:xfrm>
          <a:prstGeom prst="rect">
            <a:avLst/>
          </a:prstGeom>
          <a:noFill/>
          <a:ln/>
        </p:spPr>
        <p:txBody>
          <a:bodyPr wrap="square" lIns="0" tIns="0" rIns="0" bIns="0" rtlCol="0" anchor="t">
            <a:no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Pair-distance histograms per element pair</a:t>
            </a:r>
            <a:endParaRPr lang="en-US" sz="1200">
              <a:latin typeface="Verdana" panose="020B0604030504040204" pitchFamily="34" charset="0"/>
            </a:endParaRPr>
          </a:p>
        </p:txBody>
      </p:sp>
      <p:sp>
        <p:nvSpPr>
          <p:cNvPr id="28" name="Shape 26"/>
          <p:cNvSpPr/>
          <p:nvPr/>
        </p:nvSpPr>
        <p:spPr>
          <a:xfrm>
            <a:off x="812724" y="5165873"/>
            <a:ext cx="10566549" cy="1368277"/>
          </a:xfrm>
          <a:prstGeom prst="roundRect">
            <a:avLst>
              <a:gd name="adj" fmla="val 13251"/>
            </a:avLst>
          </a:prstGeom>
          <a:solidFill>
            <a:srgbClr val="E6EDFA"/>
          </a:solidFill>
          <a:ln/>
        </p:spPr>
        <p:txBody>
          <a:bodyPr/>
          <a:lstStyle/>
          <a:p>
            <a:endParaRPr lang="en-CA">
              <a:latin typeface="Verdana" panose="020B0604030504040204" pitchFamily="34" charset="0"/>
            </a:endParaRPr>
          </a:p>
        </p:txBody>
      </p:sp>
      <p:pic>
        <p:nvPicPr>
          <p:cNvPr id="29" name="Image 0" descr="CheckCircle"/>
          <p:cNvPicPr>
            <a:picLocks noChangeAspect="1"/>
          </p:cNvPicPr>
          <p:nvPr/>
        </p:nvPicPr>
        <p:blipFill>
          <a:blip r:embed="rId3"/>
          <a:srcRect t="-207" b="-207"/>
          <a:stretch/>
        </p:blipFill>
        <p:spPr>
          <a:xfrm>
            <a:off x="1015874" y="5396805"/>
            <a:ext cx="265534" cy="304726"/>
          </a:xfrm>
          <a:prstGeom prst="rect">
            <a:avLst/>
          </a:prstGeom>
        </p:spPr>
      </p:pic>
      <p:sp>
        <p:nvSpPr>
          <p:cNvPr id="30" name="Text 27"/>
          <p:cNvSpPr/>
          <p:nvPr/>
        </p:nvSpPr>
        <p:spPr>
          <a:xfrm>
            <a:off x="1408408" y="5318174"/>
            <a:ext cx="10060745" cy="487511"/>
          </a:xfrm>
          <a:prstGeom prst="rect">
            <a:avLst/>
          </a:prstGeom>
          <a:noFill/>
          <a:ln/>
        </p:spPr>
        <p:txBody>
          <a:bodyPr wrap="square" lIns="0" tIns="0" rIns="0" bIns="0" rtlCol="0" anchor="t">
            <a:normAutofit/>
          </a:bodyPr>
          <a:lstStyle/>
          <a:p>
            <a:pPr marL="0" indent="0" algn="l">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Invariant to rotation, translation and atom relabeling: features change by at most 1e-12, while a raw-coordinate negative control changes by ångströms.</a:t>
            </a:r>
            <a:endParaRPr lang="en-US" sz="1300">
              <a:latin typeface="Verdana" panose="020B0604030504040204" pitchFamily="34" charset="0"/>
            </a:endParaRPr>
          </a:p>
        </p:txBody>
      </p:sp>
      <p:pic>
        <p:nvPicPr>
          <p:cNvPr id="34" name="Image 0" descr="CheckCircle">
            <a:extLst>
              <a:ext uri="{FF2B5EF4-FFF2-40B4-BE49-F238E27FC236}">
                <a16:creationId xmlns:a16="http://schemas.microsoft.com/office/drawing/2014/main" id="{C931BA42-B37F-5341-C9B6-7E70012C81F8}"/>
              </a:ext>
            </a:extLst>
          </p:cNvPr>
          <p:cNvPicPr>
            <a:picLocks noChangeAspect="1"/>
          </p:cNvPicPr>
          <p:nvPr/>
        </p:nvPicPr>
        <p:blipFill>
          <a:blip r:embed="rId3"/>
          <a:srcRect t="-207" b="-207"/>
          <a:stretch/>
        </p:blipFill>
        <p:spPr>
          <a:xfrm>
            <a:off x="1015874" y="5914329"/>
            <a:ext cx="265534" cy="304726"/>
          </a:xfrm>
          <a:prstGeom prst="rect">
            <a:avLst/>
          </a:prstGeom>
        </p:spPr>
      </p:pic>
      <p:sp>
        <p:nvSpPr>
          <p:cNvPr id="36" name="Text 27">
            <a:extLst>
              <a:ext uri="{FF2B5EF4-FFF2-40B4-BE49-F238E27FC236}">
                <a16:creationId xmlns:a16="http://schemas.microsoft.com/office/drawing/2014/main" id="{FA2CDC54-297F-085C-212A-BD1B41A5659B}"/>
              </a:ext>
            </a:extLst>
          </p:cNvPr>
          <p:cNvSpPr/>
          <p:nvPr/>
        </p:nvSpPr>
        <p:spPr>
          <a:xfrm>
            <a:off x="1408408" y="5811168"/>
            <a:ext cx="10060745" cy="487511"/>
          </a:xfrm>
          <a:prstGeom prst="rect">
            <a:avLst/>
          </a:prstGeom>
          <a:noFill/>
          <a:ln/>
        </p:spPr>
        <p:txBody>
          <a:bodyPr wrap="square" lIns="0" tIns="0" rIns="0" bIns="0" rtlCol="0" anchor="t">
            <a:normAutofit/>
          </a:bodyPr>
          <a:lstStyle/>
          <a:p>
            <a:pPr marL="0" indent="0" algn="l">
              <a:lnSpc>
                <a:spcPts val="1820"/>
              </a:lnSpc>
              <a:buNone/>
            </a:pPr>
            <a:endParaRPr lang="en-US" sz="1300">
              <a:latin typeface="Verdana" panose="020B0604030504040204" pitchFamily="34" charset="0"/>
            </a:endParaRPr>
          </a:p>
        </p:txBody>
      </p:sp>
      <p:sp>
        <p:nvSpPr>
          <p:cNvPr id="39" name="Text 27">
            <a:extLst>
              <a:ext uri="{FF2B5EF4-FFF2-40B4-BE49-F238E27FC236}">
                <a16:creationId xmlns:a16="http://schemas.microsoft.com/office/drawing/2014/main" id="{0B2CDEDF-2F5E-7BD2-8F06-81D24C350D9D}"/>
              </a:ext>
            </a:extLst>
          </p:cNvPr>
          <p:cNvSpPr/>
          <p:nvPr/>
        </p:nvSpPr>
        <p:spPr>
          <a:xfrm>
            <a:off x="1408407" y="5851798"/>
            <a:ext cx="10060745" cy="487511"/>
          </a:xfrm>
          <a:prstGeom prst="rect">
            <a:avLst/>
          </a:prstGeom>
          <a:noFill/>
          <a:ln/>
        </p:spPr>
        <p:txBody>
          <a:bodyPr wrap="square" lIns="0" tIns="0" rIns="0" bIns="0" rtlCol="0" anchor="t">
            <a:normAutofit/>
          </a:bodyPr>
          <a:lstStyle/>
          <a:p>
            <a:pPr marL="0" indent="0" algn="l">
              <a:lnSpc>
                <a:spcPts val="1820"/>
              </a:lnSpc>
              <a:buNone/>
            </a:pPr>
            <a:r>
              <a:rPr lang="en-US" sz="1300">
                <a:solidFill>
                  <a:srgbClr val="1B2433"/>
                </a:solidFill>
                <a:latin typeface="Verdana" panose="020B0604030504040204" pitchFamily="34" charset="0"/>
                <a:ea typeface="Verdana" panose="020B0604030504040204" pitchFamily="34" charset="0"/>
              </a:rPr>
              <a:t>From 323 total legal features, 135 were removed for low/zero variance, high spearman correlation magnitude, or redundancy.</a:t>
            </a:r>
            <a:endParaRPr lang="en-US" sz="1300">
              <a:latin typeface="Verdan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246888"/>
            <a:ext cx="10972800" cy="184666"/>
          </a:xfrm>
          <a:prstGeom prst="rect">
            <a:avLst/>
          </a:prstGeom>
          <a:noFill/>
        </p:spPr>
        <p:txBody>
          <a:bodyPr wrap="square" lIns="0" tIns="0" rIns="0" bIns="0" anchor="t">
            <a:spAutoFit/>
          </a:bodyPr>
          <a:lstStyle/>
          <a:p>
            <a:pPr algn="l">
              <a:lnSpc>
                <a:spcPct val="100000"/>
              </a:lnSpc>
              <a:spcBef>
                <a:spcPts val="0"/>
              </a:spcBef>
              <a:spcAft>
                <a:spcPts val="0"/>
              </a:spcAft>
            </a:pPr>
            <a:r>
              <a:rPr lang="en-CA" sz="1200" b="1" i="0">
                <a:solidFill>
                  <a:srgbClr val="2558C0"/>
                </a:solidFill>
                <a:latin typeface="Verdana"/>
              </a:rPr>
              <a:t>STANDARDIZATION</a:t>
            </a:r>
            <a:endParaRPr sz="1200" b="1" i="0">
              <a:solidFill>
                <a:srgbClr val="2558C0"/>
              </a:solidFill>
              <a:latin typeface="Verdana"/>
            </a:endParaRPr>
          </a:p>
        </p:txBody>
      </p:sp>
      <p:sp>
        <p:nvSpPr>
          <p:cNvPr id="3" name="TextBox 2"/>
          <p:cNvSpPr txBox="1"/>
          <p:nvPr/>
        </p:nvSpPr>
        <p:spPr>
          <a:xfrm>
            <a:off x="630936" y="593800"/>
            <a:ext cx="10881360" cy="430887"/>
          </a:xfrm>
          <a:prstGeom prst="rect">
            <a:avLst/>
          </a:prstGeom>
          <a:noFill/>
        </p:spPr>
        <p:txBody>
          <a:bodyPr wrap="square" lIns="0" tIns="0" rIns="0" bIns="0" anchor="t">
            <a:spAutoFit/>
          </a:bodyPr>
          <a:lstStyle/>
          <a:p>
            <a:pPr algn="l">
              <a:lnSpc>
                <a:spcPct val="100000"/>
              </a:lnSpc>
              <a:spcBef>
                <a:spcPts val="0"/>
              </a:spcBef>
              <a:spcAft>
                <a:spcPts val="0"/>
              </a:spcAft>
            </a:pPr>
            <a:r>
              <a:rPr lang="en-CA" sz="2800" b="1" i="0">
                <a:solidFill>
                  <a:srgbClr val="0F1B2D"/>
                </a:solidFill>
                <a:latin typeface="Verdana Pro"/>
              </a:rPr>
              <a:t>Feature scaling</a:t>
            </a:r>
            <a:endParaRPr sz="2800" b="1" i="0">
              <a:solidFill>
                <a:srgbClr val="0F1B2D"/>
              </a:solidFill>
              <a:latin typeface="Verdana Pro"/>
            </a:endParaRPr>
          </a:p>
        </p:txBody>
      </p:sp>
      <p:sp>
        <p:nvSpPr>
          <p:cNvPr id="44" name="Rounded Rectangle 43"/>
          <p:cNvSpPr/>
          <p:nvPr/>
        </p:nvSpPr>
        <p:spPr>
          <a:xfrm>
            <a:off x="585217" y="4002851"/>
            <a:ext cx="2935800" cy="2537201"/>
          </a:xfrm>
          <a:prstGeom prst="roundRect">
            <a:avLst/>
          </a:prstGeom>
          <a:solidFill>
            <a:srgbClr val="E6EDFB"/>
          </a:solidFill>
          <a:ln w="10160">
            <a:solidFill>
              <a:srgbClr val="C7D7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4672" y="4140012"/>
            <a:ext cx="2678274" cy="146194"/>
          </a:xfrm>
          <a:prstGeom prst="rect">
            <a:avLst/>
          </a:prstGeom>
          <a:noFill/>
        </p:spPr>
        <p:txBody>
          <a:bodyPr wrap="square" lIns="0" tIns="0" rIns="0" bIns="0" anchor="t">
            <a:spAutoFit/>
          </a:bodyPr>
          <a:lstStyle/>
          <a:p>
            <a:pPr algn="l">
              <a:lnSpc>
                <a:spcPct val="100000"/>
              </a:lnSpc>
              <a:spcBef>
                <a:spcPts val="0"/>
              </a:spcBef>
              <a:spcAft>
                <a:spcPts val="0"/>
              </a:spcAft>
            </a:pPr>
            <a:r>
              <a:rPr sz="950" b="1" i="0">
                <a:solidFill>
                  <a:srgbClr val="1D4699"/>
                </a:solidFill>
                <a:latin typeface="Verdana"/>
              </a:rPr>
              <a:t>TRACK B </a:t>
            </a:r>
            <a:r>
              <a:rPr lang="en-CA" sz="950" b="1" i="0">
                <a:solidFill>
                  <a:srgbClr val="1D4699"/>
                </a:solidFill>
                <a:latin typeface="Verdana"/>
              </a:rPr>
              <a:t>-</a:t>
            </a:r>
            <a:r>
              <a:rPr sz="950" b="1" i="0">
                <a:solidFill>
                  <a:srgbClr val="1D4699"/>
                </a:solidFill>
                <a:latin typeface="Verdana"/>
              </a:rPr>
              <a:t> QUANTUM </a:t>
            </a:r>
            <a:r>
              <a:rPr lang="en-CA" sz="950" b="1">
                <a:solidFill>
                  <a:srgbClr val="1D4699"/>
                </a:solidFill>
                <a:latin typeface="Verdana"/>
              </a:rPr>
              <a:t>COMPARABLE</a:t>
            </a:r>
            <a:endParaRPr sz="950" b="1" i="0">
              <a:solidFill>
                <a:srgbClr val="1D4699"/>
              </a:solidFill>
              <a:latin typeface="Verdana"/>
            </a:endParaRPr>
          </a:p>
        </p:txBody>
      </p:sp>
      <p:sp>
        <p:nvSpPr>
          <p:cNvPr id="46" name="TextBox 45"/>
          <p:cNvSpPr txBox="1"/>
          <p:nvPr/>
        </p:nvSpPr>
        <p:spPr>
          <a:xfrm>
            <a:off x="804671" y="4386899"/>
            <a:ext cx="2626769" cy="26161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1B2D"/>
                </a:solidFill>
                <a:latin typeface="Verdana Pro"/>
              </a:rPr>
              <a:t>Yeo–Johnson + √|μ|</a:t>
            </a:r>
          </a:p>
        </p:txBody>
      </p:sp>
      <p:sp>
        <p:nvSpPr>
          <p:cNvPr id="47" name="TextBox 46"/>
          <p:cNvSpPr txBox="1"/>
          <p:nvPr/>
        </p:nvSpPr>
        <p:spPr>
          <a:xfrm>
            <a:off x="733305" y="4917508"/>
            <a:ext cx="2626769" cy="707886"/>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4A5568"/>
                </a:solidFill>
                <a:latin typeface="Verdana"/>
              </a:rPr>
              <a:t>Yeo</a:t>
            </a:r>
            <a:r>
              <a:rPr lang="en-CA" sz="1150" b="0" i="0">
                <a:solidFill>
                  <a:srgbClr val="4A5568"/>
                </a:solidFill>
                <a:latin typeface="Verdana"/>
              </a:rPr>
              <a:t>-</a:t>
            </a:r>
            <a:r>
              <a:rPr sz="1150" b="0" i="0">
                <a:solidFill>
                  <a:srgbClr val="4A5568"/>
                </a:solidFill>
                <a:latin typeface="Verdana"/>
              </a:rPr>
              <a:t>Johnson won </a:t>
            </a:r>
            <a:r>
              <a:rPr lang="en-CA" sz="1150">
                <a:solidFill>
                  <a:srgbClr val="4A5568"/>
                </a:solidFill>
                <a:latin typeface="Verdana"/>
              </a:rPr>
              <a:t>58</a:t>
            </a:r>
            <a:r>
              <a:rPr sz="1150" b="0" i="0">
                <a:solidFill>
                  <a:srgbClr val="4A5568"/>
                </a:solidFill>
                <a:latin typeface="Verdana"/>
              </a:rPr>
              <a:t>% of paired CV cells (0.577 D mean MAE). √ target: 0.5752 D vs 0.5</a:t>
            </a:r>
            <a:r>
              <a:rPr lang="en-CA" sz="1150" b="0" i="0">
                <a:solidFill>
                  <a:srgbClr val="4A5568"/>
                </a:solidFill>
                <a:latin typeface="Verdana"/>
              </a:rPr>
              <a:t>863</a:t>
            </a:r>
            <a:r>
              <a:rPr sz="1150" b="0" i="0">
                <a:solidFill>
                  <a:srgbClr val="4A5568"/>
                </a:solidFill>
                <a:latin typeface="Verdana"/>
              </a:rPr>
              <a:t> D for standard.</a:t>
            </a:r>
          </a:p>
        </p:txBody>
      </p:sp>
      <p:sp>
        <p:nvSpPr>
          <p:cNvPr id="48" name="Rounded Rectangle 47"/>
          <p:cNvSpPr/>
          <p:nvPr/>
        </p:nvSpPr>
        <p:spPr>
          <a:xfrm>
            <a:off x="585216" y="1319087"/>
            <a:ext cx="2935800" cy="2518953"/>
          </a:xfrm>
          <a:prstGeom prst="roundRect">
            <a:avLst/>
          </a:prstGeom>
          <a:solidFill>
            <a:schemeClr val="accent6">
              <a:lumMod val="40000"/>
              <a:lumOff val="60000"/>
            </a:schemeClr>
          </a:solidFill>
          <a:ln w="10160">
            <a:solidFill>
              <a:srgbClr val="E2D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3816" y="1456247"/>
            <a:ext cx="2675995" cy="146194"/>
          </a:xfrm>
          <a:prstGeom prst="rect">
            <a:avLst/>
          </a:prstGeom>
          <a:noFill/>
        </p:spPr>
        <p:txBody>
          <a:bodyPr wrap="square" lIns="0" tIns="0" rIns="0" bIns="0" anchor="t">
            <a:spAutoFit/>
          </a:bodyPr>
          <a:lstStyle/>
          <a:p>
            <a:pPr algn="l">
              <a:lnSpc>
                <a:spcPct val="100000"/>
              </a:lnSpc>
              <a:spcBef>
                <a:spcPts val="0"/>
              </a:spcBef>
              <a:spcAft>
                <a:spcPts val="0"/>
              </a:spcAft>
            </a:pPr>
            <a:r>
              <a:rPr sz="950" b="1" i="0">
                <a:solidFill>
                  <a:srgbClr val="A3401A"/>
                </a:solidFill>
                <a:latin typeface="Verdana"/>
              </a:rPr>
              <a:t>TRACK A</a:t>
            </a:r>
            <a:r>
              <a:rPr lang="en-CA" sz="950" b="1" i="0">
                <a:solidFill>
                  <a:srgbClr val="A3401A"/>
                </a:solidFill>
                <a:latin typeface="Verdana"/>
              </a:rPr>
              <a:t> - </a:t>
            </a:r>
            <a:r>
              <a:rPr sz="950" b="1" i="0">
                <a:solidFill>
                  <a:srgbClr val="A3401A"/>
                </a:solidFill>
                <a:latin typeface="Verdana"/>
              </a:rPr>
              <a:t>LARGE-DATA CLASSICAL </a:t>
            </a:r>
          </a:p>
        </p:txBody>
      </p:sp>
      <p:sp>
        <p:nvSpPr>
          <p:cNvPr id="50" name="TextBox 49"/>
          <p:cNvSpPr txBox="1"/>
          <p:nvPr/>
        </p:nvSpPr>
        <p:spPr>
          <a:xfrm>
            <a:off x="804671" y="1716109"/>
            <a:ext cx="2660406" cy="504497"/>
          </a:xfrm>
          <a:prstGeom prst="rect">
            <a:avLst/>
          </a:prstGeom>
          <a:noFill/>
        </p:spPr>
        <p:txBody>
          <a:bodyPr wrap="square" lIns="0" tIns="0" rIns="0" bIns="0" anchor="t">
            <a:spAutoFit/>
          </a:bodyPr>
          <a:lstStyle/>
          <a:p>
            <a:pPr algn="l">
              <a:lnSpc>
                <a:spcPct val="100000"/>
              </a:lnSpc>
              <a:spcBef>
                <a:spcPts val="0"/>
              </a:spcBef>
              <a:spcAft>
                <a:spcPts val="0"/>
              </a:spcAft>
            </a:pPr>
            <a:r>
              <a:rPr sz="1639" b="1" i="0">
                <a:solidFill>
                  <a:srgbClr val="0F1B2D"/>
                </a:solidFill>
                <a:latin typeface="Verdana Pro"/>
              </a:rPr>
              <a:t>Log-standard + standardized |μ|</a:t>
            </a:r>
          </a:p>
        </p:txBody>
      </p:sp>
      <p:sp>
        <p:nvSpPr>
          <p:cNvPr id="51" name="TextBox 50"/>
          <p:cNvSpPr txBox="1"/>
          <p:nvPr/>
        </p:nvSpPr>
        <p:spPr>
          <a:xfrm>
            <a:off x="733305" y="2483694"/>
            <a:ext cx="2639622" cy="707886"/>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4A5568"/>
                </a:solidFill>
                <a:latin typeface="Verdana"/>
              </a:rPr>
              <a:t>Best dev MAE in 6/6 cells: 0.445 D vs 0.452 D with z-scores. Standard target: 0.4208 D vs 0.4226 D for √ target.</a:t>
            </a:r>
          </a:p>
        </p:txBody>
      </p:sp>
      <p:pic>
        <p:nvPicPr>
          <p:cNvPr id="54" name="Picture 53">
            <a:extLst>
              <a:ext uri="{FF2B5EF4-FFF2-40B4-BE49-F238E27FC236}">
                <a16:creationId xmlns:a16="http://schemas.microsoft.com/office/drawing/2014/main" id="{C4586C42-FB1F-39B6-6C3A-27AA1F89CA36}"/>
              </a:ext>
            </a:extLst>
          </p:cNvPr>
          <p:cNvPicPr>
            <a:picLocks noChangeAspect="1"/>
          </p:cNvPicPr>
          <p:nvPr/>
        </p:nvPicPr>
        <p:blipFill>
          <a:blip r:embed="rId3"/>
          <a:stretch>
            <a:fillRect/>
          </a:stretch>
        </p:blipFill>
        <p:spPr>
          <a:xfrm>
            <a:off x="4561048" y="163482"/>
            <a:ext cx="7000016" cy="3890795"/>
          </a:xfrm>
          <a:prstGeom prst="rect">
            <a:avLst/>
          </a:prstGeom>
        </p:spPr>
      </p:pic>
      <p:sp>
        <p:nvSpPr>
          <p:cNvPr id="60" name="TextBox 59">
            <a:extLst>
              <a:ext uri="{FF2B5EF4-FFF2-40B4-BE49-F238E27FC236}">
                <a16:creationId xmlns:a16="http://schemas.microsoft.com/office/drawing/2014/main" id="{9617992A-01C5-A80D-B2CF-707265416A84}"/>
              </a:ext>
            </a:extLst>
          </p:cNvPr>
          <p:cNvSpPr txBox="1"/>
          <p:nvPr/>
        </p:nvSpPr>
        <p:spPr>
          <a:xfrm>
            <a:off x="4066934" y="5625394"/>
            <a:ext cx="7754406" cy="707886"/>
          </a:xfrm>
          <a:prstGeom prst="rect">
            <a:avLst/>
          </a:prstGeom>
          <a:noFill/>
        </p:spPr>
        <p:txBody>
          <a:bodyPr wrap="square">
            <a:spAutoFit/>
          </a:bodyPr>
          <a:lstStyle/>
          <a:p>
            <a:pPr marL="171450" indent="-171450">
              <a:buFontTx/>
              <a:buChar char="-"/>
            </a:pPr>
            <a:r>
              <a:rPr lang="en-CA" sz="1000"/>
              <a:t>“Cell” refers to a combination of SL/ML Model, Feature set, Training size, Random seed.</a:t>
            </a:r>
          </a:p>
          <a:p>
            <a:pPr marL="171450" indent="-171450">
              <a:buFontTx/>
              <a:buChar char="-"/>
            </a:pPr>
            <a:r>
              <a:rPr lang="en-CA" sz="1000"/>
              <a:t>For both tracks, multiple differing cell configurations were run for each scaling method. The winning scaling method for a cell was the method yielding the lowest cross validation MAE.</a:t>
            </a:r>
          </a:p>
          <a:p>
            <a:pPr marL="171450" indent="-171450">
              <a:buFontTx/>
              <a:buChar char="-"/>
            </a:pPr>
            <a:r>
              <a:rPr lang="en-CA" sz="1000"/>
              <a:t>In this way we experimentally proved that Yeo-Johnson was optimal for these applications. </a:t>
            </a:r>
          </a:p>
        </p:txBody>
      </p:sp>
      <p:pic>
        <p:nvPicPr>
          <p:cNvPr id="62" name="Picture 61">
            <a:extLst>
              <a:ext uri="{FF2B5EF4-FFF2-40B4-BE49-F238E27FC236}">
                <a16:creationId xmlns:a16="http://schemas.microsoft.com/office/drawing/2014/main" id="{1A96B095-4E97-2E88-1FF1-769128022548}"/>
              </a:ext>
            </a:extLst>
          </p:cNvPr>
          <p:cNvPicPr>
            <a:picLocks noChangeAspect="1"/>
          </p:cNvPicPr>
          <p:nvPr/>
        </p:nvPicPr>
        <p:blipFill>
          <a:blip r:embed="rId4"/>
          <a:stretch>
            <a:fillRect/>
          </a:stretch>
        </p:blipFill>
        <p:spPr>
          <a:xfrm>
            <a:off x="7435969" y="4142849"/>
            <a:ext cx="4591563" cy="1254948"/>
          </a:xfrm>
          <a:prstGeom prst="rect">
            <a:avLst/>
          </a:prstGeom>
        </p:spPr>
      </p:pic>
      <p:pic>
        <p:nvPicPr>
          <p:cNvPr id="64" name="Picture 63">
            <a:extLst>
              <a:ext uri="{FF2B5EF4-FFF2-40B4-BE49-F238E27FC236}">
                <a16:creationId xmlns:a16="http://schemas.microsoft.com/office/drawing/2014/main" id="{74662964-E84E-4937-6054-DCD9F0674742}"/>
              </a:ext>
            </a:extLst>
          </p:cNvPr>
          <p:cNvPicPr>
            <a:picLocks noChangeAspect="1"/>
          </p:cNvPicPr>
          <p:nvPr/>
        </p:nvPicPr>
        <p:blipFill>
          <a:blip r:embed="rId5"/>
          <a:stretch>
            <a:fillRect/>
          </a:stretch>
        </p:blipFill>
        <p:spPr>
          <a:xfrm>
            <a:off x="3959934" y="4167707"/>
            <a:ext cx="3315092" cy="12300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79400" y="26164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REPRESENTATION</a:t>
            </a:r>
            <a:endParaRPr lang="en-US" sz="1200">
              <a:latin typeface="Verdana" panose="020B0604030504040204" pitchFamily="34" charset="0"/>
            </a:endParaRPr>
          </a:p>
        </p:txBody>
      </p:sp>
      <p:sp>
        <p:nvSpPr>
          <p:cNvPr id="3" name="Text 1"/>
          <p:cNvSpPr>
            <a:spLocks noGrp="1"/>
          </p:cNvSpPr>
          <p:nvPr>
            <p:ph type="title"/>
          </p:nvPr>
        </p:nvSpPr>
        <p:spPr>
          <a:xfrm>
            <a:off x="327970" y="706067"/>
            <a:ext cx="10883392" cy="472414"/>
          </a:xfrm>
          <a:prstGeom prst="rect">
            <a:avLst/>
          </a:prstGeom>
          <a:noFill/>
          <a:ln/>
        </p:spPr>
        <p:txBody>
          <a:bodyPr wrap="square" lIns="0" tIns="0" rIns="0" bIns="0" rtlCol="0" anchor="t">
            <a:normAutofit/>
          </a:bodyPr>
          <a:lstStyle/>
          <a:p>
            <a:pPr marL="0" indent="0" algn="l">
              <a:lnSpc>
                <a:spcPts val="3520"/>
              </a:lnSpc>
              <a:buNone/>
            </a:pPr>
            <a:r>
              <a:rPr lang="en-US" sz="2400" b="1" i="0">
                <a:solidFill>
                  <a:srgbClr val="0F1B2D"/>
                </a:solidFill>
                <a:latin typeface="Verdana Pro" panose="020B0604030504040204" pitchFamily="34" charset="0"/>
                <a:cs typeface="Space Grotesk" pitchFamily="34" charset="-120"/>
              </a:rPr>
              <a:t>Compressing 188 features into 10 qubit inputs</a:t>
            </a:r>
            <a:endParaRPr lang="en-US" sz="2400"/>
          </a:p>
        </p:txBody>
      </p:sp>
      <p:sp>
        <p:nvSpPr>
          <p:cNvPr id="4" name="Text 2"/>
          <p:cNvSpPr/>
          <p:nvPr/>
        </p:nvSpPr>
        <p:spPr>
          <a:xfrm>
            <a:off x="327970" y="1349954"/>
            <a:ext cx="3520440" cy="556182"/>
          </a:xfrm>
          <a:prstGeom prst="rect">
            <a:avLst/>
          </a:prstGeom>
          <a:noFill/>
          <a:ln/>
        </p:spPr>
        <p:txBody>
          <a:bodyPr wrap="square" lIns="0" tIns="0" rIns="0" bIns="0" rtlCol="0" anchor="t">
            <a:normAutofit fontScale="70000" lnSpcReduction="20000"/>
          </a:bodyPr>
          <a:lstStyle/>
          <a:p>
            <a:pPr marL="0" indent="0" algn="l">
              <a:lnSpc>
                <a:spcPts val="1960"/>
              </a:lnSpc>
              <a:buNone/>
            </a:pPr>
            <a:r>
              <a:rPr lang="en-US" sz="1400">
                <a:solidFill>
                  <a:srgbClr val="4A5568"/>
                </a:solidFill>
                <a:latin typeface="Verdana" panose="020B0604030504040204" pitchFamily="34" charset="0"/>
                <a:ea typeface="Verdana" panose="020B0604030504040204" pitchFamily="34" charset="0"/>
                <a:cs typeface="IBM Plex Sans" pitchFamily="34" charset="-120"/>
              </a:rPr>
              <a:t>One input per qubit, so 188 features had to become 10. We tested three methods with the same model:</a:t>
            </a:r>
            <a:endParaRPr lang="en-US" sz="1400">
              <a:latin typeface="Verdana" panose="020B0604030504040204" pitchFamily="34" charset="0"/>
            </a:endParaRPr>
          </a:p>
        </p:txBody>
      </p:sp>
      <p:sp>
        <p:nvSpPr>
          <p:cNvPr id="5" name="Shape 3"/>
          <p:cNvSpPr/>
          <p:nvPr/>
        </p:nvSpPr>
        <p:spPr>
          <a:xfrm>
            <a:off x="331145" y="1972866"/>
            <a:ext cx="3562985" cy="761537"/>
          </a:xfrm>
          <a:prstGeom prst="roundRect">
            <a:avLst>
              <a:gd name="adj" fmla="val 12925"/>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6" name="Text 4"/>
          <p:cNvSpPr/>
          <p:nvPr/>
        </p:nvSpPr>
        <p:spPr>
          <a:xfrm>
            <a:off x="428723" y="2022022"/>
            <a:ext cx="513927" cy="292100"/>
          </a:xfrm>
          <a:prstGeom prst="rect">
            <a:avLst/>
          </a:prstGeom>
          <a:noFill/>
          <a:ln/>
        </p:spPr>
        <p:txBody>
          <a:bodyPr wrap="square" lIns="0" tIns="0" rIns="0" bIns="0" rtlCol="0" anchor="t">
            <a:normAutofit/>
          </a:bodyPr>
          <a:lstStyle/>
          <a:p>
            <a:pPr marL="0" indent="0" algn="l">
              <a:lnSpc>
                <a:spcPts val="2100"/>
              </a:lnSpc>
              <a:buNone/>
            </a:pPr>
            <a:r>
              <a:rPr lang="en-US" sz="1100" b="1">
                <a:solidFill>
                  <a:srgbClr val="0F1B2D"/>
                </a:solidFill>
                <a:latin typeface="Verdana" panose="020B0604030504040204" pitchFamily="34" charset="0"/>
                <a:ea typeface="Verdana" panose="020B0604030504040204" pitchFamily="34" charset="0"/>
                <a:cs typeface="IBM Plex Sans" pitchFamily="34" charset="-120"/>
              </a:rPr>
              <a:t>PCA</a:t>
            </a:r>
            <a:endParaRPr lang="en-US" sz="1100">
              <a:latin typeface="Verdana" panose="020B0604030504040204" pitchFamily="34" charset="0"/>
            </a:endParaRPr>
          </a:p>
        </p:txBody>
      </p:sp>
      <p:sp>
        <p:nvSpPr>
          <p:cNvPr id="7" name="Text 5"/>
          <p:cNvSpPr/>
          <p:nvPr/>
        </p:nvSpPr>
        <p:spPr>
          <a:xfrm>
            <a:off x="428723" y="2302372"/>
            <a:ext cx="2398163" cy="427333"/>
          </a:xfrm>
          <a:prstGeom prst="rect">
            <a:avLst/>
          </a:prstGeom>
          <a:noFill/>
          <a:ln/>
        </p:spPr>
        <p:txBody>
          <a:bodyPr wrap="square" lIns="0" tIns="0" rIns="0" bIns="0" rtlCol="0" anchor="t">
            <a:noAutofit/>
          </a:bodyPr>
          <a:lstStyle/>
          <a:p>
            <a:pPr marL="0" indent="0" algn="l">
              <a:lnSpc>
                <a:spcPts val="1680"/>
              </a:lnSpc>
              <a:buNone/>
            </a:pPr>
            <a:r>
              <a:rPr lang="en-US" sz="800">
                <a:solidFill>
                  <a:srgbClr val="4A5568"/>
                </a:solidFill>
                <a:latin typeface="Verdana" panose="020B0604030504040204" pitchFamily="34" charset="0"/>
                <a:ea typeface="Verdana" panose="020B0604030504040204" pitchFamily="34" charset="0"/>
                <a:cs typeface="IBM Plex Sans" pitchFamily="34" charset="-120"/>
              </a:rPr>
              <a:t>The 10 directions of largest spread; ignores |μ| entirely</a:t>
            </a:r>
            <a:endParaRPr lang="en-US" sz="800">
              <a:latin typeface="Verdana" panose="020B0604030504040204" pitchFamily="34" charset="0"/>
            </a:endParaRPr>
          </a:p>
        </p:txBody>
      </p:sp>
      <p:sp>
        <p:nvSpPr>
          <p:cNvPr id="9" name="Text 7"/>
          <p:cNvSpPr/>
          <p:nvPr/>
        </p:nvSpPr>
        <p:spPr>
          <a:xfrm>
            <a:off x="2908166" y="2258006"/>
            <a:ext cx="455414" cy="309827"/>
          </a:xfrm>
          <a:prstGeom prst="rect">
            <a:avLst/>
          </a:prstGeom>
          <a:noFill/>
          <a:ln/>
        </p:spPr>
        <p:txBody>
          <a:bodyPr wrap="none" lIns="0" tIns="0" rIns="0" bIns="0" rtlCol="0" anchor="t">
            <a:normAutofit/>
          </a:bodyPr>
          <a:lstStyle/>
          <a:p>
            <a:pPr marL="0" indent="0" algn="l">
              <a:lnSpc>
                <a:spcPts val="2240"/>
              </a:lnSpc>
              <a:buNone/>
            </a:pPr>
            <a:r>
              <a:rPr lang="en-US" sz="1600" b="1">
                <a:solidFill>
                  <a:srgbClr val="1B2433"/>
                </a:solidFill>
                <a:latin typeface="Verdana Pro" panose="020B0604030504040204" pitchFamily="34" charset="0"/>
                <a:ea typeface="Space Grotesk" pitchFamily="34" charset="-122"/>
                <a:cs typeface="Space Grotesk" pitchFamily="34" charset="-120"/>
              </a:rPr>
              <a:t>0.707 D</a:t>
            </a:r>
            <a:endParaRPr lang="en-US" sz="1600">
              <a:latin typeface="Verdana" panose="020B0604030504040204" pitchFamily="34" charset="0"/>
            </a:endParaRPr>
          </a:p>
        </p:txBody>
      </p:sp>
      <p:sp>
        <p:nvSpPr>
          <p:cNvPr id="10" name="Shape 8"/>
          <p:cNvSpPr/>
          <p:nvPr/>
        </p:nvSpPr>
        <p:spPr>
          <a:xfrm>
            <a:off x="331145" y="2842354"/>
            <a:ext cx="3562985" cy="761537"/>
          </a:xfrm>
          <a:prstGeom prst="roundRect">
            <a:avLst>
              <a:gd name="adj" fmla="val 12925"/>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1" name="Text 9"/>
          <p:cNvSpPr/>
          <p:nvPr/>
        </p:nvSpPr>
        <p:spPr>
          <a:xfrm>
            <a:off x="424604" y="2900694"/>
            <a:ext cx="2398163" cy="292100"/>
          </a:xfrm>
          <a:prstGeom prst="rect">
            <a:avLst/>
          </a:prstGeom>
          <a:noFill/>
          <a:ln/>
        </p:spPr>
        <p:txBody>
          <a:bodyPr wrap="square" lIns="0" tIns="0" rIns="0" bIns="0" rtlCol="0" anchor="t">
            <a:normAutofit fontScale="70000" lnSpcReduction="20000"/>
          </a:bodyPr>
          <a:lstStyle/>
          <a:p>
            <a:pPr marL="0" indent="0" algn="l">
              <a:lnSpc>
                <a:spcPts val="2100"/>
              </a:lnSpc>
              <a:buNone/>
            </a:pPr>
            <a:r>
              <a:rPr lang="en-US" sz="1500" b="1">
                <a:solidFill>
                  <a:srgbClr val="0F1B2D"/>
                </a:solidFill>
                <a:latin typeface="Verdana" panose="020B0604030504040204" pitchFamily="34" charset="0"/>
                <a:ea typeface="Verdana" panose="020B0604030504040204" pitchFamily="34" charset="0"/>
                <a:cs typeface="IBM Plex Sans" pitchFamily="34" charset="-120"/>
              </a:rPr>
              <a:t>Top 10 by mutual information</a:t>
            </a:r>
            <a:endParaRPr lang="en-US" sz="1500">
              <a:latin typeface="Verdana" panose="020B0604030504040204" pitchFamily="34" charset="0"/>
            </a:endParaRPr>
          </a:p>
        </p:txBody>
      </p:sp>
      <p:sp>
        <p:nvSpPr>
          <p:cNvPr id="12" name="Text 10"/>
          <p:cNvSpPr/>
          <p:nvPr/>
        </p:nvSpPr>
        <p:spPr>
          <a:xfrm>
            <a:off x="510003" y="3262511"/>
            <a:ext cx="2398163" cy="238720"/>
          </a:xfrm>
          <a:prstGeom prst="rect">
            <a:avLst/>
          </a:prstGeom>
          <a:noFill/>
          <a:ln/>
        </p:spPr>
        <p:txBody>
          <a:bodyPr wrap="square" lIns="0" tIns="0" rIns="0" bIns="0" rtlCol="0" anchor="t">
            <a:normAutofit fontScale="47500" lnSpcReduction="20000"/>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Keep the 10 single features most informative about |μ|</a:t>
            </a:r>
            <a:endParaRPr lang="en-US" sz="1200">
              <a:latin typeface="Verdana" panose="020B0604030504040204" pitchFamily="34" charset="0"/>
            </a:endParaRPr>
          </a:p>
        </p:txBody>
      </p:sp>
      <p:sp>
        <p:nvSpPr>
          <p:cNvPr id="14" name="Text 12"/>
          <p:cNvSpPr/>
          <p:nvPr/>
        </p:nvSpPr>
        <p:spPr>
          <a:xfrm>
            <a:off x="2916225" y="3132106"/>
            <a:ext cx="467501" cy="309827"/>
          </a:xfrm>
          <a:prstGeom prst="rect">
            <a:avLst/>
          </a:prstGeom>
          <a:noFill/>
          <a:ln/>
        </p:spPr>
        <p:txBody>
          <a:bodyPr wrap="none" lIns="0" tIns="0" rIns="0" bIns="0" rtlCol="0" anchor="t">
            <a:normAutofit/>
          </a:bodyPr>
          <a:lstStyle/>
          <a:p>
            <a:pPr marL="0" indent="0" algn="l">
              <a:lnSpc>
                <a:spcPts val="2240"/>
              </a:lnSpc>
              <a:buNone/>
            </a:pPr>
            <a:r>
              <a:rPr lang="en-US" sz="1600" b="1">
                <a:solidFill>
                  <a:srgbClr val="1B2433"/>
                </a:solidFill>
                <a:latin typeface="Verdana Pro" panose="020B0604030504040204" pitchFamily="34" charset="0"/>
                <a:ea typeface="Space Grotesk" pitchFamily="34" charset="-122"/>
                <a:cs typeface="Space Grotesk" pitchFamily="34" charset="-120"/>
              </a:rPr>
              <a:t>0.555 D</a:t>
            </a:r>
            <a:endParaRPr lang="en-US" sz="1600">
              <a:latin typeface="Verdana" panose="020B0604030504040204" pitchFamily="34" charset="0"/>
            </a:endParaRPr>
          </a:p>
        </p:txBody>
      </p:sp>
      <p:sp>
        <p:nvSpPr>
          <p:cNvPr id="15" name="Shape 13"/>
          <p:cNvSpPr/>
          <p:nvPr/>
        </p:nvSpPr>
        <p:spPr>
          <a:xfrm>
            <a:off x="331145" y="3711842"/>
            <a:ext cx="3562985" cy="761537"/>
          </a:xfrm>
          <a:prstGeom prst="roundRect">
            <a:avLst>
              <a:gd name="adj" fmla="val 12925"/>
            </a:avLst>
          </a:prstGeom>
          <a:solidFill>
            <a:srgbClr val="E6EDFA"/>
          </a:solidFill>
          <a:ln w="6350">
            <a:solidFill>
              <a:srgbClr val="C7D5F2"/>
            </a:solidFill>
            <a:prstDash val="solid"/>
          </a:ln>
        </p:spPr>
        <p:txBody>
          <a:bodyPr/>
          <a:lstStyle/>
          <a:p>
            <a:endParaRPr lang="en-CA">
              <a:latin typeface="Verdana" panose="020B0604030504040204" pitchFamily="34" charset="0"/>
            </a:endParaRPr>
          </a:p>
        </p:txBody>
      </p:sp>
      <p:sp>
        <p:nvSpPr>
          <p:cNvPr id="16" name="Text 14"/>
          <p:cNvSpPr/>
          <p:nvPr/>
        </p:nvSpPr>
        <p:spPr>
          <a:xfrm>
            <a:off x="372843" y="3738935"/>
            <a:ext cx="2398163" cy="292100"/>
          </a:xfrm>
          <a:prstGeom prst="rect">
            <a:avLst/>
          </a:prstGeom>
          <a:noFill/>
          <a:ln/>
        </p:spPr>
        <p:txBody>
          <a:bodyPr wrap="square" lIns="0" tIns="0" rIns="0" bIns="0" rtlCol="0" anchor="t">
            <a:normAutofit fontScale="62500" lnSpcReduction="20000"/>
          </a:bodyPr>
          <a:lstStyle/>
          <a:p>
            <a:pPr marL="0" indent="0" algn="l">
              <a:lnSpc>
                <a:spcPts val="2100"/>
              </a:lnSpc>
              <a:buNone/>
            </a:pPr>
            <a:r>
              <a:rPr lang="en-US" sz="1500" b="1">
                <a:solidFill>
                  <a:srgbClr val="0F1B2D"/>
                </a:solidFill>
                <a:latin typeface="Verdana" panose="020B0604030504040204" pitchFamily="34" charset="0"/>
                <a:ea typeface="Verdana" panose="020B0604030504040204" pitchFamily="34" charset="0"/>
                <a:cs typeface="IBM Plex Sans" pitchFamily="34" charset="-120"/>
              </a:rPr>
              <a:t>Partial least squares (PLS) · chosen</a:t>
            </a:r>
            <a:endParaRPr lang="en-US" sz="1500">
              <a:latin typeface="Verdana" panose="020B0604030504040204" pitchFamily="34" charset="0"/>
            </a:endParaRPr>
          </a:p>
        </p:txBody>
      </p:sp>
      <p:sp>
        <p:nvSpPr>
          <p:cNvPr id="17" name="Text 15"/>
          <p:cNvSpPr/>
          <p:nvPr/>
        </p:nvSpPr>
        <p:spPr>
          <a:xfrm>
            <a:off x="428723" y="4063671"/>
            <a:ext cx="2398163" cy="238720"/>
          </a:xfrm>
          <a:prstGeom prst="rect">
            <a:avLst/>
          </a:prstGeom>
          <a:noFill/>
          <a:ln/>
        </p:spPr>
        <p:txBody>
          <a:bodyPr wrap="square" lIns="0" tIns="0" rIns="0" bIns="0" rtlCol="0" anchor="t">
            <a:normAutofit fontScale="55000" lnSpcReduction="20000"/>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The 10 directions that vary most together with |μ|</a:t>
            </a:r>
            <a:endParaRPr lang="en-US" sz="1200">
              <a:latin typeface="Verdana" panose="020B0604030504040204" pitchFamily="34" charset="0"/>
            </a:endParaRPr>
          </a:p>
        </p:txBody>
      </p:sp>
      <p:sp>
        <p:nvSpPr>
          <p:cNvPr id="19" name="Text 17"/>
          <p:cNvSpPr/>
          <p:nvPr/>
        </p:nvSpPr>
        <p:spPr>
          <a:xfrm>
            <a:off x="2908166" y="3992564"/>
            <a:ext cx="475560" cy="309827"/>
          </a:xfrm>
          <a:prstGeom prst="rect">
            <a:avLst/>
          </a:prstGeom>
          <a:noFill/>
          <a:ln/>
        </p:spPr>
        <p:txBody>
          <a:bodyPr wrap="none" lIns="0" tIns="0" rIns="0" bIns="0" rtlCol="0" anchor="t">
            <a:normAutofit/>
          </a:bodyPr>
          <a:lstStyle/>
          <a:p>
            <a:pPr marL="0" indent="0" algn="l">
              <a:lnSpc>
                <a:spcPts val="2240"/>
              </a:lnSpc>
              <a:buNone/>
            </a:pPr>
            <a:r>
              <a:rPr lang="en-US" sz="1600" b="1">
                <a:solidFill>
                  <a:srgbClr val="1D4699"/>
                </a:solidFill>
                <a:latin typeface="Verdana Pro" panose="020B0604030504040204" pitchFamily="34" charset="0"/>
                <a:ea typeface="Space Grotesk" pitchFamily="34" charset="-122"/>
                <a:cs typeface="Space Grotesk" pitchFamily="34" charset="-120"/>
              </a:rPr>
              <a:t>0.499 D</a:t>
            </a:r>
            <a:endParaRPr lang="en-US" sz="1600">
              <a:latin typeface="Verdana" panose="020B0604030504040204" pitchFamily="34" charset="0"/>
            </a:endParaRPr>
          </a:p>
        </p:txBody>
      </p:sp>
      <p:sp>
        <p:nvSpPr>
          <p:cNvPr id="20" name="Text 18"/>
          <p:cNvSpPr/>
          <p:nvPr/>
        </p:nvSpPr>
        <p:spPr>
          <a:xfrm>
            <a:off x="327970" y="4705152"/>
            <a:ext cx="3520440" cy="1218321"/>
          </a:xfrm>
          <a:prstGeom prst="rect">
            <a:avLst/>
          </a:prstGeom>
          <a:noFill/>
          <a:ln/>
        </p:spPr>
        <p:txBody>
          <a:bodyPr wrap="square" lIns="0" tIns="0" rIns="0" bIns="0" rtlCol="0" anchor="t">
            <a:normAutofit fontScale="85000" lnSpcReduction="10000"/>
          </a:bodyPr>
          <a:lstStyle/>
          <a:p>
            <a:pPr marL="0" indent="0" algn="l">
              <a:lnSpc>
                <a:spcPts val="174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MAE from 5-fold cross-validation, RBF kernel ridge, 1,000 training labels. Why 10: the fewest components within one standard error of the best (24 components, 0.492 D). PLS is supervised and uses the target feature, so it is refit inside every training fold.</a:t>
            </a:r>
            <a:endParaRPr lang="en-US" sz="1200">
              <a:latin typeface="Verdana" panose="020B0604030504040204" pitchFamily="34" charset="0"/>
            </a:endParaRPr>
          </a:p>
        </p:txBody>
      </p:sp>
      <p:pic>
        <p:nvPicPr>
          <p:cNvPr id="24" name="Picture 23">
            <a:extLst>
              <a:ext uri="{FF2B5EF4-FFF2-40B4-BE49-F238E27FC236}">
                <a16:creationId xmlns:a16="http://schemas.microsoft.com/office/drawing/2014/main" id="{8D982C62-5A30-2459-0466-43F9B3AAA59A}"/>
              </a:ext>
            </a:extLst>
          </p:cNvPr>
          <p:cNvPicPr>
            <a:picLocks noChangeAspect="1"/>
          </p:cNvPicPr>
          <p:nvPr/>
        </p:nvPicPr>
        <p:blipFill>
          <a:blip r:embed="rId3"/>
          <a:stretch>
            <a:fillRect/>
          </a:stretch>
        </p:blipFill>
        <p:spPr>
          <a:xfrm>
            <a:off x="4175873" y="1559564"/>
            <a:ext cx="7684982" cy="2044327"/>
          </a:xfrm>
          <a:prstGeom prst="rect">
            <a:avLst/>
          </a:prstGeom>
        </p:spPr>
      </p:pic>
      <p:sp>
        <p:nvSpPr>
          <p:cNvPr id="26" name="TextBox 25">
            <a:extLst>
              <a:ext uri="{FF2B5EF4-FFF2-40B4-BE49-F238E27FC236}">
                <a16:creationId xmlns:a16="http://schemas.microsoft.com/office/drawing/2014/main" id="{A5EA5FB5-29E0-6D72-8F82-0A9B7C284D45}"/>
              </a:ext>
            </a:extLst>
          </p:cNvPr>
          <p:cNvSpPr txBox="1"/>
          <p:nvPr/>
        </p:nvSpPr>
        <p:spPr>
          <a:xfrm>
            <a:off x="11353800" y="142376"/>
            <a:ext cx="6096000" cy="238527"/>
          </a:xfrm>
          <a:prstGeom prst="rect">
            <a:avLst/>
          </a:prstGeom>
          <a:noFill/>
        </p:spPr>
        <p:txBody>
          <a:bodyPr wrap="square">
            <a:spAutoFit/>
          </a:bodyPr>
          <a:lstStyle/>
          <a:p>
            <a:r>
              <a:rPr lang="en-CA" sz="950" b="1" i="0">
                <a:solidFill>
                  <a:srgbClr val="1D4699"/>
                </a:solidFill>
                <a:latin typeface="Verdana"/>
              </a:rPr>
              <a:t>TRACK B </a:t>
            </a:r>
            <a:endParaRPr lang="en-CA"/>
          </a:p>
        </p:txBody>
      </p:sp>
      <p:pic>
        <p:nvPicPr>
          <p:cNvPr id="28" name="Picture 27">
            <a:extLst>
              <a:ext uri="{FF2B5EF4-FFF2-40B4-BE49-F238E27FC236}">
                <a16:creationId xmlns:a16="http://schemas.microsoft.com/office/drawing/2014/main" id="{A8607E4F-D7E0-1480-8379-FAA3A2510415}"/>
              </a:ext>
            </a:extLst>
          </p:cNvPr>
          <p:cNvPicPr>
            <a:picLocks noChangeAspect="1"/>
          </p:cNvPicPr>
          <p:nvPr/>
        </p:nvPicPr>
        <p:blipFill>
          <a:blip r:embed="rId4"/>
          <a:srcRect t="1" b="2384"/>
          <a:stretch>
            <a:fillRect/>
          </a:stretch>
        </p:blipFill>
        <p:spPr>
          <a:xfrm>
            <a:off x="5177400" y="4044077"/>
            <a:ext cx="1695193" cy="1836797"/>
          </a:xfrm>
          <a:prstGeom prst="rect">
            <a:avLst/>
          </a:prstGeom>
        </p:spPr>
      </p:pic>
      <p:pic>
        <p:nvPicPr>
          <p:cNvPr id="30" name="Picture 29">
            <a:extLst>
              <a:ext uri="{FF2B5EF4-FFF2-40B4-BE49-F238E27FC236}">
                <a16:creationId xmlns:a16="http://schemas.microsoft.com/office/drawing/2014/main" id="{392B8047-CD86-6F73-AD50-48AAB786FF76}"/>
              </a:ext>
            </a:extLst>
          </p:cNvPr>
          <p:cNvPicPr>
            <a:picLocks noChangeAspect="1"/>
          </p:cNvPicPr>
          <p:nvPr/>
        </p:nvPicPr>
        <p:blipFill>
          <a:blip r:embed="rId5"/>
          <a:stretch>
            <a:fillRect/>
          </a:stretch>
        </p:blipFill>
        <p:spPr>
          <a:xfrm>
            <a:off x="7340046" y="4494129"/>
            <a:ext cx="1677647" cy="1409750"/>
          </a:xfrm>
          <a:prstGeom prst="rect">
            <a:avLst/>
          </a:prstGeom>
        </p:spPr>
      </p:pic>
      <p:pic>
        <p:nvPicPr>
          <p:cNvPr id="32" name="Picture 31">
            <a:extLst>
              <a:ext uri="{FF2B5EF4-FFF2-40B4-BE49-F238E27FC236}">
                <a16:creationId xmlns:a16="http://schemas.microsoft.com/office/drawing/2014/main" id="{B65FEAA6-F42B-8164-5351-A1AB8CCB5C71}"/>
              </a:ext>
            </a:extLst>
          </p:cNvPr>
          <p:cNvPicPr>
            <a:picLocks noChangeAspect="1"/>
          </p:cNvPicPr>
          <p:nvPr/>
        </p:nvPicPr>
        <p:blipFill>
          <a:blip r:embed="rId4"/>
          <a:srcRect t="1" b="75198"/>
          <a:stretch>
            <a:fillRect/>
          </a:stretch>
        </p:blipFill>
        <p:spPr>
          <a:xfrm>
            <a:off x="7340047" y="4049531"/>
            <a:ext cx="1677647" cy="461851"/>
          </a:xfrm>
          <a:prstGeom prst="rect">
            <a:avLst/>
          </a:prstGeom>
        </p:spPr>
      </p:pic>
      <p:pic>
        <p:nvPicPr>
          <p:cNvPr id="34" name="Picture 33">
            <a:extLst>
              <a:ext uri="{FF2B5EF4-FFF2-40B4-BE49-F238E27FC236}">
                <a16:creationId xmlns:a16="http://schemas.microsoft.com/office/drawing/2014/main" id="{0A0DB349-4231-188A-AB75-41C5100B3700}"/>
              </a:ext>
            </a:extLst>
          </p:cNvPr>
          <p:cNvPicPr>
            <a:picLocks noChangeAspect="1"/>
          </p:cNvPicPr>
          <p:nvPr/>
        </p:nvPicPr>
        <p:blipFill>
          <a:blip r:embed="rId6"/>
          <a:stretch>
            <a:fillRect/>
          </a:stretch>
        </p:blipFill>
        <p:spPr>
          <a:xfrm>
            <a:off x="9485146" y="4513723"/>
            <a:ext cx="1677646" cy="1367152"/>
          </a:xfrm>
          <a:prstGeom prst="rect">
            <a:avLst/>
          </a:prstGeom>
        </p:spPr>
      </p:pic>
      <p:pic>
        <p:nvPicPr>
          <p:cNvPr id="36" name="Picture 35">
            <a:extLst>
              <a:ext uri="{FF2B5EF4-FFF2-40B4-BE49-F238E27FC236}">
                <a16:creationId xmlns:a16="http://schemas.microsoft.com/office/drawing/2014/main" id="{E1DBAC30-B23A-BD57-A9C6-466FE9CE90C6}"/>
              </a:ext>
            </a:extLst>
          </p:cNvPr>
          <p:cNvPicPr>
            <a:picLocks noChangeAspect="1"/>
          </p:cNvPicPr>
          <p:nvPr/>
        </p:nvPicPr>
        <p:blipFill>
          <a:blip r:embed="rId4"/>
          <a:srcRect t="1" b="75198"/>
          <a:stretch>
            <a:fillRect/>
          </a:stretch>
        </p:blipFill>
        <p:spPr>
          <a:xfrm>
            <a:off x="9485146" y="4051871"/>
            <a:ext cx="1677646" cy="4618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9624-284F-33D8-F12F-3A2A704644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5C9BD8-C7A4-0C00-1C4D-8A1C1CEA001C}"/>
              </a:ext>
            </a:extLst>
          </p:cNvPr>
          <p:cNvSpPr/>
          <p:nvPr/>
        </p:nvSpPr>
        <p:spPr>
          <a:xfrm>
            <a:off x="279400" y="26164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MODELLING</a:t>
            </a:r>
            <a:endParaRPr lang="en-US" sz="1200">
              <a:latin typeface="Verdana" panose="020B0604030504040204" pitchFamily="34" charset="0"/>
            </a:endParaRPr>
          </a:p>
        </p:txBody>
      </p:sp>
      <p:sp>
        <p:nvSpPr>
          <p:cNvPr id="3" name="Text 1">
            <a:extLst>
              <a:ext uri="{FF2B5EF4-FFF2-40B4-BE49-F238E27FC236}">
                <a16:creationId xmlns:a16="http://schemas.microsoft.com/office/drawing/2014/main" id="{18ED47DB-2D21-05C8-E097-E7F5311887C0}"/>
              </a:ext>
            </a:extLst>
          </p:cNvPr>
          <p:cNvSpPr>
            <a:spLocks noGrp="1"/>
          </p:cNvSpPr>
          <p:nvPr>
            <p:ph type="title"/>
          </p:nvPr>
        </p:nvSpPr>
        <p:spPr>
          <a:xfrm>
            <a:off x="327970" y="706067"/>
            <a:ext cx="10883392" cy="472414"/>
          </a:xfrm>
          <a:prstGeom prst="rect">
            <a:avLst/>
          </a:prstGeom>
          <a:noFill/>
          <a:ln/>
        </p:spPr>
        <p:txBody>
          <a:bodyPr wrap="square" lIns="0" tIns="0" rIns="0" bIns="0" rtlCol="0" anchor="t">
            <a:normAutofit/>
          </a:bodyPr>
          <a:lstStyle/>
          <a:p>
            <a:pPr marL="0" indent="0" algn="l">
              <a:lnSpc>
                <a:spcPts val="3520"/>
              </a:lnSpc>
              <a:buNone/>
            </a:pPr>
            <a:r>
              <a:rPr lang="en-US" sz="2400" b="1" i="0">
                <a:solidFill>
                  <a:srgbClr val="0F1B2D"/>
                </a:solidFill>
                <a:latin typeface="Verdana Pro" panose="020B0604030504040204" pitchFamily="34" charset="0"/>
                <a:cs typeface="Space Grotesk" pitchFamily="34" charset="-120"/>
              </a:rPr>
              <a:t>Classical models</a:t>
            </a:r>
            <a:endParaRPr lang="en-US" sz="2400"/>
          </a:p>
        </p:txBody>
      </p:sp>
      <p:sp>
        <p:nvSpPr>
          <p:cNvPr id="4" name="Text 2">
            <a:extLst>
              <a:ext uri="{FF2B5EF4-FFF2-40B4-BE49-F238E27FC236}">
                <a16:creationId xmlns:a16="http://schemas.microsoft.com/office/drawing/2014/main" id="{42B2FA8E-D0A7-9EA3-23A1-189D264E5BD3}"/>
              </a:ext>
            </a:extLst>
          </p:cNvPr>
          <p:cNvSpPr/>
          <p:nvPr/>
        </p:nvSpPr>
        <p:spPr>
          <a:xfrm>
            <a:off x="327970" y="1349954"/>
            <a:ext cx="3520440" cy="556182"/>
          </a:xfrm>
          <a:prstGeom prst="rect">
            <a:avLst/>
          </a:prstGeom>
          <a:noFill/>
          <a:ln/>
        </p:spPr>
        <p:txBody>
          <a:bodyPr wrap="square" lIns="0" tIns="0" rIns="0" bIns="0" rtlCol="0" anchor="t">
            <a:normAutofit/>
          </a:bodyPr>
          <a:lstStyle/>
          <a:p>
            <a:pPr marL="0" indent="0" algn="l">
              <a:lnSpc>
                <a:spcPts val="1960"/>
              </a:lnSpc>
              <a:buNone/>
            </a:pPr>
            <a:endParaRPr lang="en-US" sz="1400">
              <a:latin typeface="Verdana" panose="020B0604030504040204" pitchFamily="34" charset="0"/>
            </a:endParaRPr>
          </a:p>
        </p:txBody>
      </p:sp>
      <p:sp>
        <p:nvSpPr>
          <p:cNvPr id="26" name="TextBox 25">
            <a:extLst>
              <a:ext uri="{FF2B5EF4-FFF2-40B4-BE49-F238E27FC236}">
                <a16:creationId xmlns:a16="http://schemas.microsoft.com/office/drawing/2014/main" id="{F806E70D-7024-37AC-551E-A28C5CF6ED22}"/>
              </a:ext>
            </a:extLst>
          </p:cNvPr>
          <p:cNvSpPr txBox="1"/>
          <p:nvPr/>
        </p:nvSpPr>
        <p:spPr>
          <a:xfrm>
            <a:off x="11353800" y="142376"/>
            <a:ext cx="6096000" cy="238527"/>
          </a:xfrm>
          <a:prstGeom prst="rect">
            <a:avLst/>
          </a:prstGeom>
          <a:noFill/>
        </p:spPr>
        <p:txBody>
          <a:bodyPr wrap="square">
            <a:spAutoFit/>
          </a:bodyPr>
          <a:lstStyle/>
          <a:p>
            <a:r>
              <a:rPr lang="en-CA" sz="950" b="1" i="0">
                <a:solidFill>
                  <a:schemeClr val="accent6">
                    <a:lumMod val="75000"/>
                  </a:schemeClr>
                </a:solidFill>
                <a:latin typeface="Verdana"/>
              </a:rPr>
              <a:t>TRACK A </a:t>
            </a:r>
            <a:endParaRPr lang="en-CA">
              <a:solidFill>
                <a:schemeClr val="accent6">
                  <a:lumMod val="75000"/>
                </a:schemeClr>
              </a:solidFill>
            </a:endParaRPr>
          </a:p>
        </p:txBody>
      </p:sp>
      <p:sp>
        <p:nvSpPr>
          <p:cNvPr id="18" name="TextBox 17">
            <a:extLst>
              <a:ext uri="{FF2B5EF4-FFF2-40B4-BE49-F238E27FC236}">
                <a16:creationId xmlns:a16="http://schemas.microsoft.com/office/drawing/2014/main" id="{68B26C46-96DE-A0C8-A17A-E00300A018B1}"/>
              </a:ext>
            </a:extLst>
          </p:cNvPr>
          <p:cNvSpPr txBox="1"/>
          <p:nvPr/>
        </p:nvSpPr>
        <p:spPr>
          <a:xfrm>
            <a:off x="327970" y="1277548"/>
            <a:ext cx="11093404" cy="285078"/>
          </a:xfrm>
          <a:prstGeom prst="rect">
            <a:avLst/>
          </a:prstGeom>
          <a:noFill/>
        </p:spPr>
        <p:txBody>
          <a:bodyPr wrap="square">
            <a:spAutoFit/>
          </a:bodyPr>
          <a:lstStyle/>
          <a:p>
            <a:pPr marL="0" indent="0" algn="l">
              <a:lnSpc>
                <a:spcPts val="1740"/>
              </a:lnSpc>
              <a:buNone/>
            </a:pPr>
            <a:r>
              <a:rPr lang="en-US" sz="1100">
                <a:solidFill>
                  <a:srgbClr val="4A5568"/>
                </a:solidFill>
                <a:latin typeface="Verdana" panose="020B0604030504040204" pitchFamily="34" charset="0"/>
                <a:ea typeface="Verdana" panose="020B0604030504040204" pitchFamily="34" charset="0"/>
              </a:rPr>
              <a:t>To produce the “best” classical model, we created 6 different models using the 188 legal features, averaging their MAE over 3 seeds for each training set. </a:t>
            </a:r>
            <a:endParaRPr lang="en-US" sz="1100">
              <a:latin typeface="Verdana" panose="020B0604030504040204" pitchFamily="34" charset="0"/>
            </a:endParaRPr>
          </a:p>
        </p:txBody>
      </p:sp>
      <p:pic>
        <p:nvPicPr>
          <p:cNvPr id="22" name="Picture 21">
            <a:extLst>
              <a:ext uri="{FF2B5EF4-FFF2-40B4-BE49-F238E27FC236}">
                <a16:creationId xmlns:a16="http://schemas.microsoft.com/office/drawing/2014/main" id="{48E4508D-B80D-9F37-92C4-08F8DFC7B033}"/>
              </a:ext>
            </a:extLst>
          </p:cNvPr>
          <p:cNvPicPr>
            <a:picLocks noChangeAspect="1"/>
          </p:cNvPicPr>
          <p:nvPr/>
        </p:nvPicPr>
        <p:blipFill>
          <a:blip r:embed="rId3"/>
          <a:stretch>
            <a:fillRect/>
          </a:stretch>
        </p:blipFill>
        <p:spPr>
          <a:xfrm>
            <a:off x="960407" y="1793415"/>
            <a:ext cx="10271185" cy="3934525"/>
          </a:xfrm>
          <a:prstGeom prst="rect">
            <a:avLst/>
          </a:prstGeom>
        </p:spPr>
      </p:pic>
      <p:sp>
        <p:nvSpPr>
          <p:cNvPr id="25" name="TextBox 24">
            <a:extLst>
              <a:ext uri="{FF2B5EF4-FFF2-40B4-BE49-F238E27FC236}">
                <a16:creationId xmlns:a16="http://schemas.microsoft.com/office/drawing/2014/main" id="{1D72A955-646B-C228-AA8C-C6128C175600}"/>
              </a:ext>
            </a:extLst>
          </p:cNvPr>
          <p:cNvSpPr txBox="1"/>
          <p:nvPr/>
        </p:nvSpPr>
        <p:spPr>
          <a:xfrm>
            <a:off x="549297" y="6088213"/>
            <a:ext cx="11093404" cy="503086"/>
          </a:xfrm>
          <a:prstGeom prst="rect">
            <a:avLst/>
          </a:prstGeom>
          <a:noFill/>
        </p:spPr>
        <p:txBody>
          <a:bodyPr wrap="square">
            <a:spAutoFit/>
          </a:bodyPr>
          <a:lstStyle/>
          <a:p>
            <a:pPr marL="0" indent="0" algn="l">
              <a:lnSpc>
                <a:spcPts val="1740"/>
              </a:lnSpc>
              <a:buNone/>
            </a:pPr>
            <a:r>
              <a:rPr lang="en-US" sz="1100">
                <a:solidFill>
                  <a:srgbClr val="4A5568"/>
                </a:solidFill>
                <a:latin typeface="Verdana" panose="020B0604030504040204" pitchFamily="34" charset="0"/>
                <a:ea typeface="Verdana" panose="020B0604030504040204" pitchFamily="34" charset="0"/>
              </a:rPr>
              <a:t>Models were standard, kernel and RBF kernel ridge, </a:t>
            </a:r>
            <a:r>
              <a:rPr lang="en-US" sz="1100" err="1">
                <a:solidFill>
                  <a:srgbClr val="4A5568"/>
                </a:solidFill>
                <a:latin typeface="Verdana" panose="020B0604030504040204" pitchFamily="34" charset="0"/>
                <a:ea typeface="Verdana" panose="020B0604030504040204" pitchFamily="34" charset="0"/>
              </a:rPr>
              <a:t>XGBoost</a:t>
            </a:r>
            <a:r>
              <a:rPr lang="en-US" sz="1100">
                <a:solidFill>
                  <a:srgbClr val="4A5568"/>
                </a:solidFill>
                <a:latin typeface="Verdana" panose="020B0604030504040204" pitchFamily="34" charset="0"/>
                <a:ea typeface="Verdana" panose="020B0604030504040204" pitchFamily="34" charset="0"/>
              </a:rPr>
              <a:t>, a linear charge model and a charge neural network. (We trained many others but these were the ones that had significant performance) </a:t>
            </a:r>
            <a:endParaRPr lang="en-US" sz="1100">
              <a:latin typeface="Verdana" panose="020B0604030504040204" pitchFamily="34" charset="0"/>
            </a:endParaRPr>
          </a:p>
        </p:txBody>
      </p:sp>
    </p:spTree>
    <p:extLst>
      <p:ext uri="{BB962C8B-B14F-4D97-AF65-F5344CB8AC3E}">
        <p14:creationId xmlns:p14="http://schemas.microsoft.com/office/powerpoint/2010/main" val="108982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374597" y="242169"/>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QUANTUM MODELS</a:t>
            </a:r>
            <a:endParaRPr lang="en-US" sz="1200">
              <a:latin typeface="Verdana" panose="020B0604030504040204" pitchFamily="34" charset="0"/>
            </a:endParaRPr>
          </a:p>
        </p:txBody>
      </p:sp>
      <p:sp>
        <p:nvSpPr>
          <p:cNvPr id="3" name="Text 1"/>
          <p:cNvSpPr>
            <a:spLocks noGrp="1"/>
          </p:cNvSpPr>
          <p:nvPr>
            <p:ph type="title"/>
          </p:nvPr>
        </p:nvSpPr>
        <p:spPr>
          <a:xfrm>
            <a:off x="812726" y="975196"/>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0F1B2D"/>
                </a:solidFill>
                <a:cs typeface="Space Grotesk" pitchFamily="34" charset="-120"/>
              </a:rPr>
              <a:t>One encoding circuit, three readouts</a:t>
            </a:r>
            <a:endParaRPr lang="en-US" sz="3200"/>
          </a:p>
        </p:txBody>
      </p:sp>
      <p:sp>
        <p:nvSpPr>
          <p:cNvPr id="4" name="Shape 2"/>
          <p:cNvSpPr/>
          <p:nvPr/>
        </p:nvSpPr>
        <p:spPr>
          <a:xfrm>
            <a:off x="815901" y="1653927"/>
            <a:ext cx="2258318" cy="1027881"/>
          </a:xfrm>
          <a:prstGeom prst="roundRect">
            <a:avLst>
              <a:gd name="adj" fmla="val 9576"/>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5" name="Text 3"/>
          <p:cNvSpPr/>
          <p:nvPr/>
        </p:nvSpPr>
        <p:spPr>
          <a:xfrm>
            <a:off x="972964" y="1810990"/>
            <a:ext cx="2002517"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280"/>
                </a:solidFill>
                <a:latin typeface="Verdana" panose="020B0604030504040204" pitchFamily="34" charset="0"/>
                <a:ea typeface="Verdana" panose="020B0604030504040204" pitchFamily="34" charset="0"/>
                <a:cs typeface="IBM Plex Sans" pitchFamily="34" charset="-120"/>
              </a:rPr>
              <a:t>Input</a:t>
            </a:r>
            <a:endParaRPr lang="en-US" sz="1200">
              <a:latin typeface="Verdana" panose="020B0604030504040204" pitchFamily="34" charset="0"/>
            </a:endParaRPr>
          </a:p>
        </p:txBody>
      </p:sp>
      <p:sp>
        <p:nvSpPr>
          <p:cNvPr id="6" name="Text 4"/>
          <p:cNvSpPr/>
          <p:nvPr/>
        </p:nvSpPr>
        <p:spPr>
          <a:xfrm>
            <a:off x="972964" y="2062386"/>
            <a:ext cx="2002517" cy="487759"/>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Atoms Z and coordinates R</a:t>
            </a:r>
            <a:endParaRPr lang="en-US" sz="1400">
              <a:latin typeface="Verdana" panose="020B0604030504040204" pitchFamily="34" charset="0"/>
            </a:endParaRPr>
          </a:p>
        </p:txBody>
      </p:sp>
      <p:pic>
        <p:nvPicPr>
          <p:cNvPr id="7" name="Image 0" descr="arrow-right"/>
          <p:cNvPicPr>
            <a:picLocks noChangeAspect="1"/>
          </p:cNvPicPr>
          <p:nvPr/>
        </p:nvPicPr>
        <p:blipFill>
          <a:blip r:embed="rId3"/>
          <a:srcRect l="-20" r="-20"/>
          <a:stretch/>
        </p:blipFill>
        <p:spPr>
          <a:xfrm>
            <a:off x="3178969" y="2091655"/>
            <a:ext cx="304726" cy="152301"/>
          </a:xfrm>
          <a:prstGeom prst="rect">
            <a:avLst/>
          </a:prstGeom>
        </p:spPr>
      </p:pic>
      <p:sp>
        <p:nvSpPr>
          <p:cNvPr id="8" name="Shape 5"/>
          <p:cNvSpPr/>
          <p:nvPr/>
        </p:nvSpPr>
        <p:spPr>
          <a:xfrm>
            <a:off x="3588445" y="1653927"/>
            <a:ext cx="2258442" cy="1027881"/>
          </a:xfrm>
          <a:prstGeom prst="roundRect">
            <a:avLst>
              <a:gd name="adj" fmla="val 9576"/>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9" name="Text 6"/>
          <p:cNvSpPr/>
          <p:nvPr/>
        </p:nvSpPr>
        <p:spPr>
          <a:xfrm>
            <a:off x="3745508" y="1810990"/>
            <a:ext cx="2002645"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280"/>
                </a:solidFill>
                <a:latin typeface="Verdana" panose="020B0604030504040204" pitchFamily="34" charset="0"/>
                <a:ea typeface="Verdana" panose="020B0604030504040204" pitchFamily="34" charset="0"/>
                <a:cs typeface="IBM Plex Sans" pitchFamily="34" charset="-120"/>
              </a:rPr>
              <a:t>Features</a:t>
            </a:r>
            <a:endParaRPr lang="en-US" sz="1200">
              <a:latin typeface="Verdana" panose="020B0604030504040204" pitchFamily="34" charset="0"/>
            </a:endParaRPr>
          </a:p>
        </p:txBody>
      </p:sp>
      <p:sp>
        <p:nvSpPr>
          <p:cNvPr id="10" name="Text 7"/>
          <p:cNvSpPr/>
          <p:nvPr/>
        </p:nvSpPr>
        <p:spPr>
          <a:xfrm>
            <a:off x="3745508" y="2062386"/>
            <a:ext cx="2002645" cy="487759"/>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188 invariant descriptors</a:t>
            </a:r>
            <a:endParaRPr lang="en-US" sz="1400">
              <a:latin typeface="Verdana" panose="020B0604030504040204" pitchFamily="34" charset="0"/>
            </a:endParaRPr>
          </a:p>
        </p:txBody>
      </p:sp>
      <p:pic>
        <p:nvPicPr>
          <p:cNvPr id="11" name="Image 1" descr="arrow-right"/>
          <p:cNvPicPr>
            <a:picLocks noChangeAspect="1"/>
          </p:cNvPicPr>
          <p:nvPr/>
        </p:nvPicPr>
        <p:blipFill>
          <a:blip r:embed="rId3"/>
          <a:srcRect l="-20" r="-20"/>
          <a:stretch/>
        </p:blipFill>
        <p:spPr>
          <a:xfrm>
            <a:off x="5951637" y="2091655"/>
            <a:ext cx="304726" cy="152301"/>
          </a:xfrm>
          <a:prstGeom prst="rect">
            <a:avLst/>
          </a:prstGeom>
        </p:spPr>
      </p:pic>
      <p:sp>
        <p:nvSpPr>
          <p:cNvPr id="12" name="Shape 8"/>
          <p:cNvSpPr/>
          <p:nvPr/>
        </p:nvSpPr>
        <p:spPr>
          <a:xfrm>
            <a:off x="6361113" y="1769517"/>
            <a:ext cx="2258318" cy="796702"/>
          </a:xfrm>
          <a:prstGeom prst="roundRect">
            <a:avLst>
              <a:gd name="adj" fmla="val 12354"/>
            </a:avLst>
          </a:prstGeom>
          <a:solidFill>
            <a:srgbClr val="FDFCF9"/>
          </a:solidFill>
          <a:ln w="6350">
            <a:solidFill>
              <a:srgbClr val="E2DED5"/>
            </a:solidFill>
            <a:prstDash val="solid"/>
          </a:ln>
        </p:spPr>
        <p:txBody>
          <a:bodyPr/>
          <a:lstStyle/>
          <a:p>
            <a:endParaRPr lang="en-CA">
              <a:latin typeface="Verdana" panose="020B0604030504040204" pitchFamily="34" charset="0"/>
            </a:endParaRPr>
          </a:p>
        </p:txBody>
      </p:sp>
      <p:sp>
        <p:nvSpPr>
          <p:cNvPr id="13" name="Text 9"/>
          <p:cNvSpPr/>
          <p:nvPr/>
        </p:nvSpPr>
        <p:spPr>
          <a:xfrm>
            <a:off x="6518176" y="1926580"/>
            <a:ext cx="2002517"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280"/>
                </a:solidFill>
                <a:latin typeface="Verdana" panose="020B0604030504040204" pitchFamily="34" charset="0"/>
                <a:ea typeface="Verdana" panose="020B0604030504040204" pitchFamily="34" charset="0"/>
                <a:cs typeface="IBM Plex Sans" pitchFamily="34" charset="-120"/>
              </a:rPr>
              <a:t>Compression</a:t>
            </a:r>
            <a:endParaRPr lang="en-US" sz="1200">
              <a:latin typeface="Verdana" panose="020B0604030504040204" pitchFamily="34" charset="0"/>
            </a:endParaRPr>
          </a:p>
        </p:txBody>
      </p:sp>
      <p:sp>
        <p:nvSpPr>
          <p:cNvPr id="14" name="Text 10"/>
          <p:cNvSpPr/>
          <p:nvPr/>
        </p:nvSpPr>
        <p:spPr>
          <a:xfrm>
            <a:off x="6518176" y="2177976"/>
            <a:ext cx="2002517" cy="256580"/>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0F1B2D"/>
                </a:solidFill>
                <a:latin typeface="Verdana" panose="020B0604030504040204" pitchFamily="34" charset="0"/>
                <a:ea typeface="Verdana" panose="020B0604030504040204" pitchFamily="34" charset="0"/>
                <a:cs typeface="IBM Plex Sans" pitchFamily="34" charset="-120"/>
              </a:rPr>
              <a:t>PLS to 10 inputs</a:t>
            </a:r>
            <a:endParaRPr lang="en-US" sz="1400">
              <a:latin typeface="Verdana" panose="020B0604030504040204" pitchFamily="34" charset="0"/>
            </a:endParaRPr>
          </a:p>
        </p:txBody>
      </p:sp>
      <p:pic>
        <p:nvPicPr>
          <p:cNvPr id="15" name="Image 2" descr="arrow-right"/>
          <p:cNvPicPr>
            <a:picLocks noChangeAspect="1"/>
          </p:cNvPicPr>
          <p:nvPr/>
        </p:nvPicPr>
        <p:blipFill>
          <a:blip r:embed="rId3"/>
          <a:srcRect l="-20" r="-20"/>
          <a:stretch/>
        </p:blipFill>
        <p:spPr>
          <a:xfrm>
            <a:off x="8724181" y="2091655"/>
            <a:ext cx="304726" cy="152301"/>
          </a:xfrm>
          <a:prstGeom prst="rect">
            <a:avLst/>
          </a:prstGeom>
        </p:spPr>
      </p:pic>
      <p:sp>
        <p:nvSpPr>
          <p:cNvPr id="16" name="Shape 11"/>
          <p:cNvSpPr/>
          <p:nvPr/>
        </p:nvSpPr>
        <p:spPr>
          <a:xfrm>
            <a:off x="9130481" y="1658689"/>
            <a:ext cx="2248793" cy="1018356"/>
          </a:xfrm>
          <a:prstGeom prst="roundRect">
            <a:avLst>
              <a:gd name="adj" fmla="val 9977"/>
            </a:avLst>
          </a:prstGeom>
          <a:solidFill>
            <a:srgbClr val="2558C0"/>
          </a:solidFill>
          <a:ln/>
        </p:spPr>
        <p:txBody>
          <a:bodyPr/>
          <a:lstStyle/>
          <a:p>
            <a:endParaRPr lang="en-CA">
              <a:latin typeface="Verdana" panose="020B0604030504040204" pitchFamily="34" charset="0"/>
            </a:endParaRPr>
          </a:p>
        </p:txBody>
      </p:sp>
      <p:sp>
        <p:nvSpPr>
          <p:cNvPr id="17" name="Text 12"/>
          <p:cNvSpPr/>
          <p:nvPr/>
        </p:nvSpPr>
        <p:spPr>
          <a:xfrm>
            <a:off x="9282782" y="1810990"/>
            <a:ext cx="2002517"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D6E2FA"/>
                </a:solidFill>
                <a:latin typeface="Verdana" panose="020B0604030504040204" pitchFamily="34" charset="0"/>
                <a:ea typeface="Verdana" panose="020B0604030504040204" pitchFamily="34" charset="0"/>
                <a:cs typeface="IBM Plex Sans" pitchFamily="34" charset="-120"/>
              </a:rPr>
              <a:t>Qiskit circuit</a:t>
            </a:r>
            <a:endParaRPr lang="en-US" sz="1200">
              <a:latin typeface="Verdana" panose="020B0604030504040204" pitchFamily="34" charset="0"/>
            </a:endParaRPr>
          </a:p>
        </p:txBody>
      </p:sp>
      <p:sp>
        <p:nvSpPr>
          <p:cNvPr id="18" name="Text 13"/>
          <p:cNvSpPr/>
          <p:nvPr/>
        </p:nvSpPr>
        <p:spPr>
          <a:xfrm>
            <a:off x="9282782" y="2062386"/>
            <a:ext cx="2002517" cy="487759"/>
          </a:xfrm>
          <a:prstGeom prst="rect">
            <a:avLst/>
          </a:prstGeom>
          <a:noFill/>
          <a:ln/>
        </p:spPr>
        <p:txBody>
          <a:bodyPr wrap="square" lIns="0" tIns="0" rIns="0" bIns="0" rtlCol="0" anchor="t">
            <a:normAutofit/>
          </a:bodyPr>
          <a:lstStyle/>
          <a:p>
            <a:pPr marL="0" indent="0" algn="l">
              <a:lnSpc>
                <a:spcPts val="1820"/>
              </a:lnSpc>
              <a:buNone/>
            </a:pPr>
            <a:r>
              <a:rPr lang="en-US" sz="1400" b="1">
                <a:solidFill>
                  <a:srgbClr val="FDFCF9"/>
                </a:solidFill>
                <a:latin typeface="Verdana" panose="020B0604030504040204" pitchFamily="34" charset="0"/>
                <a:ea typeface="Verdana" panose="020B0604030504040204" pitchFamily="34" charset="0"/>
                <a:cs typeface="IBM Plex Sans" pitchFamily="34" charset="-120"/>
              </a:rPr>
              <a:t>10-qubit ZZ feature map U(γx)</a:t>
            </a:r>
            <a:endParaRPr lang="en-US" sz="1400">
              <a:latin typeface="Verdana" panose="020B0604030504040204" pitchFamily="34" charset="0"/>
            </a:endParaRPr>
          </a:p>
        </p:txBody>
      </p:sp>
      <p:sp>
        <p:nvSpPr>
          <p:cNvPr id="19" name="Shape 14"/>
          <p:cNvSpPr/>
          <p:nvPr/>
        </p:nvSpPr>
        <p:spPr>
          <a:xfrm>
            <a:off x="815901" y="2916734"/>
            <a:ext cx="3414216" cy="1462088"/>
          </a:xfrm>
          <a:prstGeom prst="roundRect">
            <a:avLst>
              <a:gd name="adj" fmla="val 6732"/>
            </a:avLst>
          </a:prstGeom>
          <a:solidFill>
            <a:srgbClr val="E6EDFA"/>
          </a:solidFill>
          <a:ln w="6350">
            <a:solidFill>
              <a:srgbClr val="C7D5F2"/>
            </a:solidFill>
            <a:prstDash val="solid"/>
          </a:ln>
        </p:spPr>
        <p:txBody>
          <a:bodyPr/>
          <a:lstStyle/>
          <a:p>
            <a:endParaRPr lang="en-CA">
              <a:latin typeface="Verdana" panose="020B0604030504040204" pitchFamily="34" charset="0"/>
            </a:endParaRPr>
          </a:p>
        </p:txBody>
      </p:sp>
      <p:sp>
        <p:nvSpPr>
          <p:cNvPr id="20" name="Text 15"/>
          <p:cNvSpPr/>
          <p:nvPr/>
        </p:nvSpPr>
        <p:spPr>
          <a:xfrm>
            <a:off x="1023813" y="3124646"/>
            <a:ext cx="3088342" cy="269106"/>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F1B2D"/>
                </a:solidFill>
                <a:latin typeface="Verdana Pro" panose="020F0502020204030204" pitchFamily="34" charset="0"/>
                <a:ea typeface="Space Grotesk" pitchFamily="34" charset="-122"/>
                <a:cs typeface="Space Grotesk" pitchFamily="34" charset="-120"/>
              </a:rPr>
              <a:t>Fidelity kernel (QKRR)</a:t>
            </a:r>
            <a:endParaRPr lang="en-US" sz="1600">
              <a:latin typeface="Verdana" panose="020B0604030504040204" pitchFamily="34" charset="0"/>
            </a:endParaRPr>
          </a:p>
        </p:txBody>
      </p:sp>
      <p:sp>
        <p:nvSpPr>
          <p:cNvPr id="21" name="Text 16"/>
          <p:cNvSpPr/>
          <p:nvPr/>
        </p:nvSpPr>
        <p:spPr>
          <a:xfrm>
            <a:off x="1023813" y="3431853"/>
            <a:ext cx="3088342" cy="274315"/>
          </a:xfrm>
          <a:prstGeom prst="rect">
            <a:avLst/>
          </a:prstGeom>
          <a:noFill/>
          <a:ln/>
        </p:spPr>
        <p:txBody>
          <a:bodyPr wrap="square" lIns="0" tIns="0" rIns="0" bIns="0" rtlCol="0" anchor="t">
            <a:normAutofit/>
          </a:bodyPr>
          <a:lstStyle/>
          <a:p>
            <a:pPr marL="0" indent="0" algn="l">
              <a:lnSpc>
                <a:spcPts val="1960"/>
              </a:lnSpc>
              <a:buNone/>
            </a:pPr>
            <a:r>
              <a:rPr lang="en-US" sz="1400">
                <a:solidFill>
                  <a:srgbClr val="1D4699"/>
                </a:solidFill>
                <a:latin typeface="Verdana" panose="020B0604030504040204" pitchFamily="34" charset="0"/>
                <a:ea typeface="Verdana" panose="020B0604030504040204" pitchFamily="34" charset="0"/>
                <a:cs typeface="IBM Plex Sans" pitchFamily="34" charset="-120"/>
              </a:rPr>
              <a:t>k(x, x′) = |⟨ψ(x)|ψ(x′)⟩|²</a:t>
            </a:r>
            <a:endParaRPr lang="en-US" sz="1400">
              <a:latin typeface="Verdana" panose="020B0604030504040204" pitchFamily="34" charset="0"/>
            </a:endParaRPr>
          </a:p>
        </p:txBody>
      </p:sp>
      <p:sp>
        <p:nvSpPr>
          <p:cNvPr id="22" name="Text 17"/>
          <p:cNvSpPr/>
          <p:nvPr/>
        </p:nvSpPr>
        <p:spPr>
          <a:xfrm>
            <a:off x="1023813" y="3744268"/>
            <a:ext cx="3088342"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1 circuit per pair of molecules. Headline model, chosen by CV.</a:t>
            </a:r>
            <a:endParaRPr lang="en-US" sz="1200">
              <a:latin typeface="Verdana" panose="020B0604030504040204" pitchFamily="34" charset="0"/>
            </a:endParaRPr>
          </a:p>
        </p:txBody>
      </p:sp>
      <p:sp>
        <p:nvSpPr>
          <p:cNvPr id="23" name="Shape 18"/>
          <p:cNvSpPr/>
          <p:nvPr/>
        </p:nvSpPr>
        <p:spPr>
          <a:xfrm>
            <a:off x="4388768" y="2916734"/>
            <a:ext cx="3414340" cy="1462088"/>
          </a:xfrm>
          <a:prstGeom prst="roundRect">
            <a:avLst>
              <a:gd name="adj" fmla="val 6732"/>
            </a:avLst>
          </a:prstGeom>
          <a:solidFill>
            <a:srgbClr val="E6EDFA"/>
          </a:solidFill>
          <a:ln w="6350">
            <a:solidFill>
              <a:srgbClr val="C7D5F2"/>
            </a:solidFill>
            <a:prstDash val="solid"/>
          </a:ln>
        </p:spPr>
        <p:txBody>
          <a:bodyPr/>
          <a:lstStyle/>
          <a:p>
            <a:endParaRPr lang="en-CA">
              <a:latin typeface="Verdana" panose="020B0604030504040204" pitchFamily="34" charset="0"/>
            </a:endParaRPr>
          </a:p>
        </p:txBody>
      </p:sp>
      <p:sp>
        <p:nvSpPr>
          <p:cNvPr id="24" name="Text 19"/>
          <p:cNvSpPr/>
          <p:nvPr/>
        </p:nvSpPr>
        <p:spPr>
          <a:xfrm>
            <a:off x="4596681" y="3124646"/>
            <a:ext cx="3088470" cy="269106"/>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F1B2D"/>
                </a:solidFill>
                <a:latin typeface="Verdana Pro" panose="020F0502020204030204" pitchFamily="34" charset="0"/>
                <a:ea typeface="Space Grotesk" pitchFamily="34" charset="-122"/>
                <a:cs typeface="Space Grotesk" pitchFamily="34" charset="-120"/>
              </a:rPr>
              <a:t>Projected kernel</a:t>
            </a:r>
            <a:endParaRPr lang="en-US" sz="1600">
              <a:latin typeface="Verdana" panose="020B0604030504040204" pitchFamily="34" charset="0"/>
            </a:endParaRPr>
          </a:p>
        </p:txBody>
      </p:sp>
      <p:sp>
        <p:nvSpPr>
          <p:cNvPr id="25" name="Text 20"/>
          <p:cNvSpPr/>
          <p:nvPr/>
        </p:nvSpPr>
        <p:spPr>
          <a:xfrm>
            <a:off x="4596681" y="3431853"/>
            <a:ext cx="3088470" cy="274315"/>
          </a:xfrm>
          <a:prstGeom prst="rect">
            <a:avLst/>
          </a:prstGeom>
          <a:noFill/>
          <a:ln/>
        </p:spPr>
        <p:txBody>
          <a:bodyPr wrap="square" lIns="0" tIns="0" rIns="0" bIns="0" rtlCol="0" anchor="t">
            <a:normAutofit/>
          </a:bodyPr>
          <a:lstStyle/>
          <a:p>
            <a:pPr marL="0" indent="0" algn="l">
              <a:lnSpc>
                <a:spcPts val="1960"/>
              </a:lnSpc>
              <a:buNone/>
            </a:pPr>
            <a:r>
              <a:rPr lang="en-US" sz="1400">
                <a:solidFill>
                  <a:srgbClr val="1D4699"/>
                </a:solidFill>
                <a:latin typeface="Verdana" panose="020B0604030504040204" pitchFamily="34" charset="0"/>
                <a:ea typeface="Verdana" panose="020B0604030504040204" pitchFamily="34" charset="0"/>
                <a:cs typeface="IBM Plex Sans" pitchFamily="34" charset="-120"/>
              </a:rPr>
              <a:t>RBF on each qubit’s ⟨X⟩, ⟨Y⟩, ⟨Z⟩</a:t>
            </a:r>
            <a:endParaRPr lang="en-US" sz="1400">
              <a:latin typeface="Verdana" panose="020B0604030504040204" pitchFamily="34" charset="0"/>
            </a:endParaRPr>
          </a:p>
        </p:txBody>
      </p:sp>
      <p:sp>
        <p:nvSpPr>
          <p:cNvPr id="26" name="Text 21"/>
          <p:cNvSpPr/>
          <p:nvPr/>
        </p:nvSpPr>
        <p:spPr>
          <a:xfrm>
            <a:off x="4596681" y="3744268"/>
            <a:ext cx="3088470"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3 circuits per molecule. After Huang et al. (2021).</a:t>
            </a:r>
            <a:endParaRPr lang="en-US" sz="1200">
              <a:latin typeface="Verdana" panose="020B0604030504040204" pitchFamily="34" charset="0"/>
            </a:endParaRPr>
          </a:p>
        </p:txBody>
      </p:sp>
      <p:sp>
        <p:nvSpPr>
          <p:cNvPr id="27" name="Shape 22"/>
          <p:cNvSpPr/>
          <p:nvPr/>
        </p:nvSpPr>
        <p:spPr>
          <a:xfrm>
            <a:off x="7961759" y="2916734"/>
            <a:ext cx="3414340" cy="1462088"/>
          </a:xfrm>
          <a:prstGeom prst="roundRect">
            <a:avLst>
              <a:gd name="adj" fmla="val 6732"/>
            </a:avLst>
          </a:prstGeom>
          <a:solidFill>
            <a:srgbClr val="E6EDFA"/>
          </a:solidFill>
          <a:ln w="6350">
            <a:solidFill>
              <a:srgbClr val="C7D5F2"/>
            </a:solidFill>
            <a:prstDash val="solid"/>
          </a:ln>
        </p:spPr>
        <p:txBody>
          <a:bodyPr/>
          <a:lstStyle/>
          <a:p>
            <a:endParaRPr lang="en-CA">
              <a:latin typeface="Verdana" panose="020B0604030504040204" pitchFamily="34" charset="0"/>
            </a:endParaRPr>
          </a:p>
        </p:txBody>
      </p:sp>
      <p:sp>
        <p:nvSpPr>
          <p:cNvPr id="28" name="Text 23"/>
          <p:cNvSpPr/>
          <p:nvPr/>
        </p:nvSpPr>
        <p:spPr>
          <a:xfrm>
            <a:off x="8169672" y="3124646"/>
            <a:ext cx="3088470" cy="269106"/>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0F1B2D"/>
                </a:solidFill>
                <a:latin typeface="Verdana Pro" panose="020F0502020204030204" pitchFamily="34" charset="0"/>
                <a:ea typeface="Space Grotesk" pitchFamily="34" charset="-122"/>
                <a:cs typeface="Space Grotesk" pitchFamily="34" charset="-120"/>
              </a:rPr>
              <a:t>⟨Z⟩ feature ridge</a:t>
            </a:r>
            <a:endParaRPr lang="en-US" sz="1600">
              <a:latin typeface="Verdana" panose="020B0604030504040204" pitchFamily="34" charset="0"/>
            </a:endParaRPr>
          </a:p>
        </p:txBody>
      </p:sp>
      <p:sp>
        <p:nvSpPr>
          <p:cNvPr id="29" name="Text 24"/>
          <p:cNvSpPr/>
          <p:nvPr/>
        </p:nvSpPr>
        <p:spPr>
          <a:xfrm>
            <a:off x="8169672" y="3431853"/>
            <a:ext cx="3088470" cy="274315"/>
          </a:xfrm>
          <a:prstGeom prst="rect">
            <a:avLst/>
          </a:prstGeom>
          <a:noFill/>
          <a:ln/>
        </p:spPr>
        <p:txBody>
          <a:bodyPr wrap="square" lIns="0" tIns="0" rIns="0" bIns="0" rtlCol="0" anchor="t">
            <a:normAutofit/>
          </a:bodyPr>
          <a:lstStyle/>
          <a:p>
            <a:pPr marL="0" indent="0" algn="l">
              <a:lnSpc>
                <a:spcPts val="1960"/>
              </a:lnSpc>
              <a:buNone/>
            </a:pPr>
            <a:r>
              <a:rPr lang="en-US" sz="1400">
                <a:solidFill>
                  <a:srgbClr val="1D4699"/>
                </a:solidFill>
                <a:latin typeface="Verdana" panose="020B0604030504040204" pitchFamily="34" charset="0"/>
                <a:ea typeface="Verdana" panose="020B0604030504040204" pitchFamily="34" charset="0"/>
                <a:cs typeface="IBM Plex Sans" pitchFamily="34" charset="-120"/>
              </a:rPr>
              <a:t>one ⟨Z⟩ per qubit, then ridge</a:t>
            </a:r>
            <a:endParaRPr lang="en-US" sz="1400">
              <a:latin typeface="Verdana" panose="020B0604030504040204" pitchFamily="34" charset="0"/>
            </a:endParaRPr>
          </a:p>
        </p:txBody>
      </p:sp>
      <p:sp>
        <p:nvSpPr>
          <p:cNvPr id="30" name="Text 25"/>
          <p:cNvSpPr/>
          <p:nvPr/>
        </p:nvSpPr>
        <p:spPr>
          <a:xfrm>
            <a:off x="8169672" y="3744268"/>
            <a:ext cx="3088470" cy="452041"/>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1 circuit per molecule. The team’s original model; ran on IBM hardware.</a:t>
            </a:r>
            <a:endParaRPr lang="en-US" sz="1200">
              <a:latin typeface="Verdana" panose="020B0604030504040204" pitchFamily="34" charset="0"/>
            </a:endParaRPr>
          </a:p>
        </p:txBody>
      </p:sp>
      <p:sp>
        <p:nvSpPr>
          <p:cNvPr id="31" name="Text 26"/>
          <p:cNvSpPr/>
          <p:nvPr/>
        </p:nvSpPr>
        <p:spPr>
          <a:xfrm>
            <a:off x="812726" y="4610571"/>
            <a:ext cx="10883545" cy="503882"/>
          </a:xfrm>
          <a:prstGeom prst="rect">
            <a:avLst/>
          </a:prstGeom>
          <a:noFill/>
          <a:ln/>
        </p:spPr>
        <p:txBody>
          <a:bodyPr wrap="square" lIns="0" tIns="0" rIns="0" bIns="0" rtlCol="0" anchor="t">
            <a:normAutofit/>
          </a:bodyPr>
          <a:lstStyle/>
          <a:p>
            <a:pPr marL="0" indent="0" algn="l">
              <a:lnSpc>
                <a:spcPts val="1885"/>
              </a:lnSpc>
              <a:buNone/>
            </a:pPr>
            <a:r>
              <a:rPr lang="en-US" sz="1300">
                <a:solidFill>
                  <a:srgbClr val="4A5568"/>
                </a:solidFill>
                <a:latin typeface="Verdana" panose="020B0604030504040204" pitchFamily="34" charset="0"/>
                <a:ea typeface="Verdana" panose="020B0604030504040204" pitchFamily="34" charset="0"/>
                <a:cs typeface="IBM Plex Sans" pitchFamily="34" charset="-120"/>
              </a:rPr>
              <a:t>Each readout feeds kernel ridge or ridge regression on √|μ|, mapped back to debye; the angle scale γ and penalty α are tuned by 5-fold CV. Controls: two more encoders, and a product-state kernel with no entangling gates.</a:t>
            </a:r>
            <a:endParaRPr lang="en-US" sz="1300">
              <a:latin typeface="Verdana" panose="020B0604030504040204" pitchFamily="34" charset="0"/>
            </a:endParaRPr>
          </a:p>
        </p:txBody>
      </p:sp>
      <p:sp>
        <p:nvSpPr>
          <p:cNvPr id="33" name="TextBox 32">
            <a:extLst>
              <a:ext uri="{FF2B5EF4-FFF2-40B4-BE49-F238E27FC236}">
                <a16:creationId xmlns:a16="http://schemas.microsoft.com/office/drawing/2014/main" id="{BD69A43D-D3DE-0003-96FB-A947E2B85F73}"/>
              </a:ext>
            </a:extLst>
          </p:cNvPr>
          <p:cNvSpPr txBox="1"/>
          <p:nvPr/>
        </p:nvSpPr>
        <p:spPr>
          <a:xfrm>
            <a:off x="11353800" y="142376"/>
            <a:ext cx="6096000" cy="238527"/>
          </a:xfrm>
          <a:prstGeom prst="rect">
            <a:avLst/>
          </a:prstGeom>
          <a:noFill/>
        </p:spPr>
        <p:txBody>
          <a:bodyPr wrap="square">
            <a:spAutoFit/>
          </a:bodyPr>
          <a:lstStyle/>
          <a:p>
            <a:r>
              <a:rPr lang="en-CA" sz="950" b="1" i="0">
                <a:solidFill>
                  <a:schemeClr val="accent3"/>
                </a:solidFill>
                <a:latin typeface="Verdana"/>
              </a:rPr>
              <a:t>TRACK B </a:t>
            </a:r>
            <a:endParaRPr lang="en-CA">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a:spLocks noGrp="1"/>
          </p:cNvSpPr>
          <p:nvPr>
            <p:ph type="title"/>
          </p:nvPr>
        </p:nvSpPr>
        <p:spPr>
          <a:xfrm>
            <a:off x="676656" y="573512"/>
            <a:ext cx="10561320" cy="548640"/>
          </a:xfrm>
          <a:prstGeom prst="rect">
            <a:avLst/>
          </a:prstGeom>
          <a:noFill/>
          <a:ln/>
        </p:spPr>
        <p:txBody>
          <a:bodyPr wrap="square" lIns="0" tIns="0" rIns="0" bIns="0" rtlCol="0" anchor="t">
            <a:noAutofit/>
          </a:bodyPr>
          <a:lstStyle/>
          <a:p>
            <a:pPr marL="0" indent="0" algn="l">
              <a:buNone/>
            </a:pPr>
            <a:r>
              <a:rPr lang="en-US" sz="2400" b="1">
                <a:solidFill>
                  <a:srgbClr val="0F1B2D"/>
                </a:solidFill>
                <a:latin typeface="Verdana Pro"/>
                <a:ea typeface="Verdana Pro"/>
                <a:cs typeface="Verdana Pro"/>
              </a:rPr>
              <a:t>Quantum Models</a:t>
            </a:r>
            <a:endParaRPr lang="en-US" sz="2400"/>
          </a:p>
        </p:txBody>
      </p:sp>
      <p:sp>
        <p:nvSpPr>
          <p:cNvPr id="5" name="Card 5"/>
          <p:cNvSpPr/>
          <p:nvPr/>
        </p:nvSpPr>
        <p:spPr>
          <a:xfrm>
            <a:off x="813816" y="1691640"/>
            <a:ext cx="1783080" cy="914400"/>
          </a:xfrm>
          <a:prstGeom prst="roundRect">
            <a:avLst>
              <a:gd name="adj" fmla="val 9576"/>
            </a:avLst>
          </a:prstGeom>
          <a:solidFill>
            <a:srgbClr val="FDFCF9"/>
          </a:solidFill>
          <a:ln w="6350">
            <a:solidFill>
              <a:srgbClr val="E2DED5"/>
            </a:solidFill>
          </a:ln>
        </p:spPr>
        <p:txBody>
          <a:bodyPr/>
          <a:lstStyle/>
          <a:p>
            <a:endParaRPr lang="en-US"/>
          </a:p>
        </p:txBody>
      </p:sp>
      <p:sp>
        <p:nvSpPr>
          <p:cNvPr id="6" name="Text 6"/>
          <p:cNvSpPr txBox="1"/>
          <p:nvPr/>
        </p:nvSpPr>
        <p:spPr>
          <a:xfrm>
            <a:off x="950976" y="1801368"/>
            <a:ext cx="1508760" cy="219456"/>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Input</a:t>
            </a:r>
            <a:endParaRPr lang="en-US" sz="1100"/>
          </a:p>
        </p:txBody>
      </p:sp>
      <p:sp>
        <p:nvSpPr>
          <p:cNvPr id="7" name="Text 7"/>
          <p:cNvSpPr txBox="1"/>
          <p:nvPr/>
        </p:nvSpPr>
        <p:spPr>
          <a:xfrm>
            <a:off x="950976" y="2039112"/>
            <a:ext cx="1508760" cy="502920"/>
          </a:xfrm>
          <a:prstGeom prst="rect">
            <a:avLst/>
          </a:prstGeom>
          <a:noFill/>
          <a:ln/>
        </p:spPr>
        <p:txBody>
          <a:bodyPr wrap="square" lIns="0" tIns="0" rIns="0" bIns="0" rtlCol="0" anchor="t">
            <a:noAutofit/>
          </a:bodyPr>
          <a:lstStyle/>
          <a:p>
            <a:pPr marL="0" indent="0" algn="l">
              <a:lnSpc>
                <a:spcPct val="100000"/>
              </a:lnSpc>
              <a:buNone/>
            </a:pPr>
            <a:r>
              <a:rPr lang="en-US" sz="1200" b="0">
                <a:solidFill>
                  <a:srgbClr val="1B2433"/>
                </a:solidFill>
                <a:latin typeface="Verdana"/>
                <a:ea typeface="Verdana"/>
                <a:cs typeface="Verdana"/>
              </a:rPr>
              <a:t>Atoms Z, coordinates R</a:t>
            </a:r>
            <a:endParaRPr lang="en-US" sz="1200"/>
          </a:p>
        </p:txBody>
      </p:sp>
      <p:pic>
        <p:nvPicPr>
          <p:cNvPr id="8" name="Picture 8" descr="arrow-right"/>
          <p:cNvPicPr>
            <a:picLocks noChangeAspect="1"/>
          </p:cNvPicPr>
          <p:nvPr/>
        </p:nvPicPr>
        <p:blipFill>
          <a:blip r:embed="rId3"/>
          <a:stretch>
            <a:fillRect/>
          </a:stretch>
        </p:blipFill>
        <p:spPr>
          <a:xfrm>
            <a:off x="2651760" y="2075688"/>
            <a:ext cx="304495" cy="152705"/>
          </a:xfrm>
          <a:prstGeom prst="rect">
            <a:avLst/>
          </a:prstGeom>
        </p:spPr>
      </p:pic>
      <p:sp>
        <p:nvSpPr>
          <p:cNvPr id="9" name="Card 9"/>
          <p:cNvSpPr/>
          <p:nvPr/>
        </p:nvSpPr>
        <p:spPr>
          <a:xfrm>
            <a:off x="3008376" y="1691640"/>
            <a:ext cx="1783080" cy="914400"/>
          </a:xfrm>
          <a:prstGeom prst="roundRect">
            <a:avLst>
              <a:gd name="adj" fmla="val 9576"/>
            </a:avLst>
          </a:prstGeom>
          <a:solidFill>
            <a:srgbClr val="FDFCF9"/>
          </a:solidFill>
          <a:ln w="6350">
            <a:solidFill>
              <a:srgbClr val="E2DED5"/>
            </a:solidFill>
          </a:ln>
        </p:spPr>
        <p:txBody>
          <a:bodyPr/>
          <a:lstStyle/>
          <a:p>
            <a:endParaRPr lang="en-US"/>
          </a:p>
        </p:txBody>
      </p:sp>
      <p:sp>
        <p:nvSpPr>
          <p:cNvPr id="10" name="Text 10"/>
          <p:cNvSpPr txBox="1"/>
          <p:nvPr/>
        </p:nvSpPr>
        <p:spPr>
          <a:xfrm>
            <a:off x="3145536" y="1801368"/>
            <a:ext cx="1508760" cy="219456"/>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Features</a:t>
            </a:r>
            <a:endParaRPr lang="en-US" sz="1100"/>
          </a:p>
        </p:txBody>
      </p:sp>
      <p:sp>
        <p:nvSpPr>
          <p:cNvPr id="11" name="Text 11"/>
          <p:cNvSpPr txBox="1"/>
          <p:nvPr/>
        </p:nvSpPr>
        <p:spPr>
          <a:xfrm>
            <a:off x="3145536" y="2039112"/>
            <a:ext cx="1508760" cy="502920"/>
          </a:xfrm>
          <a:prstGeom prst="rect">
            <a:avLst/>
          </a:prstGeom>
          <a:noFill/>
          <a:ln/>
        </p:spPr>
        <p:txBody>
          <a:bodyPr wrap="square" lIns="0" tIns="0" rIns="0" bIns="0" rtlCol="0" anchor="t">
            <a:noAutofit/>
          </a:bodyPr>
          <a:lstStyle/>
          <a:p>
            <a:pPr marL="0" indent="0" algn="l">
              <a:lnSpc>
                <a:spcPct val="100000"/>
              </a:lnSpc>
              <a:buNone/>
            </a:pPr>
            <a:r>
              <a:rPr lang="en-US" sz="1200" b="0">
                <a:solidFill>
                  <a:srgbClr val="1B2433"/>
                </a:solidFill>
                <a:latin typeface="Verdana"/>
                <a:ea typeface="Verdana"/>
                <a:cs typeface="Verdana"/>
              </a:rPr>
              <a:t>188 numbers per molecule</a:t>
            </a:r>
            <a:endParaRPr lang="en-US" sz="1200"/>
          </a:p>
        </p:txBody>
      </p:sp>
      <p:pic>
        <p:nvPicPr>
          <p:cNvPr id="12" name="Picture 12" descr="arrow-right"/>
          <p:cNvPicPr>
            <a:picLocks noChangeAspect="1"/>
          </p:cNvPicPr>
          <p:nvPr/>
        </p:nvPicPr>
        <p:blipFill>
          <a:blip r:embed="rId3"/>
          <a:stretch>
            <a:fillRect/>
          </a:stretch>
        </p:blipFill>
        <p:spPr>
          <a:xfrm>
            <a:off x="4846320" y="2075688"/>
            <a:ext cx="304495" cy="152705"/>
          </a:xfrm>
          <a:prstGeom prst="rect">
            <a:avLst/>
          </a:prstGeom>
        </p:spPr>
      </p:pic>
      <p:sp>
        <p:nvSpPr>
          <p:cNvPr id="13" name="Card 13"/>
          <p:cNvSpPr/>
          <p:nvPr/>
        </p:nvSpPr>
        <p:spPr>
          <a:xfrm>
            <a:off x="5202936" y="1691640"/>
            <a:ext cx="1783080" cy="914400"/>
          </a:xfrm>
          <a:prstGeom prst="roundRect">
            <a:avLst>
              <a:gd name="adj" fmla="val 9576"/>
            </a:avLst>
          </a:prstGeom>
          <a:solidFill>
            <a:srgbClr val="FDFCF9"/>
          </a:solidFill>
          <a:ln w="6350">
            <a:solidFill>
              <a:srgbClr val="E2DED5"/>
            </a:solidFill>
          </a:ln>
        </p:spPr>
        <p:txBody>
          <a:bodyPr/>
          <a:lstStyle/>
          <a:p>
            <a:endParaRPr lang="en-US"/>
          </a:p>
        </p:txBody>
      </p:sp>
      <p:sp>
        <p:nvSpPr>
          <p:cNvPr id="14" name="Text 14"/>
          <p:cNvSpPr txBox="1"/>
          <p:nvPr/>
        </p:nvSpPr>
        <p:spPr>
          <a:xfrm>
            <a:off x="5340096" y="1801368"/>
            <a:ext cx="1508760" cy="219456"/>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Compression</a:t>
            </a:r>
            <a:endParaRPr lang="en-US" sz="1100"/>
          </a:p>
        </p:txBody>
      </p:sp>
      <p:sp>
        <p:nvSpPr>
          <p:cNvPr id="15" name="Text 15"/>
          <p:cNvSpPr txBox="1"/>
          <p:nvPr/>
        </p:nvSpPr>
        <p:spPr>
          <a:xfrm>
            <a:off x="5340096" y="2039112"/>
            <a:ext cx="1508760" cy="502920"/>
          </a:xfrm>
          <a:prstGeom prst="rect">
            <a:avLst/>
          </a:prstGeom>
          <a:noFill/>
          <a:ln/>
        </p:spPr>
        <p:txBody>
          <a:bodyPr wrap="square" lIns="0" tIns="0" rIns="0" bIns="0" rtlCol="0" anchor="t">
            <a:noAutofit/>
          </a:bodyPr>
          <a:lstStyle/>
          <a:p>
            <a:pPr marL="0" indent="0" algn="l">
              <a:lnSpc>
                <a:spcPct val="100000"/>
              </a:lnSpc>
              <a:buNone/>
            </a:pPr>
            <a:r>
              <a:rPr lang="en-US" sz="1200" b="0">
                <a:solidFill>
                  <a:srgbClr val="1B2433"/>
                </a:solidFill>
                <a:latin typeface="Verdana"/>
                <a:ea typeface="Verdana"/>
                <a:cs typeface="Verdana"/>
              </a:rPr>
              <a:t>Scaling + PLS: 10 numbers</a:t>
            </a:r>
            <a:endParaRPr lang="en-US" sz="1200"/>
          </a:p>
        </p:txBody>
      </p:sp>
      <p:pic>
        <p:nvPicPr>
          <p:cNvPr id="16" name="Picture 16" descr="arrow-right"/>
          <p:cNvPicPr>
            <a:picLocks noChangeAspect="1"/>
          </p:cNvPicPr>
          <p:nvPr/>
        </p:nvPicPr>
        <p:blipFill>
          <a:blip r:embed="rId3"/>
          <a:stretch>
            <a:fillRect/>
          </a:stretch>
        </p:blipFill>
        <p:spPr>
          <a:xfrm>
            <a:off x="7040880" y="2075688"/>
            <a:ext cx="304495" cy="152705"/>
          </a:xfrm>
          <a:prstGeom prst="rect">
            <a:avLst/>
          </a:prstGeom>
        </p:spPr>
      </p:pic>
      <p:sp>
        <p:nvSpPr>
          <p:cNvPr id="17" name="Card 17"/>
          <p:cNvSpPr/>
          <p:nvPr/>
        </p:nvSpPr>
        <p:spPr>
          <a:xfrm>
            <a:off x="7397496" y="1691640"/>
            <a:ext cx="1783080" cy="914400"/>
          </a:xfrm>
          <a:prstGeom prst="roundRect">
            <a:avLst>
              <a:gd name="adj" fmla="val 9576"/>
            </a:avLst>
          </a:prstGeom>
          <a:solidFill>
            <a:srgbClr val="FDFCF9"/>
          </a:solidFill>
          <a:ln w="6350">
            <a:solidFill>
              <a:srgbClr val="E2DED5"/>
            </a:solidFill>
          </a:ln>
        </p:spPr>
        <p:txBody>
          <a:bodyPr/>
          <a:lstStyle/>
          <a:p>
            <a:endParaRPr lang="en-US"/>
          </a:p>
        </p:txBody>
      </p:sp>
      <p:sp>
        <p:nvSpPr>
          <p:cNvPr id="18" name="Text 18"/>
          <p:cNvSpPr txBox="1"/>
          <p:nvPr/>
        </p:nvSpPr>
        <p:spPr>
          <a:xfrm>
            <a:off x="7534656" y="1801368"/>
            <a:ext cx="1508760" cy="219456"/>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Angles</a:t>
            </a:r>
            <a:endParaRPr lang="en-US" sz="1100"/>
          </a:p>
        </p:txBody>
      </p:sp>
      <p:sp>
        <p:nvSpPr>
          <p:cNvPr id="19" name="Text 19"/>
          <p:cNvSpPr txBox="1"/>
          <p:nvPr/>
        </p:nvSpPr>
        <p:spPr>
          <a:xfrm>
            <a:off x="7534656" y="2039112"/>
            <a:ext cx="1508760" cy="502920"/>
          </a:xfrm>
          <a:prstGeom prst="rect">
            <a:avLst/>
          </a:prstGeom>
          <a:noFill/>
          <a:ln/>
        </p:spPr>
        <p:txBody>
          <a:bodyPr wrap="square" lIns="0" tIns="0" rIns="0" bIns="0" rtlCol="0" anchor="t">
            <a:noAutofit/>
          </a:bodyPr>
          <a:lstStyle/>
          <a:p>
            <a:pPr marL="0" indent="0" algn="l">
              <a:lnSpc>
                <a:spcPct val="100000"/>
              </a:lnSpc>
              <a:buNone/>
            </a:pPr>
            <a:r>
              <a:rPr lang="en-US" sz="1200" b="0">
                <a:solidFill>
                  <a:srgbClr val="1B2433"/>
                </a:solidFill>
                <a:latin typeface="Verdana"/>
                <a:ea typeface="Verdana"/>
                <a:cs typeface="Verdana"/>
              </a:rPr>
              <a:t>× angle scale γ (0.020)</a:t>
            </a:r>
            <a:endParaRPr lang="en-US" sz="1200"/>
          </a:p>
        </p:txBody>
      </p:sp>
      <p:pic>
        <p:nvPicPr>
          <p:cNvPr id="20" name="Picture 20" descr="arrow-right"/>
          <p:cNvPicPr>
            <a:picLocks noChangeAspect="1"/>
          </p:cNvPicPr>
          <p:nvPr/>
        </p:nvPicPr>
        <p:blipFill>
          <a:blip r:embed="rId3"/>
          <a:stretch>
            <a:fillRect/>
          </a:stretch>
        </p:blipFill>
        <p:spPr>
          <a:xfrm>
            <a:off x="9235440" y="2075688"/>
            <a:ext cx="304495" cy="152705"/>
          </a:xfrm>
          <a:prstGeom prst="rect">
            <a:avLst/>
          </a:prstGeom>
        </p:spPr>
      </p:pic>
      <p:sp>
        <p:nvSpPr>
          <p:cNvPr id="21" name="Card 21"/>
          <p:cNvSpPr/>
          <p:nvPr/>
        </p:nvSpPr>
        <p:spPr>
          <a:xfrm>
            <a:off x="9592056" y="1691640"/>
            <a:ext cx="1783080" cy="914400"/>
          </a:xfrm>
          <a:prstGeom prst="roundRect">
            <a:avLst>
              <a:gd name="adj" fmla="val 9576"/>
            </a:avLst>
          </a:prstGeom>
          <a:solidFill>
            <a:srgbClr val="2558C0"/>
          </a:solidFill>
          <a:ln>
            <a:noFill/>
          </a:ln>
        </p:spPr>
        <p:txBody>
          <a:bodyPr/>
          <a:lstStyle/>
          <a:p>
            <a:endParaRPr lang="en-US"/>
          </a:p>
        </p:txBody>
      </p:sp>
      <p:sp>
        <p:nvSpPr>
          <p:cNvPr id="22" name="Text 22"/>
          <p:cNvSpPr txBox="1"/>
          <p:nvPr/>
        </p:nvSpPr>
        <p:spPr>
          <a:xfrm>
            <a:off x="9729216" y="1801368"/>
            <a:ext cx="1508760" cy="219456"/>
          </a:xfrm>
          <a:prstGeom prst="rect">
            <a:avLst/>
          </a:prstGeom>
          <a:noFill/>
          <a:ln/>
        </p:spPr>
        <p:txBody>
          <a:bodyPr wrap="square" lIns="0" tIns="0" rIns="0" bIns="0" rtlCol="0" anchor="t">
            <a:noAutofit/>
          </a:bodyPr>
          <a:lstStyle/>
          <a:p>
            <a:pPr marL="0" indent="0" algn="l">
              <a:buNone/>
            </a:pPr>
            <a:r>
              <a:rPr lang="en-US" sz="1100" b="0">
                <a:solidFill>
                  <a:srgbClr val="D6E2FA"/>
                </a:solidFill>
                <a:latin typeface="Verdana"/>
                <a:ea typeface="Verdana"/>
                <a:cs typeface="Verdana"/>
              </a:rPr>
              <a:t>Circuit</a:t>
            </a:r>
            <a:endParaRPr lang="en-US" sz="1100"/>
          </a:p>
        </p:txBody>
      </p:sp>
      <p:sp>
        <p:nvSpPr>
          <p:cNvPr id="23" name="Text 23"/>
          <p:cNvSpPr txBox="1"/>
          <p:nvPr/>
        </p:nvSpPr>
        <p:spPr>
          <a:xfrm>
            <a:off x="9729216" y="2039112"/>
            <a:ext cx="1508760" cy="502920"/>
          </a:xfrm>
          <a:prstGeom prst="rect">
            <a:avLst/>
          </a:prstGeom>
          <a:noFill/>
          <a:ln/>
        </p:spPr>
        <p:txBody>
          <a:bodyPr wrap="square" lIns="0" tIns="0" rIns="0" bIns="0" rtlCol="0" anchor="t">
            <a:noAutofit/>
          </a:bodyPr>
          <a:lstStyle/>
          <a:p>
            <a:pPr marL="0" indent="0" algn="l">
              <a:lnSpc>
                <a:spcPct val="100000"/>
              </a:lnSpc>
              <a:buNone/>
            </a:pPr>
            <a:r>
              <a:rPr lang="en-US" sz="1200" b="0">
                <a:solidFill>
                  <a:srgbClr val="FDFCF9"/>
                </a:solidFill>
                <a:latin typeface="Verdana"/>
                <a:ea typeface="Verdana"/>
                <a:cs typeface="Verdana"/>
              </a:rPr>
              <a:t>10 qubits, 2 passes</a:t>
            </a:r>
            <a:endParaRPr lang="en-US" sz="1200"/>
          </a:p>
        </p:txBody>
      </p:sp>
      <p:pic>
        <p:nvPicPr>
          <p:cNvPr id="24" name="Picture 24" descr="One pass of the ZZ encoding circuit on 4 qubits"/>
          <p:cNvPicPr>
            <a:picLocks noChangeAspect="1"/>
          </p:cNvPicPr>
          <p:nvPr/>
        </p:nvPicPr>
        <p:blipFill>
          <a:blip r:embed="rId4"/>
          <a:stretch>
            <a:fillRect/>
          </a:stretch>
        </p:blipFill>
        <p:spPr>
          <a:xfrm>
            <a:off x="813816" y="2880360"/>
            <a:ext cx="6949440" cy="1504960"/>
          </a:xfrm>
          <a:prstGeom prst="rect">
            <a:avLst/>
          </a:prstGeom>
        </p:spPr>
      </p:pic>
      <p:sp>
        <p:nvSpPr>
          <p:cNvPr id="25" name="Text 25"/>
          <p:cNvSpPr txBox="1"/>
          <p:nvPr/>
        </p:nvSpPr>
        <p:spPr>
          <a:xfrm>
            <a:off x="813816" y="4440184"/>
            <a:ext cx="6949440" cy="274320"/>
          </a:xfrm>
          <a:prstGeom prst="rect">
            <a:avLst/>
          </a:prstGeom>
          <a:noFill/>
          <a:ln/>
        </p:spPr>
        <p:txBody>
          <a:bodyPr wrap="square" lIns="0" tIns="0" rIns="0" bIns="0" rtlCol="0" anchor="t">
            <a:noAutofit/>
          </a:bodyPr>
          <a:lstStyle/>
          <a:p>
            <a:pPr marL="0" indent="0" algn="l">
              <a:lnSpc>
                <a:spcPct val="105000"/>
              </a:lnSpc>
              <a:buNone/>
            </a:pPr>
            <a:r>
              <a:rPr lang="en-US" sz="1050" b="0">
                <a:solidFill>
                  <a:srgbClr val="6B7280"/>
                </a:solidFill>
                <a:latin typeface="Verdana"/>
                <a:ea typeface="Verdana"/>
                <a:cs typeface="Verdana"/>
              </a:rPr>
              <a:t>One pass of the ZZ encoder, drawn for 4 of the 10 qubits. x[i] = γ × input i.</a:t>
            </a:r>
            <a:endParaRPr lang="en-US" sz="1050"/>
          </a:p>
        </p:txBody>
      </p:sp>
      <p:sp>
        <p:nvSpPr>
          <p:cNvPr id="26" name="Text 26"/>
          <p:cNvSpPr txBox="1"/>
          <p:nvPr/>
        </p:nvSpPr>
        <p:spPr>
          <a:xfrm>
            <a:off x="813816" y="4937760"/>
            <a:ext cx="6949440" cy="822960"/>
          </a:xfrm>
          <a:prstGeom prst="rect">
            <a:avLst/>
          </a:prstGeom>
          <a:noFill/>
          <a:ln/>
        </p:spPr>
        <p:txBody>
          <a:bodyPr wrap="square" lIns="0" tIns="0" rIns="0" bIns="0" rtlCol="0" anchor="t">
            <a:noAutofit/>
          </a:bodyPr>
          <a:lstStyle/>
          <a:p>
            <a:pPr marL="0" indent="0" algn="l">
              <a:lnSpc>
                <a:spcPct val="110000"/>
              </a:lnSpc>
              <a:buNone/>
            </a:pPr>
            <a:r>
              <a:rPr lang="en-US" sz="1300" b="0">
                <a:solidFill>
                  <a:srgbClr val="4A5568"/>
                </a:solidFill>
                <a:latin typeface="Verdana"/>
                <a:ea typeface="Verdana"/>
                <a:cs typeface="Verdana"/>
              </a:rPr>
              <a:t>The pass runs twice on 10 qubits (36 two-qubit gates). The output is a quantum state of 1,024 amplitudes</a:t>
            </a:r>
            <a:r>
              <a:rPr lang="en-US" sz="1300">
                <a:solidFill>
                  <a:srgbClr val="4A5568"/>
                </a:solidFill>
                <a:latin typeface="Verdana"/>
                <a:ea typeface="Verdana"/>
                <a:cs typeface="Verdana"/>
              </a:rPr>
              <a:t>. </a:t>
            </a:r>
            <a:endParaRPr lang="en-US" sz="1300"/>
          </a:p>
        </p:txBody>
      </p:sp>
      <p:sp>
        <p:nvSpPr>
          <p:cNvPr id="27" name="Card 27"/>
          <p:cNvSpPr/>
          <p:nvPr/>
        </p:nvSpPr>
        <p:spPr>
          <a:xfrm>
            <a:off x="8001000" y="2880360"/>
            <a:ext cx="3374136" cy="2697480"/>
          </a:xfrm>
          <a:prstGeom prst="roundRect">
            <a:avLst>
              <a:gd name="adj" fmla="val 9576"/>
            </a:avLst>
          </a:prstGeom>
          <a:solidFill>
            <a:srgbClr val="FDFCF9"/>
          </a:solidFill>
          <a:ln w="6350">
            <a:solidFill>
              <a:srgbClr val="E2DED5"/>
            </a:solidFill>
          </a:ln>
        </p:spPr>
        <p:txBody>
          <a:bodyPr/>
          <a:lstStyle/>
          <a:p>
            <a:endParaRPr lang="en-US"/>
          </a:p>
        </p:txBody>
      </p:sp>
      <p:sp>
        <p:nvSpPr>
          <p:cNvPr id="28" name="Text 28"/>
          <p:cNvSpPr txBox="1"/>
          <p:nvPr/>
        </p:nvSpPr>
        <p:spPr>
          <a:xfrm>
            <a:off x="8202168" y="3063240"/>
            <a:ext cx="2971800" cy="274320"/>
          </a:xfrm>
          <a:prstGeom prst="rect">
            <a:avLst/>
          </a:prstGeom>
          <a:noFill/>
          <a:ln/>
        </p:spPr>
        <p:txBody>
          <a:bodyPr wrap="square" lIns="0" tIns="0" rIns="0" bIns="0" rtlCol="0" anchor="t">
            <a:noAutofit/>
          </a:bodyPr>
          <a:lstStyle/>
          <a:p>
            <a:pPr marL="0" indent="0" algn="l">
              <a:buNone/>
            </a:pPr>
            <a:r>
              <a:rPr lang="en-US" sz="1300" b="1">
                <a:solidFill>
                  <a:srgbClr val="1D4699"/>
                </a:solidFill>
                <a:latin typeface="Verdana"/>
                <a:ea typeface="Verdana"/>
                <a:cs typeface="Verdana"/>
              </a:rPr>
              <a:t>H</a:t>
            </a:r>
            <a:endParaRPr lang="en-US" sz="1300"/>
          </a:p>
        </p:txBody>
      </p:sp>
      <p:sp>
        <p:nvSpPr>
          <p:cNvPr id="29" name="Text 29"/>
          <p:cNvSpPr txBox="1"/>
          <p:nvPr/>
        </p:nvSpPr>
        <p:spPr>
          <a:xfrm>
            <a:off x="8202168" y="3355848"/>
            <a:ext cx="2971800" cy="457200"/>
          </a:xfrm>
          <a:prstGeom prst="rect">
            <a:avLst/>
          </a:prstGeom>
          <a:noFill/>
          <a:ln/>
        </p:spPr>
        <p:txBody>
          <a:bodyPr wrap="square" lIns="0" tIns="0" rIns="0" bIns="0" rtlCol="0" anchor="t">
            <a:noAutofit/>
          </a:bodyPr>
          <a:lstStyle/>
          <a:p>
            <a:pPr marL="0" indent="0" algn="l">
              <a:lnSpc>
                <a:spcPct val="105000"/>
              </a:lnSpc>
              <a:buNone/>
            </a:pPr>
            <a:r>
              <a:rPr lang="en-US" sz="1150" b="0">
                <a:solidFill>
                  <a:srgbClr val="4A5568"/>
                </a:solidFill>
                <a:latin typeface="Verdana"/>
                <a:ea typeface="Verdana"/>
                <a:cs typeface="Verdana"/>
              </a:rPr>
              <a:t>Equal mix of 0 and 1 on every qubit</a:t>
            </a:r>
            <a:endParaRPr lang="en-US" sz="1150"/>
          </a:p>
        </p:txBody>
      </p:sp>
      <p:sp>
        <p:nvSpPr>
          <p:cNvPr id="30" name="Text 30"/>
          <p:cNvSpPr txBox="1"/>
          <p:nvPr/>
        </p:nvSpPr>
        <p:spPr>
          <a:xfrm>
            <a:off x="8202168" y="3886200"/>
            <a:ext cx="2971800" cy="274320"/>
          </a:xfrm>
          <a:prstGeom prst="rect">
            <a:avLst/>
          </a:prstGeom>
          <a:noFill/>
          <a:ln/>
        </p:spPr>
        <p:txBody>
          <a:bodyPr wrap="square" lIns="0" tIns="0" rIns="0" bIns="0" rtlCol="0" anchor="t">
            <a:noAutofit/>
          </a:bodyPr>
          <a:lstStyle/>
          <a:p>
            <a:pPr marL="0" indent="0" algn="l">
              <a:buNone/>
            </a:pPr>
            <a:r>
              <a:rPr lang="en-US" sz="1300" b="1">
                <a:solidFill>
                  <a:srgbClr val="1D4699"/>
                </a:solidFill>
                <a:latin typeface="Verdana"/>
                <a:ea typeface="Verdana"/>
                <a:cs typeface="Verdana"/>
              </a:rPr>
              <a:t>P(2·x[i])</a:t>
            </a:r>
            <a:endParaRPr lang="en-US" sz="1300"/>
          </a:p>
        </p:txBody>
      </p:sp>
      <p:sp>
        <p:nvSpPr>
          <p:cNvPr id="31" name="Text 31"/>
          <p:cNvSpPr txBox="1"/>
          <p:nvPr/>
        </p:nvSpPr>
        <p:spPr>
          <a:xfrm>
            <a:off x="8202168" y="4178808"/>
            <a:ext cx="2971800" cy="457200"/>
          </a:xfrm>
          <a:prstGeom prst="rect">
            <a:avLst/>
          </a:prstGeom>
          <a:noFill/>
          <a:ln/>
        </p:spPr>
        <p:txBody>
          <a:bodyPr wrap="square" lIns="0" tIns="0" rIns="0" bIns="0" rtlCol="0" anchor="t">
            <a:noAutofit/>
          </a:bodyPr>
          <a:lstStyle/>
          <a:p>
            <a:pPr marL="0" indent="0" algn="l">
              <a:lnSpc>
                <a:spcPct val="105000"/>
              </a:lnSpc>
              <a:buNone/>
            </a:pPr>
            <a:r>
              <a:rPr lang="en-US" sz="1150" b="0">
                <a:solidFill>
                  <a:srgbClr val="4A5568"/>
                </a:solidFill>
                <a:latin typeface="Verdana"/>
                <a:ea typeface="Verdana"/>
                <a:cs typeface="Verdana"/>
              </a:rPr>
              <a:t>Turns a qubit's phase by an amount set by one input</a:t>
            </a:r>
            <a:endParaRPr lang="en-US" sz="1150"/>
          </a:p>
        </p:txBody>
      </p:sp>
      <p:sp>
        <p:nvSpPr>
          <p:cNvPr id="32" name="Text 32"/>
          <p:cNvSpPr txBox="1"/>
          <p:nvPr/>
        </p:nvSpPr>
        <p:spPr>
          <a:xfrm>
            <a:off x="8202168" y="4709160"/>
            <a:ext cx="2971800" cy="274320"/>
          </a:xfrm>
          <a:prstGeom prst="rect">
            <a:avLst/>
          </a:prstGeom>
          <a:noFill/>
          <a:ln/>
        </p:spPr>
        <p:txBody>
          <a:bodyPr wrap="square" lIns="0" tIns="0" rIns="0" bIns="0" rtlCol="0" anchor="t">
            <a:noAutofit/>
          </a:bodyPr>
          <a:lstStyle/>
          <a:p>
            <a:pPr marL="0" indent="0" algn="l">
              <a:buNone/>
            </a:pPr>
            <a:r>
              <a:rPr lang="en-US" sz="1300" b="1">
                <a:solidFill>
                  <a:srgbClr val="1D4699"/>
                </a:solidFill>
                <a:latin typeface="Verdana"/>
                <a:ea typeface="Verdana"/>
                <a:cs typeface="Verdana"/>
              </a:rPr>
              <a:t>⊕ – P – ⊕</a:t>
            </a:r>
            <a:endParaRPr lang="en-US" sz="1300"/>
          </a:p>
        </p:txBody>
      </p:sp>
      <p:sp>
        <p:nvSpPr>
          <p:cNvPr id="33" name="Text 33"/>
          <p:cNvSpPr txBox="1"/>
          <p:nvPr/>
        </p:nvSpPr>
        <p:spPr>
          <a:xfrm>
            <a:off x="8202168" y="5001768"/>
            <a:ext cx="2971800" cy="457200"/>
          </a:xfrm>
          <a:prstGeom prst="rect">
            <a:avLst/>
          </a:prstGeom>
          <a:noFill/>
          <a:ln/>
        </p:spPr>
        <p:txBody>
          <a:bodyPr wrap="square" lIns="0" tIns="0" rIns="0" bIns="0" rtlCol="0" anchor="t">
            <a:noAutofit/>
          </a:bodyPr>
          <a:lstStyle/>
          <a:p>
            <a:pPr marL="0" indent="0" algn="l">
              <a:lnSpc>
                <a:spcPct val="105000"/>
              </a:lnSpc>
              <a:buNone/>
            </a:pPr>
            <a:r>
              <a:rPr lang="en-US" sz="1150" b="0">
                <a:solidFill>
                  <a:srgbClr val="4A5568"/>
                </a:solidFill>
                <a:latin typeface="Verdana"/>
                <a:ea typeface="Verdana"/>
                <a:cs typeface="Verdana"/>
              </a:rPr>
              <a:t>Entangling block: adds a phase set by two neighbouring inputs together</a:t>
            </a:r>
            <a:endParaRPr lang="en-US" sz="1150"/>
          </a:p>
        </p:txBody>
      </p:sp>
      <p:sp>
        <p:nvSpPr>
          <p:cNvPr id="34" name="Text 0">
            <a:extLst>
              <a:ext uri="{FF2B5EF4-FFF2-40B4-BE49-F238E27FC236}">
                <a16:creationId xmlns:a16="http://schemas.microsoft.com/office/drawing/2014/main" id="{3B750D9F-1B5C-7D0E-6937-96856CFFC4EA}"/>
              </a:ext>
            </a:extLst>
          </p:cNvPr>
          <p:cNvSpPr/>
          <p:nvPr/>
        </p:nvSpPr>
        <p:spPr>
          <a:xfrm>
            <a:off x="279400" y="26164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QUANTUM MODELLING</a:t>
            </a:r>
            <a:endParaRPr lang="en-US" sz="1200">
              <a:latin typeface="Verdana" panose="020B0604030504040204" pitchFamily="34" charset="0"/>
            </a:endParaRPr>
          </a:p>
        </p:txBody>
      </p:sp>
      <p:sp>
        <p:nvSpPr>
          <p:cNvPr id="38" name="TextBox 37">
            <a:extLst>
              <a:ext uri="{FF2B5EF4-FFF2-40B4-BE49-F238E27FC236}">
                <a16:creationId xmlns:a16="http://schemas.microsoft.com/office/drawing/2014/main" id="{EC9763E4-6C3C-E9CC-B647-46E518829B0A}"/>
              </a:ext>
            </a:extLst>
          </p:cNvPr>
          <p:cNvSpPr txBox="1"/>
          <p:nvPr/>
        </p:nvSpPr>
        <p:spPr>
          <a:xfrm>
            <a:off x="11353800" y="142376"/>
            <a:ext cx="6096000" cy="238527"/>
          </a:xfrm>
          <a:prstGeom prst="rect">
            <a:avLst/>
          </a:prstGeom>
          <a:noFill/>
        </p:spPr>
        <p:txBody>
          <a:bodyPr wrap="square">
            <a:spAutoFit/>
          </a:bodyPr>
          <a:lstStyle/>
          <a:p>
            <a:r>
              <a:rPr lang="en-CA" sz="950" b="1" i="0">
                <a:solidFill>
                  <a:schemeClr val="accent3"/>
                </a:solidFill>
                <a:latin typeface="Verdana"/>
              </a:rPr>
              <a:t>TRACK B </a:t>
            </a:r>
            <a:endParaRPr lang="en-CA">
              <a:solidFill>
                <a:schemeClr val="accent3"/>
              </a:solidFill>
            </a:endParaRPr>
          </a:p>
        </p:txBody>
      </p:sp>
      <p:sp>
        <p:nvSpPr>
          <p:cNvPr id="40" name="TextBox 39">
            <a:extLst>
              <a:ext uri="{FF2B5EF4-FFF2-40B4-BE49-F238E27FC236}">
                <a16:creationId xmlns:a16="http://schemas.microsoft.com/office/drawing/2014/main" id="{34B5E85E-B860-E8AA-27C4-F80D9B23902A}"/>
              </a:ext>
            </a:extLst>
          </p:cNvPr>
          <p:cNvSpPr txBox="1"/>
          <p:nvPr/>
        </p:nvSpPr>
        <p:spPr>
          <a:xfrm>
            <a:off x="865842" y="1255929"/>
            <a:ext cx="8726214" cy="400110"/>
          </a:xfrm>
          <a:prstGeom prst="rect">
            <a:avLst/>
          </a:prstGeom>
          <a:noFill/>
        </p:spPr>
        <p:txBody>
          <a:bodyPr wrap="square">
            <a:spAutoFit/>
          </a:bodyPr>
          <a:lstStyle/>
          <a:p>
            <a:r>
              <a:rPr lang="en-US" sz="2000" b="1">
                <a:solidFill>
                  <a:srgbClr val="0F1B2D"/>
                </a:solidFill>
                <a:latin typeface="Verdana Pro"/>
                <a:ea typeface="Verdana Pro"/>
                <a:cs typeface="Verdana Pro"/>
              </a:rPr>
              <a:t>Step 1: Turning samples into quantum states</a:t>
            </a:r>
            <a:endParaRPr lang="en-CA"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a:spLocks noGrp="1"/>
          </p:cNvSpPr>
          <p:nvPr>
            <p:ph type="title"/>
          </p:nvPr>
        </p:nvSpPr>
        <p:spPr>
          <a:xfrm>
            <a:off x="813816" y="978408"/>
            <a:ext cx="10561320" cy="548640"/>
          </a:xfrm>
          <a:prstGeom prst="rect">
            <a:avLst/>
          </a:prstGeom>
          <a:noFill/>
          <a:ln/>
        </p:spPr>
        <p:txBody>
          <a:bodyPr wrap="square" lIns="0" tIns="0" rIns="0" bIns="0" rtlCol="0" anchor="t">
            <a:noAutofit/>
          </a:bodyPr>
          <a:lstStyle/>
          <a:p>
            <a:pPr marL="0" indent="0" algn="l">
              <a:buNone/>
            </a:pPr>
            <a:r>
              <a:rPr lang="en-US" sz="3200" b="1">
                <a:solidFill>
                  <a:srgbClr val="0F1B2D"/>
                </a:solidFill>
                <a:latin typeface="Verdana Pro"/>
                <a:ea typeface="Verdana Pro"/>
                <a:cs typeface="Verdana Pro"/>
              </a:rPr>
              <a:t>Step 2: three ways to read the state out</a:t>
            </a:r>
            <a:endParaRPr lang="en-US" sz="3200"/>
          </a:p>
        </p:txBody>
      </p:sp>
      <p:sp>
        <p:nvSpPr>
          <p:cNvPr id="5" name="Card 5"/>
          <p:cNvSpPr/>
          <p:nvPr/>
        </p:nvSpPr>
        <p:spPr>
          <a:xfrm>
            <a:off x="813816" y="1691640"/>
            <a:ext cx="3410712" cy="3886200"/>
          </a:xfrm>
          <a:prstGeom prst="roundRect">
            <a:avLst>
              <a:gd name="adj" fmla="val 9576"/>
            </a:avLst>
          </a:prstGeom>
          <a:solidFill>
            <a:srgbClr val="FDFCF9"/>
          </a:solidFill>
          <a:ln w="6350">
            <a:solidFill>
              <a:srgbClr val="E2DED5"/>
            </a:solidFill>
          </a:ln>
        </p:spPr>
        <p:txBody>
          <a:bodyPr/>
          <a:lstStyle/>
          <a:p>
            <a:endParaRPr lang="en-US"/>
          </a:p>
        </p:txBody>
      </p:sp>
      <p:sp>
        <p:nvSpPr>
          <p:cNvPr id="6" name="Text 6"/>
          <p:cNvSpPr txBox="1"/>
          <p:nvPr/>
        </p:nvSpPr>
        <p:spPr>
          <a:xfrm>
            <a:off x="1014984" y="1874520"/>
            <a:ext cx="3008376" cy="292608"/>
          </a:xfrm>
          <a:prstGeom prst="rect">
            <a:avLst/>
          </a:prstGeom>
          <a:noFill/>
          <a:ln/>
        </p:spPr>
        <p:txBody>
          <a:bodyPr wrap="square" lIns="0" tIns="0" rIns="0" bIns="0" rtlCol="0" anchor="t">
            <a:noAutofit/>
          </a:bodyPr>
          <a:lstStyle/>
          <a:p>
            <a:pPr marL="0" indent="0" algn="l">
              <a:buNone/>
            </a:pPr>
            <a:r>
              <a:rPr lang="en-US" sz="1500" b="1">
                <a:solidFill>
                  <a:srgbClr val="0F1B2D"/>
                </a:solidFill>
                <a:latin typeface="Verdana"/>
                <a:ea typeface="Verdana"/>
                <a:cs typeface="Verdana"/>
              </a:rPr>
              <a:t>Fidelity kernel (QKRR)</a:t>
            </a:r>
            <a:endParaRPr lang="en-US" sz="1500"/>
          </a:p>
        </p:txBody>
      </p:sp>
      <p:sp>
        <p:nvSpPr>
          <p:cNvPr id="7" name="Text 7"/>
          <p:cNvSpPr txBox="1"/>
          <p:nvPr/>
        </p:nvSpPr>
        <p:spPr>
          <a:xfrm>
            <a:off x="1014984" y="2221992"/>
            <a:ext cx="3008376" cy="274320"/>
          </a:xfrm>
          <a:prstGeom prst="rect">
            <a:avLst/>
          </a:prstGeom>
          <a:noFill/>
          <a:ln/>
        </p:spPr>
        <p:txBody>
          <a:bodyPr wrap="square" lIns="0" tIns="0" rIns="0" bIns="0" rtlCol="0" anchor="t">
            <a:noAutofit/>
          </a:bodyPr>
          <a:lstStyle/>
          <a:p>
            <a:pPr marL="0" indent="0" algn="l">
              <a:buNone/>
            </a:pPr>
            <a:r>
              <a:rPr lang="en-US" sz="1200" b="0">
                <a:solidFill>
                  <a:srgbClr val="1D4699"/>
                </a:solidFill>
                <a:latin typeface="Verdana"/>
                <a:ea typeface="Verdana"/>
                <a:cs typeface="Verdana"/>
              </a:rPr>
              <a:t>k(x, x′) = |⟨ψ(x)|ψ(x′)⟩|</a:t>
            </a:r>
            <a:r>
              <a:rPr lang="en-US" sz="1200" b="0" baseline="30000">
                <a:solidFill>
                  <a:srgbClr val="1D4699"/>
                </a:solidFill>
                <a:latin typeface="Verdana"/>
                <a:ea typeface="Verdana"/>
                <a:cs typeface="Verdana"/>
              </a:rPr>
              <a:t>2</a:t>
            </a:r>
            <a:endParaRPr lang="en-US" sz="1200"/>
          </a:p>
        </p:txBody>
      </p:sp>
      <p:sp>
        <p:nvSpPr>
          <p:cNvPr id="8" name="Text 8"/>
          <p:cNvSpPr txBox="1"/>
          <p:nvPr/>
        </p:nvSpPr>
        <p:spPr>
          <a:xfrm>
            <a:off x="1014984" y="2651760"/>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MEASURES</a:t>
            </a:r>
            <a:endParaRPr lang="en-US" sz="1000"/>
          </a:p>
        </p:txBody>
      </p:sp>
      <p:sp>
        <p:nvSpPr>
          <p:cNvPr id="9" name="Text 9"/>
          <p:cNvSpPr txBox="1"/>
          <p:nvPr/>
        </p:nvSpPr>
        <p:spPr>
          <a:xfrm>
            <a:off x="1014984" y="2871216"/>
            <a:ext cx="3008376" cy="56692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How much two molecules' states overlap: run U(x′), then U(x) reversed, and count all-zero readouts</a:t>
            </a:r>
            <a:endParaRPr lang="en-US" sz="1200"/>
          </a:p>
        </p:txBody>
      </p:sp>
      <p:sp>
        <p:nvSpPr>
          <p:cNvPr id="10" name="Text 10"/>
          <p:cNvSpPr txBox="1"/>
          <p:nvPr/>
        </p:nvSpPr>
        <p:spPr>
          <a:xfrm>
            <a:off x="1014984" y="3529584"/>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THEN</a:t>
            </a:r>
            <a:endParaRPr lang="en-US" sz="1000"/>
          </a:p>
        </p:txBody>
      </p:sp>
      <p:sp>
        <p:nvSpPr>
          <p:cNvPr id="11" name="Text 11"/>
          <p:cNvSpPr txBox="1"/>
          <p:nvPr/>
        </p:nvSpPr>
        <p:spPr>
          <a:xfrm>
            <a:off x="1014984" y="3749040"/>
            <a:ext cx="3008376" cy="56692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Kernel ridge regression on the table of similarities between training molecules</a:t>
            </a:r>
            <a:endParaRPr lang="en-US" sz="1200"/>
          </a:p>
        </p:txBody>
      </p:sp>
      <p:sp>
        <p:nvSpPr>
          <p:cNvPr id="12" name="Text 12"/>
          <p:cNvSpPr txBox="1"/>
          <p:nvPr/>
        </p:nvSpPr>
        <p:spPr>
          <a:xfrm>
            <a:off x="1014984" y="4407408"/>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CIRCUITS</a:t>
            </a:r>
            <a:endParaRPr lang="en-US" sz="1000"/>
          </a:p>
        </p:txBody>
      </p:sp>
      <p:sp>
        <p:nvSpPr>
          <p:cNvPr id="13" name="Text 13"/>
          <p:cNvSpPr txBox="1"/>
          <p:nvPr/>
        </p:nvSpPr>
        <p:spPr>
          <a:xfrm>
            <a:off x="1014984" y="4626864"/>
            <a:ext cx="3008376" cy="20116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1 per pair of molecules</a:t>
            </a:r>
            <a:endParaRPr lang="en-US" sz="1200"/>
          </a:p>
        </p:txBody>
      </p:sp>
      <p:sp>
        <p:nvSpPr>
          <p:cNvPr id="14" name="Text 14"/>
          <p:cNvSpPr txBox="1"/>
          <p:nvPr/>
        </p:nvSpPr>
        <p:spPr>
          <a:xfrm>
            <a:off x="1014984" y="4937760"/>
            <a:ext cx="3008376" cy="274320"/>
          </a:xfrm>
          <a:prstGeom prst="rect">
            <a:avLst/>
          </a:prstGeom>
          <a:noFill/>
          <a:ln/>
        </p:spPr>
        <p:txBody>
          <a:bodyPr wrap="square" lIns="0" tIns="0" rIns="0" bIns="0" rtlCol="0" anchor="t">
            <a:noAutofit/>
          </a:bodyPr>
          <a:lstStyle/>
          <a:p>
            <a:pPr marL="0" indent="0" algn="l">
              <a:buNone/>
            </a:pPr>
            <a:r>
              <a:rPr lang="en-US" sz="1200" b="0">
                <a:solidFill>
                  <a:srgbClr val="4A5568"/>
                </a:solidFill>
                <a:latin typeface="Verdana"/>
                <a:ea typeface="Verdana"/>
                <a:cs typeface="Verdana"/>
              </a:rPr>
              <a:t>Test MAE at 1,000 labels: </a:t>
            </a:r>
            <a:r>
              <a:rPr lang="en-US" sz="1200" b="1">
                <a:solidFill>
                  <a:srgbClr val="2558C0"/>
                </a:solidFill>
                <a:latin typeface="Verdana"/>
                <a:ea typeface="Verdana"/>
                <a:cs typeface="Verdana"/>
              </a:rPr>
              <a:t>0.492 D</a:t>
            </a:r>
            <a:endParaRPr lang="en-US" sz="1200"/>
          </a:p>
        </p:txBody>
      </p:sp>
      <p:sp>
        <p:nvSpPr>
          <p:cNvPr id="15" name="Card 15"/>
          <p:cNvSpPr/>
          <p:nvPr/>
        </p:nvSpPr>
        <p:spPr>
          <a:xfrm>
            <a:off x="4389120" y="1691640"/>
            <a:ext cx="3410712" cy="3886200"/>
          </a:xfrm>
          <a:prstGeom prst="roundRect">
            <a:avLst>
              <a:gd name="adj" fmla="val 9576"/>
            </a:avLst>
          </a:prstGeom>
          <a:solidFill>
            <a:srgbClr val="FDFCF9"/>
          </a:solidFill>
          <a:ln w="6350">
            <a:solidFill>
              <a:srgbClr val="E2DED5"/>
            </a:solidFill>
          </a:ln>
        </p:spPr>
        <p:txBody>
          <a:bodyPr/>
          <a:lstStyle/>
          <a:p>
            <a:endParaRPr lang="en-US"/>
          </a:p>
        </p:txBody>
      </p:sp>
      <p:sp>
        <p:nvSpPr>
          <p:cNvPr id="16" name="Text 16"/>
          <p:cNvSpPr txBox="1"/>
          <p:nvPr/>
        </p:nvSpPr>
        <p:spPr>
          <a:xfrm>
            <a:off x="4590288" y="1874520"/>
            <a:ext cx="3008376" cy="292608"/>
          </a:xfrm>
          <a:prstGeom prst="rect">
            <a:avLst/>
          </a:prstGeom>
          <a:noFill/>
          <a:ln/>
        </p:spPr>
        <p:txBody>
          <a:bodyPr wrap="square" lIns="0" tIns="0" rIns="0" bIns="0" rtlCol="0" anchor="t">
            <a:noAutofit/>
          </a:bodyPr>
          <a:lstStyle/>
          <a:p>
            <a:pPr marL="0" indent="0" algn="l">
              <a:buNone/>
            </a:pPr>
            <a:r>
              <a:rPr lang="en-US" sz="1500" b="1">
                <a:solidFill>
                  <a:srgbClr val="0F1B2D"/>
                </a:solidFill>
                <a:latin typeface="Verdana"/>
                <a:ea typeface="Verdana"/>
                <a:cs typeface="Verdana"/>
              </a:rPr>
              <a:t>Projected kernel</a:t>
            </a:r>
            <a:endParaRPr lang="en-US" sz="1500"/>
          </a:p>
        </p:txBody>
      </p:sp>
      <p:sp>
        <p:nvSpPr>
          <p:cNvPr id="17" name="Text 17"/>
          <p:cNvSpPr txBox="1"/>
          <p:nvPr/>
        </p:nvSpPr>
        <p:spPr>
          <a:xfrm>
            <a:off x="4590288" y="2221992"/>
            <a:ext cx="3008376" cy="274320"/>
          </a:xfrm>
          <a:prstGeom prst="rect">
            <a:avLst/>
          </a:prstGeom>
          <a:noFill/>
          <a:ln/>
        </p:spPr>
        <p:txBody>
          <a:bodyPr wrap="square" lIns="0" tIns="0" rIns="0" bIns="0" rtlCol="0" anchor="t">
            <a:noAutofit/>
          </a:bodyPr>
          <a:lstStyle/>
          <a:p>
            <a:pPr marL="0" indent="0" algn="l">
              <a:buNone/>
            </a:pPr>
            <a:r>
              <a:rPr lang="en-US" sz="1200" b="0">
                <a:solidFill>
                  <a:srgbClr val="1D4699"/>
                </a:solidFill>
                <a:latin typeface="Verdana"/>
                <a:ea typeface="Verdana"/>
                <a:cs typeface="Verdana"/>
              </a:rPr>
              <a:t>30 measured numbers + RBF kernel</a:t>
            </a:r>
            <a:endParaRPr lang="en-US" sz="1200"/>
          </a:p>
        </p:txBody>
      </p:sp>
      <p:sp>
        <p:nvSpPr>
          <p:cNvPr id="18" name="Text 18"/>
          <p:cNvSpPr txBox="1"/>
          <p:nvPr/>
        </p:nvSpPr>
        <p:spPr>
          <a:xfrm>
            <a:off x="4590288" y="2651760"/>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MEASURES</a:t>
            </a:r>
            <a:endParaRPr lang="en-US" sz="1000"/>
          </a:p>
        </p:txBody>
      </p:sp>
      <p:sp>
        <p:nvSpPr>
          <p:cNvPr id="19" name="Text 19"/>
          <p:cNvSpPr txBox="1"/>
          <p:nvPr/>
        </p:nvSpPr>
        <p:spPr>
          <a:xfrm>
            <a:off x="4590288" y="2871216"/>
            <a:ext cx="3008376" cy="56692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⟨X⟩, ⟨Y⟩ and ⟨Z⟩ of every qubit: 30 numbers per molecule</a:t>
            </a:r>
            <a:endParaRPr lang="en-US" sz="1200"/>
          </a:p>
        </p:txBody>
      </p:sp>
      <p:sp>
        <p:nvSpPr>
          <p:cNvPr id="20" name="Text 20"/>
          <p:cNvSpPr txBox="1"/>
          <p:nvPr/>
        </p:nvSpPr>
        <p:spPr>
          <a:xfrm>
            <a:off x="4590288" y="3529584"/>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THEN</a:t>
            </a:r>
            <a:endParaRPr lang="en-US" sz="1000"/>
          </a:p>
        </p:txBody>
      </p:sp>
      <p:sp>
        <p:nvSpPr>
          <p:cNvPr id="21" name="Text 21"/>
          <p:cNvSpPr txBox="1"/>
          <p:nvPr/>
        </p:nvSpPr>
        <p:spPr>
          <a:xfrm>
            <a:off x="4590288" y="3749040"/>
            <a:ext cx="3008376" cy="56692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A classical RBF kernel on those 30 numbers, then kernel ridge regression</a:t>
            </a:r>
            <a:endParaRPr lang="en-US" sz="1200"/>
          </a:p>
        </p:txBody>
      </p:sp>
      <p:sp>
        <p:nvSpPr>
          <p:cNvPr id="22" name="Text 22"/>
          <p:cNvSpPr txBox="1"/>
          <p:nvPr/>
        </p:nvSpPr>
        <p:spPr>
          <a:xfrm>
            <a:off x="4590288" y="4407408"/>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CIRCUITS</a:t>
            </a:r>
            <a:endParaRPr lang="en-US" sz="1000"/>
          </a:p>
        </p:txBody>
      </p:sp>
      <p:sp>
        <p:nvSpPr>
          <p:cNvPr id="23" name="Text 23"/>
          <p:cNvSpPr txBox="1"/>
          <p:nvPr/>
        </p:nvSpPr>
        <p:spPr>
          <a:xfrm>
            <a:off x="4590288" y="4626864"/>
            <a:ext cx="3008376" cy="20116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3 per molecule</a:t>
            </a:r>
            <a:endParaRPr lang="en-US" sz="1200"/>
          </a:p>
        </p:txBody>
      </p:sp>
      <p:sp>
        <p:nvSpPr>
          <p:cNvPr id="24" name="Text 24"/>
          <p:cNvSpPr txBox="1"/>
          <p:nvPr/>
        </p:nvSpPr>
        <p:spPr>
          <a:xfrm>
            <a:off x="4590288" y="4937760"/>
            <a:ext cx="3008376" cy="274320"/>
          </a:xfrm>
          <a:prstGeom prst="rect">
            <a:avLst/>
          </a:prstGeom>
          <a:noFill/>
          <a:ln/>
        </p:spPr>
        <p:txBody>
          <a:bodyPr wrap="square" lIns="0" tIns="0" rIns="0" bIns="0" rtlCol="0" anchor="t">
            <a:noAutofit/>
          </a:bodyPr>
          <a:lstStyle/>
          <a:p>
            <a:pPr marL="0" indent="0" algn="l">
              <a:buNone/>
            </a:pPr>
            <a:r>
              <a:rPr lang="en-US" sz="1200" b="0">
                <a:solidFill>
                  <a:srgbClr val="4A5568"/>
                </a:solidFill>
                <a:latin typeface="Verdana"/>
                <a:ea typeface="Verdana"/>
                <a:cs typeface="Verdana"/>
              </a:rPr>
              <a:t>Test MAE at 1,000 labels: </a:t>
            </a:r>
            <a:r>
              <a:rPr lang="en-US" sz="1200" b="1">
                <a:solidFill>
                  <a:srgbClr val="2558C0"/>
                </a:solidFill>
                <a:latin typeface="Verdana"/>
                <a:ea typeface="Verdana"/>
                <a:cs typeface="Verdana"/>
              </a:rPr>
              <a:t>0.493 D</a:t>
            </a:r>
            <a:endParaRPr lang="en-US" sz="1200"/>
          </a:p>
        </p:txBody>
      </p:sp>
      <p:sp>
        <p:nvSpPr>
          <p:cNvPr id="25" name="Card 25"/>
          <p:cNvSpPr/>
          <p:nvPr/>
        </p:nvSpPr>
        <p:spPr>
          <a:xfrm>
            <a:off x="7964424" y="1691640"/>
            <a:ext cx="3410712" cy="3886200"/>
          </a:xfrm>
          <a:prstGeom prst="roundRect">
            <a:avLst>
              <a:gd name="adj" fmla="val 9576"/>
            </a:avLst>
          </a:prstGeom>
          <a:solidFill>
            <a:srgbClr val="FDFCF9"/>
          </a:solidFill>
          <a:ln w="6350">
            <a:solidFill>
              <a:srgbClr val="E2DED5"/>
            </a:solidFill>
          </a:ln>
        </p:spPr>
        <p:txBody>
          <a:bodyPr/>
          <a:lstStyle/>
          <a:p>
            <a:endParaRPr lang="en-US"/>
          </a:p>
        </p:txBody>
      </p:sp>
      <p:sp>
        <p:nvSpPr>
          <p:cNvPr id="26" name="Text 26"/>
          <p:cNvSpPr txBox="1"/>
          <p:nvPr/>
        </p:nvSpPr>
        <p:spPr>
          <a:xfrm>
            <a:off x="8165592" y="1874520"/>
            <a:ext cx="3008376" cy="292608"/>
          </a:xfrm>
          <a:prstGeom prst="rect">
            <a:avLst/>
          </a:prstGeom>
          <a:noFill/>
          <a:ln/>
        </p:spPr>
        <p:txBody>
          <a:bodyPr wrap="square" lIns="0" tIns="0" rIns="0" bIns="0" rtlCol="0" anchor="t">
            <a:noAutofit/>
          </a:bodyPr>
          <a:lstStyle/>
          <a:p>
            <a:pPr marL="0" indent="0" algn="l">
              <a:buNone/>
            </a:pPr>
            <a:r>
              <a:rPr lang="en-US" sz="1500" b="1">
                <a:solidFill>
                  <a:srgbClr val="0F1B2D"/>
                </a:solidFill>
                <a:latin typeface="Verdana"/>
                <a:ea typeface="Verdana"/>
                <a:cs typeface="Verdana"/>
              </a:rPr>
              <a:t>⟨Z⟩ feature ridge</a:t>
            </a:r>
            <a:endParaRPr lang="en-US" sz="1500"/>
          </a:p>
        </p:txBody>
      </p:sp>
      <p:sp>
        <p:nvSpPr>
          <p:cNvPr id="27" name="Text 27"/>
          <p:cNvSpPr txBox="1"/>
          <p:nvPr/>
        </p:nvSpPr>
        <p:spPr>
          <a:xfrm>
            <a:off x="8165592" y="2221992"/>
            <a:ext cx="3008376" cy="274320"/>
          </a:xfrm>
          <a:prstGeom prst="rect">
            <a:avLst/>
          </a:prstGeom>
          <a:noFill/>
          <a:ln/>
        </p:spPr>
        <p:txBody>
          <a:bodyPr wrap="square" lIns="0" tIns="0" rIns="0" bIns="0" rtlCol="0" anchor="t">
            <a:noAutofit/>
          </a:bodyPr>
          <a:lstStyle/>
          <a:p>
            <a:pPr marL="0" indent="0" algn="l">
              <a:buNone/>
            </a:pPr>
            <a:r>
              <a:rPr lang="en-US" sz="1200" b="0">
                <a:solidFill>
                  <a:srgbClr val="1D4699"/>
                </a:solidFill>
                <a:latin typeface="Verdana"/>
                <a:ea typeface="Verdana"/>
                <a:cs typeface="Verdana"/>
              </a:rPr>
              <a:t>10 measured numbers + ridge</a:t>
            </a:r>
            <a:endParaRPr lang="en-US" sz="1200"/>
          </a:p>
        </p:txBody>
      </p:sp>
      <p:sp>
        <p:nvSpPr>
          <p:cNvPr id="28" name="Text 28"/>
          <p:cNvSpPr txBox="1"/>
          <p:nvPr/>
        </p:nvSpPr>
        <p:spPr>
          <a:xfrm>
            <a:off x="8165592" y="2651760"/>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MEASURES</a:t>
            </a:r>
            <a:endParaRPr lang="en-US" sz="1000"/>
          </a:p>
        </p:txBody>
      </p:sp>
      <p:sp>
        <p:nvSpPr>
          <p:cNvPr id="29" name="Text 29"/>
          <p:cNvSpPr txBox="1"/>
          <p:nvPr/>
        </p:nvSpPr>
        <p:spPr>
          <a:xfrm>
            <a:off x="8165592" y="2871216"/>
            <a:ext cx="3008376" cy="56692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⟨Z⟩ of every qubit: 10 numbers per molecule, all from one circuit</a:t>
            </a:r>
            <a:endParaRPr lang="en-US" sz="1200"/>
          </a:p>
        </p:txBody>
      </p:sp>
      <p:sp>
        <p:nvSpPr>
          <p:cNvPr id="30" name="Text 30"/>
          <p:cNvSpPr txBox="1"/>
          <p:nvPr/>
        </p:nvSpPr>
        <p:spPr>
          <a:xfrm>
            <a:off x="8165592" y="3529584"/>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THEN</a:t>
            </a:r>
            <a:endParaRPr lang="en-US" sz="1000"/>
          </a:p>
        </p:txBody>
      </p:sp>
      <p:sp>
        <p:nvSpPr>
          <p:cNvPr id="31" name="Text 31"/>
          <p:cNvSpPr txBox="1"/>
          <p:nvPr/>
        </p:nvSpPr>
        <p:spPr>
          <a:xfrm>
            <a:off x="8165592" y="3749040"/>
            <a:ext cx="3008376" cy="56692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Linear ridge regression on those 10 numbers</a:t>
            </a:r>
            <a:endParaRPr lang="en-US" sz="1200"/>
          </a:p>
        </p:txBody>
      </p:sp>
      <p:sp>
        <p:nvSpPr>
          <p:cNvPr id="32" name="Text 32"/>
          <p:cNvSpPr txBox="1"/>
          <p:nvPr/>
        </p:nvSpPr>
        <p:spPr>
          <a:xfrm>
            <a:off x="8165592" y="4407408"/>
            <a:ext cx="3008376" cy="201168"/>
          </a:xfrm>
          <a:prstGeom prst="rect">
            <a:avLst/>
          </a:prstGeom>
          <a:noFill/>
          <a:ln/>
        </p:spPr>
        <p:txBody>
          <a:bodyPr wrap="square" lIns="0" tIns="0" rIns="0" bIns="0" rtlCol="0" anchor="t">
            <a:noAutofit/>
          </a:bodyPr>
          <a:lstStyle/>
          <a:p>
            <a:pPr marL="0" indent="0" algn="l">
              <a:buNone/>
            </a:pPr>
            <a:r>
              <a:rPr lang="en-US" sz="1000" b="1" spc="80">
                <a:solidFill>
                  <a:srgbClr val="6B7280"/>
                </a:solidFill>
                <a:latin typeface="Verdana"/>
                <a:ea typeface="Verdana"/>
                <a:cs typeface="Verdana"/>
              </a:rPr>
              <a:t>CIRCUITS</a:t>
            </a:r>
            <a:endParaRPr lang="en-US" sz="1000"/>
          </a:p>
        </p:txBody>
      </p:sp>
      <p:sp>
        <p:nvSpPr>
          <p:cNvPr id="33" name="Text 33"/>
          <p:cNvSpPr txBox="1"/>
          <p:nvPr/>
        </p:nvSpPr>
        <p:spPr>
          <a:xfrm>
            <a:off x="8165592" y="4626864"/>
            <a:ext cx="3008376" cy="201168"/>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1 per molecule</a:t>
            </a:r>
            <a:endParaRPr lang="en-US" sz="1200"/>
          </a:p>
        </p:txBody>
      </p:sp>
      <p:sp>
        <p:nvSpPr>
          <p:cNvPr id="34" name="Text 34"/>
          <p:cNvSpPr txBox="1"/>
          <p:nvPr/>
        </p:nvSpPr>
        <p:spPr>
          <a:xfrm>
            <a:off x="8165592" y="4937760"/>
            <a:ext cx="3008376" cy="274320"/>
          </a:xfrm>
          <a:prstGeom prst="rect">
            <a:avLst/>
          </a:prstGeom>
          <a:noFill/>
          <a:ln/>
        </p:spPr>
        <p:txBody>
          <a:bodyPr wrap="square" lIns="0" tIns="0" rIns="0" bIns="0" rtlCol="0" anchor="t">
            <a:noAutofit/>
          </a:bodyPr>
          <a:lstStyle/>
          <a:p>
            <a:pPr marL="0" indent="0" algn="l">
              <a:buNone/>
            </a:pPr>
            <a:r>
              <a:rPr lang="en-US" sz="1200" b="0">
                <a:solidFill>
                  <a:srgbClr val="4A5568"/>
                </a:solidFill>
                <a:latin typeface="Verdana"/>
                <a:ea typeface="Verdana"/>
                <a:cs typeface="Verdana"/>
              </a:rPr>
              <a:t>Test MAE at 1,000 labels: </a:t>
            </a:r>
            <a:r>
              <a:rPr lang="en-US" sz="1200" b="1">
                <a:solidFill>
                  <a:srgbClr val="2558C0"/>
                </a:solidFill>
                <a:latin typeface="Verdana"/>
                <a:ea typeface="Verdana"/>
                <a:cs typeface="Verdana"/>
              </a:rPr>
              <a:t>0.545 D</a:t>
            </a:r>
            <a:endParaRPr lang="en-US" sz="1200"/>
          </a:p>
        </p:txBody>
      </p:sp>
      <p:sp>
        <p:nvSpPr>
          <p:cNvPr id="35" name="Text 35"/>
          <p:cNvSpPr txBox="1"/>
          <p:nvPr/>
        </p:nvSpPr>
        <p:spPr>
          <a:xfrm>
            <a:off x="813816" y="5715000"/>
            <a:ext cx="10561320" cy="457200"/>
          </a:xfrm>
          <a:prstGeom prst="rect">
            <a:avLst/>
          </a:prstGeom>
          <a:noFill/>
          <a:ln/>
        </p:spPr>
        <p:txBody>
          <a:bodyPr wrap="square" lIns="0" tIns="0" rIns="0" bIns="0" rtlCol="0" anchor="t">
            <a:noAutofit/>
          </a:bodyPr>
          <a:lstStyle/>
          <a:p>
            <a:pPr marL="0" indent="0" algn="l">
              <a:lnSpc>
                <a:spcPct val="105000"/>
              </a:lnSpc>
              <a:buNone/>
            </a:pPr>
            <a:r>
              <a:rPr lang="en-US" sz="1100" b="0">
                <a:solidFill>
                  <a:srgbClr val="6B7280"/>
                </a:solidFill>
                <a:latin typeface="Verdana"/>
                <a:ea typeface="Verdana"/>
                <a:cs typeface="Verdana"/>
              </a:rPr>
              <a:t>All three predict √|μ| and square it back to debye. The angle scale γ and ridge penalty α are chosen by 5-fold cross-validation inside the training set, the same way as for the classical twin.</a:t>
            </a:r>
            <a:endParaRPr lang="en-US" sz="1100"/>
          </a:p>
        </p:txBody>
      </p:sp>
      <p:sp>
        <p:nvSpPr>
          <p:cNvPr id="36" name="TextBox 35">
            <a:extLst>
              <a:ext uri="{FF2B5EF4-FFF2-40B4-BE49-F238E27FC236}">
                <a16:creationId xmlns:a16="http://schemas.microsoft.com/office/drawing/2014/main" id="{A07B2E97-2225-9A52-7A0F-1FFFC83612AA}"/>
              </a:ext>
            </a:extLst>
          </p:cNvPr>
          <p:cNvSpPr txBox="1"/>
          <p:nvPr/>
        </p:nvSpPr>
        <p:spPr>
          <a:xfrm>
            <a:off x="11353800" y="142376"/>
            <a:ext cx="6096000" cy="238527"/>
          </a:xfrm>
          <a:prstGeom prst="rect">
            <a:avLst/>
          </a:prstGeom>
          <a:noFill/>
        </p:spPr>
        <p:txBody>
          <a:bodyPr wrap="square">
            <a:spAutoFit/>
          </a:bodyPr>
          <a:lstStyle/>
          <a:p>
            <a:r>
              <a:rPr lang="en-CA" sz="950" b="1" i="0">
                <a:solidFill>
                  <a:schemeClr val="accent3"/>
                </a:solidFill>
                <a:latin typeface="Verdana"/>
              </a:rPr>
              <a:t>TRACK B </a:t>
            </a:r>
            <a:endParaRPr lang="en-CA">
              <a:solidFill>
                <a:schemeClr val="accent3"/>
              </a:solidFill>
            </a:endParaRPr>
          </a:p>
        </p:txBody>
      </p:sp>
      <p:sp>
        <p:nvSpPr>
          <p:cNvPr id="38" name="Text 0">
            <a:extLst>
              <a:ext uri="{FF2B5EF4-FFF2-40B4-BE49-F238E27FC236}">
                <a16:creationId xmlns:a16="http://schemas.microsoft.com/office/drawing/2014/main" id="{B0B5D4BE-B90D-FCB8-BE01-9A37EC3C5462}"/>
              </a:ext>
            </a:extLst>
          </p:cNvPr>
          <p:cNvSpPr/>
          <p:nvPr/>
        </p:nvSpPr>
        <p:spPr>
          <a:xfrm>
            <a:off x="279400" y="261640"/>
            <a:ext cx="10883392" cy="238720"/>
          </a:xfrm>
          <a:prstGeom prst="rect">
            <a:avLst/>
          </a:prstGeom>
          <a:noFill/>
          <a:ln/>
        </p:spPr>
        <p:txBody>
          <a:bodyPr wrap="square" lIns="0" tIns="0" rIns="0" bIns="0" rtlCol="0" anchor="t">
            <a:normAutofit/>
          </a:bodyPr>
          <a:lstStyle/>
          <a:p>
            <a:pPr>
              <a:lnSpc>
                <a:spcPts val="1680"/>
              </a:lnSpc>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QUANTUM MODELLING</a:t>
            </a:r>
            <a:endParaRPr lang="en-US" sz="1200">
              <a:latin typeface="Verdana" panose="020B060403050404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a:spLocks noGrp="1"/>
          </p:cNvSpPr>
          <p:nvPr>
            <p:ph type="title"/>
          </p:nvPr>
        </p:nvSpPr>
        <p:spPr>
          <a:xfrm>
            <a:off x="813816" y="978408"/>
            <a:ext cx="10561320" cy="548640"/>
          </a:xfrm>
          <a:prstGeom prst="rect">
            <a:avLst/>
          </a:prstGeom>
          <a:noFill/>
          <a:ln/>
        </p:spPr>
        <p:txBody>
          <a:bodyPr wrap="square" lIns="0" tIns="0" rIns="0" bIns="0" rtlCol="0" anchor="t">
            <a:noAutofit/>
          </a:bodyPr>
          <a:lstStyle/>
          <a:p>
            <a:pPr marL="0" indent="0" algn="l">
              <a:buNone/>
            </a:pPr>
            <a:r>
              <a:rPr lang="en-US" sz="3200" b="1">
                <a:solidFill>
                  <a:srgbClr val="0F1B2D"/>
                </a:solidFill>
                <a:latin typeface="Verdana Pro"/>
                <a:ea typeface="Verdana Pro"/>
                <a:cs typeface="Verdana Pro"/>
              </a:rPr>
              <a:t>The ⟨Z⟩ feature ridge, step by step</a:t>
            </a:r>
            <a:endParaRPr lang="en-US" sz="3200"/>
          </a:p>
        </p:txBody>
      </p:sp>
      <p:pic>
        <p:nvPicPr>
          <p:cNvPr id="5" name="Picture 5" descr="The 10-qubit encoder followed by a measurement of every qubit"/>
          <p:cNvPicPr>
            <a:picLocks noChangeAspect="1"/>
          </p:cNvPicPr>
          <p:nvPr/>
        </p:nvPicPr>
        <p:blipFill>
          <a:blip r:embed="rId3"/>
          <a:stretch>
            <a:fillRect/>
          </a:stretch>
        </p:blipFill>
        <p:spPr>
          <a:xfrm>
            <a:off x="813816" y="1691640"/>
            <a:ext cx="4467214" cy="3429000"/>
          </a:xfrm>
          <a:prstGeom prst="rect">
            <a:avLst/>
          </a:prstGeom>
        </p:spPr>
      </p:pic>
      <p:sp>
        <p:nvSpPr>
          <p:cNvPr id="6" name="Text 6"/>
          <p:cNvSpPr txBox="1"/>
          <p:nvPr/>
        </p:nvSpPr>
        <p:spPr>
          <a:xfrm>
            <a:off x="813816" y="5175504"/>
            <a:ext cx="4467214" cy="411480"/>
          </a:xfrm>
          <a:prstGeom prst="rect">
            <a:avLst/>
          </a:prstGeom>
          <a:noFill/>
          <a:ln/>
        </p:spPr>
        <p:txBody>
          <a:bodyPr wrap="square" lIns="0" tIns="0" rIns="0" bIns="0" rtlCol="0" anchor="t">
            <a:noAutofit/>
          </a:bodyPr>
          <a:lstStyle/>
          <a:p>
            <a:pPr marL="0" indent="0" algn="l">
              <a:lnSpc>
                <a:spcPct val="105000"/>
              </a:lnSpc>
              <a:buNone/>
            </a:pPr>
            <a:r>
              <a:rPr lang="en-US" sz="1050" b="0">
                <a:solidFill>
                  <a:srgbClr val="6B7280"/>
                </a:solidFill>
                <a:latin typeface="Verdana"/>
                <a:ea typeface="Verdana"/>
                <a:cs typeface="Verdana"/>
              </a:rPr>
              <a:t>The circuit sent to ibm_quebec: the 10-qubit encoder, then all 10 qubits measured.</a:t>
            </a:r>
            <a:endParaRPr lang="en-US" sz="1050"/>
          </a:p>
        </p:txBody>
      </p:sp>
      <p:sp>
        <p:nvSpPr>
          <p:cNvPr id="7" name="Text 7"/>
          <p:cNvSpPr txBox="1"/>
          <p:nvPr/>
        </p:nvSpPr>
        <p:spPr>
          <a:xfrm>
            <a:off x="5715000" y="1691640"/>
            <a:ext cx="457200" cy="384048"/>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1</a:t>
            </a:r>
            <a:endParaRPr lang="en-US" sz="2200"/>
          </a:p>
        </p:txBody>
      </p:sp>
      <p:sp>
        <p:nvSpPr>
          <p:cNvPr id="8" name="Text 8"/>
          <p:cNvSpPr txBox="1"/>
          <p:nvPr/>
        </p:nvSpPr>
        <p:spPr>
          <a:xfrm>
            <a:off x="6217920" y="1719072"/>
            <a:ext cx="5157216" cy="274320"/>
          </a:xfrm>
          <a:prstGeom prst="rect">
            <a:avLst/>
          </a:prstGeom>
          <a:noFill/>
          <a:ln/>
        </p:spPr>
        <p:txBody>
          <a:bodyPr wrap="square" lIns="0" tIns="0" rIns="0" bIns="0" rtlCol="0" anchor="t">
            <a:noAutofit/>
          </a:bodyPr>
          <a:lstStyle/>
          <a:p>
            <a:pPr marL="0" indent="0" algn="l">
              <a:buNone/>
            </a:pPr>
            <a:r>
              <a:rPr lang="en-US" sz="1400" b="1">
                <a:solidFill>
                  <a:srgbClr val="0F1B2D"/>
                </a:solidFill>
                <a:latin typeface="Verdana"/>
                <a:ea typeface="Verdana"/>
                <a:cs typeface="Verdana"/>
              </a:rPr>
              <a:t>Encode</a:t>
            </a:r>
            <a:endParaRPr lang="en-US" sz="1400"/>
          </a:p>
        </p:txBody>
      </p:sp>
      <p:sp>
        <p:nvSpPr>
          <p:cNvPr id="9" name="Text 9"/>
          <p:cNvSpPr txBox="1"/>
          <p:nvPr/>
        </p:nvSpPr>
        <p:spPr>
          <a:xfrm>
            <a:off x="6217920" y="2020824"/>
            <a:ext cx="5157216" cy="274320"/>
          </a:xfrm>
          <a:prstGeom prst="rect">
            <a:avLst/>
          </a:prstGeom>
          <a:noFill/>
          <a:ln/>
        </p:spPr>
        <p:txBody>
          <a:bodyPr wrap="square" lIns="0" tIns="0" rIns="0" bIns="0" rtlCol="0" anchor="t">
            <a:noAutofit/>
          </a:bodyPr>
          <a:lstStyle/>
          <a:p>
            <a:pPr marL="0" indent="0" algn="l">
              <a:lnSpc>
                <a:spcPct val="105000"/>
              </a:lnSpc>
              <a:spcAft>
                <a:spcPts val="200"/>
              </a:spcAft>
              <a:buNone/>
            </a:pPr>
            <a:r>
              <a:rPr lang="en-US" sz="1200" b="0">
                <a:solidFill>
                  <a:srgbClr val="4A5568"/>
                </a:solidFill>
                <a:latin typeface="Verdana"/>
                <a:ea typeface="Verdana"/>
                <a:cs typeface="Verdana"/>
              </a:rPr>
              <a:t>The molecule's 10 numbers, times γ, become the rotation angles.</a:t>
            </a:r>
            <a:endParaRPr lang="en-US" sz="1200"/>
          </a:p>
        </p:txBody>
      </p:sp>
      <p:sp>
        <p:nvSpPr>
          <p:cNvPr id="10" name="Text 10"/>
          <p:cNvSpPr txBox="1"/>
          <p:nvPr/>
        </p:nvSpPr>
        <p:spPr>
          <a:xfrm>
            <a:off x="5715000" y="2514600"/>
            <a:ext cx="457200" cy="384048"/>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2</a:t>
            </a:r>
            <a:endParaRPr lang="en-US" sz="2200"/>
          </a:p>
        </p:txBody>
      </p:sp>
      <p:sp>
        <p:nvSpPr>
          <p:cNvPr id="11" name="Text 11"/>
          <p:cNvSpPr txBox="1"/>
          <p:nvPr/>
        </p:nvSpPr>
        <p:spPr>
          <a:xfrm>
            <a:off x="6217920" y="2542032"/>
            <a:ext cx="5157216" cy="274320"/>
          </a:xfrm>
          <a:prstGeom prst="rect">
            <a:avLst/>
          </a:prstGeom>
          <a:noFill/>
          <a:ln/>
        </p:spPr>
        <p:txBody>
          <a:bodyPr wrap="square" lIns="0" tIns="0" rIns="0" bIns="0" rtlCol="0" anchor="t">
            <a:noAutofit/>
          </a:bodyPr>
          <a:lstStyle/>
          <a:p>
            <a:pPr marL="0" indent="0" algn="l">
              <a:buNone/>
            </a:pPr>
            <a:r>
              <a:rPr lang="en-US" sz="1400" b="1">
                <a:solidFill>
                  <a:srgbClr val="0F1B2D"/>
                </a:solidFill>
                <a:latin typeface="Verdana"/>
                <a:ea typeface="Verdana"/>
                <a:cs typeface="Verdana"/>
              </a:rPr>
              <a:t>Measure</a:t>
            </a:r>
            <a:endParaRPr lang="en-US" sz="1400"/>
          </a:p>
        </p:txBody>
      </p:sp>
      <p:sp>
        <p:nvSpPr>
          <p:cNvPr id="12" name="Text 12"/>
          <p:cNvSpPr txBox="1"/>
          <p:nvPr/>
        </p:nvSpPr>
        <p:spPr>
          <a:xfrm>
            <a:off x="6217920" y="2843784"/>
            <a:ext cx="5157216" cy="274320"/>
          </a:xfrm>
          <a:prstGeom prst="rect">
            <a:avLst/>
          </a:prstGeom>
          <a:noFill/>
          <a:ln/>
        </p:spPr>
        <p:txBody>
          <a:bodyPr wrap="square" lIns="0" tIns="0" rIns="0" bIns="0" rtlCol="0" anchor="t">
            <a:noAutofit/>
          </a:bodyPr>
          <a:lstStyle/>
          <a:p>
            <a:pPr marL="0" indent="0" algn="l">
              <a:lnSpc>
                <a:spcPct val="105000"/>
              </a:lnSpc>
              <a:spcAft>
                <a:spcPts val="200"/>
              </a:spcAft>
              <a:buNone/>
            </a:pPr>
            <a:r>
              <a:rPr lang="en-US" sz="1200" b="0">
                <a:solidFill>
                  <a:srgbClr val="4A5568"/>
                </a:solidFill>
                <a:latin typeface="Verdana"/>
                <a:ea typeface="Verdana"/>
                <a:cs typeface="Verdana"/>
              </a:rPr>
              <a:t>Every qubit reads 0 or 1. Repeat 1,000 times.</a:t>
            </a:r>
            <a:endParaRPr lang="en-US" sz="1200"/>
          </a:p>
        </p:txBody>
      </p:sp>
      <p:sp>
        <p:nvSpPr>
          <p:cNvPr id="13" name="Text 13"/>
          <p:cNvSpPr txBox="1"/>
          <p:nvPr/>
        </p:nvSpPr>
        <p:spPr>
          <a:xfrm>
            <a:off x="5715000" y="3337560"/>
            <a:ext cx="457200" cy="384048"/>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3</a:t>
            </a:r>
            <a:endParaRPr lang="en-US" sz="2200"/>
          </a:p>
        </p:txBody>
      </p:sp>
      <p:sp>
        <p:nvSpPr>
          <p:cNvPr id="14" name="Text 14"/>
          <p:cNvSpPr txBox="1"/>
          <p:nvPr/>
        </p:nvSpPr>
        <p:spPr>
          <a:xfrm>
            <a:off x="6217920" y="3364992"/>
            <a:ext cx="5157216" cy="274320"/>
          </a:xfrm>
          <a:prstGeom prst="rect">
            <a:avLst/>
          </a:prstGeom>
          <a:noFill/>
          <a:ln/>
        </p:spPr>
        <p:txBody>
          <a:bodyPr wrap="square" lIns="0" tIns="0" rIns="0" bIns="0" rtlCol="0" anchor="t">
            <a:noAutofit/>
          </a:bodyPr>
          <a:lstStyle/>
          <a:p>
            <a:pPr marL="0" indent="0" algn="l">
              <a:buNone/>
            </a:pPr>
            <a:r>
              <a:rPr lang="en-US" sz="1400" b="1">
                <a:solidFill>
                  <a:srgbClr val="0F1B2D"/>
                </a:solidFill>
                <a:latin typeface="Verdana"/>
                <a:ea typeface="Verdana"/>
                <a:cs typeface="Verdana"/>
              </a:rPr>
              <a:t>Average</a:t>
            </a:r>
            <a:endParaRPr lang="en-US" sz="1400"/>
          </a:p>
        </p:txBody>
      </p:sp>
      <p:sp>
        <p:nvSpPr>
          <p:cNvPr id="15" name="Text 15"/>
          <p:cNvSpPr txBox="1"/>
          <p:nvPr/>
        </p:nvSpPr>
        <p:spPr>
          <a:xfrm>
            <a:off x="6217920" y="3666744"/>
            <a:ext cx="5157216" cy="457200"/>
          </a:xfrm>
          <a:prstGeom prst="rect">
            <a:avLst/>
          </a:prstGeom>
          <a:noFill/>
          <a:ln/>
        </p:spPr>
        <p:txBody>
          <a:bodyPr wrap="square" lIns="0" tIns="0" rIns="0" bIns="0" rtlCol="0" anchor="t">
            <a:noAutofit/>
          </a:bodyPr>
          <a:lstStyle/>
          <a:p>
            <a:pPr marL="0" indent="0" algn="l">
              <a:lnSpc>
                <a:spcPct val="105000"/>
              </a:lnSpc>
              <a:spcAft>
                <a:spcPts val="200"/>
              </a:spcAft>
              <a:buNone/>
            </a:pPr>
            <a:r>
              <a:rPr lang="en-US" sz="1200" b="0">
                <a:solidFill>
                  <a:srgbClr val="4A5568"/>
                </a:solidFill>
                <a:latin typeface="Verdana"/>
                <a:ea typeface="Verdana"/>
                <a:cs typeface="Verdana"/>
              </a:rPr>
              <a:t>⟨Z⟩ = (zeros − ones) ÷ 1,000 for each qubit: 10 numbers per molecule.</a:t>
            </a:r>
            <a:endParaRPr lang="en-US" sz="1200"/>
          </a:p>
        </p:txBody>
      </p:sp>
      <p:sp>
        <p:nvSpPr>
          <p:cNvPr id="16" name="Text 16"/>
          <p:cNvSpPr txBox="1"/>
          <p:nvPr/>
        </p:nvSpPr>
        <p:spPr>
          <a:xfrm>
            <a:off x="5715000" y="4160520"/>
            <a:ext cx="457200" cy="384048"/>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4</a:t>
            </a:r>
            <a:endParaRPr lang="en-US" sz="2200"/>
          </a:p>
        </p:txBody>
      </p:sp>
      <p:sp>
        <p:nvSpPr>
          <p:cNvPr id="17" name="Text 17"/>
          <p:cNvSpPr txBox="1"/>
          <p:nvPr/>
        </p:nvSpPr>
        <p:spPr>
          <a:xfrm>
            <a:off x="6217920" y="4187952"/>
            <a:ext cx="5157216" cy="274320"/>
          </a:xfrm>
          <a:prstGeom prst="rect">
            <a:avLst/>
          </a:prstGeom>
          <a:noFill/>
          <a:ln/>
        </p:spPr>
        <p:txBody>
          <a:bodyPr wrap="square" lIns="0" tIns="0" rIns="0" bIns="0" rtlCol="0" anchor="t">
            <a:noAutofit/>
          </a:bodyPr>
          <a:lstStyle/>
          <a:p>
            <a:pPr marL="0" indent="0" algn="l">
              <a:buNone/>
            </a:pPr>
            <a:r>
              <a:rPr lang="en-US" sz="1400" b="1">
                <a:solidFill>
                  <a:srgbClr val="0F1B2D"/>
                </a:solidFill>
                <a:latin typeface="Verdana"/>
                <a:ea typeface="Verdana"/>
                <a:cs typeface="Verdana"/>
              </a:rPr>
              <a:t>Predict</a:t>
            </a:r>
            <a:endParaRPr lang="en-US" sz="1400"/>
          </a:p>
        </p:txBody>
      </p:sp>
      <p:sp>
        <p:nvSpPr>
          <p:cNvPr id="18" name="Text 18"/>
          <p:cNvSpPr txBox="1"/>
          <p:nvPr/>
        </p:nvSpPr>
        <p:spPr>
          <a:xfrm>
            <a:off x="6217920" y="4489704"/>
            <a:ext cx="5157216" cy="566928"/>
          </a:xfrm>
          <a:prstGeom prst="rect">
            <a:avLst/>
          </a:prstGeom>
          <a:noFill/>
          <a:ln/>
        </p:spPr>
        <p:txBody>
          <a:bodyPr wrap="square" lIns="0" tIns="0" rIns="0" bIns="0" rtlCol="0" anchor="t">
            <a:noAutofit/>
          </a:bodyPr>
          <a:lstStyle/>
          <a:p>
            <a:pPr marL="0" indent="0" algn="l">
              <a:lnSpc>
                <a:spcPct val="105000"/>
              </a:lnSpc>
              <a:spcAft>
                <a:spcPts val="200"/>
              </a:spcAft>
              <a:buNone/>
            </a:pPr>
            <a:r>
              <a:rPr lang="en-US" sz="1200" b="0">
                <a:solidFill>
                  <a:srgbClr val="4A5568"/>
                </a:solidFill>
                <a:latin typeface="Verdana"/>
                <a:ea typeface="Verdana"/>
                <a:cs typeface="Verdana"/>
              </a:rPr>
              <a:t>√|μ| = b + w</a:t>
            </a:r>
            <a:r>
              <a:rPr lang="en-US" sz="1200" b="0" baseline="-25000">
                <a:solidFill>
                  <a:srgbClr val="4A5568"/>
                </a:solidFill>
                <a:latin typeface="Verdana"/>
                <a:ea typeface="Verdana"/>
                <a:cs typeface="Verdana"/>
              </a:rPr>
              <a:t>1</a:t>
            </a:r>
            <a:r>
              <a:rPr lang="en-US" sz="1200" b="0">
                <a:solidFill>
                  <a:srgbClr val="4A5568"/>
                </a:solidFill>
                <a:latin typeface="Verdana"/>
                <a:ea typeface="Verdana"/>
                <a:cs typeface="Verdana"/>
              </a:rPr>
              <a:t>⟨Z</a:t>
            </a:r>
            <a:r>
              <a:rPr lang="en-US" sz="1200" b="0" baseline="-25000">
                <a:solidFill>
                  <a:srgbClr val="4A5568"/>
                </a:solidFill>
                <a:latin typeface="Verdana"/>
                <a:ea typeface="Verdana"/>
                <a:cs typeface="Verdana"/>
              </a:rPr>
              <a:t>1</a:t>
            </a:r>
            <a:r>
              <a:rPr lang="en-US" sz="1200" b="0">
                <a:solidFill>
                  <a:srgbClr val="4A5568"/>
                </a:solidFill>
                <a:latin typeface="Verdana"/>
                <a:ea typeface="Verdana"/>
                <a:cs typeface="Verdana"/>
              </a:rPr>
              <a:t>⟩ + … + w</a:t>
            </a:r>
            <a:r>
              <a:rPr lang="en-US" sz="1200" b="0" baseline="-25000">
                <a:solidFill>
                  <a:srgbClr val="4A5568"/>
                </a:solidFill>
                <a:latin typeface="Verdana"/>
                <a:ea typeface="Verdana"/>
                <a:cs typeface="Verdana"/>
              </a:rPr>
              <a:t>10</a:t>
            </a:r>
            <a:r>
              <a:rPr lang="en-US" sz="1200" b="0">
                <a:solidFill>
                  <a:srgbClr val="4A5568"/>
                </a:solidFill>
                <a:latin typeface="Verdana"/>
                <a:ea typeface="Verdana"/>
                <a:cs typeface="Verdana"/>
              </a:rPr>
              <a:t>⟨Z</a:t>
            </a:r>
            <a:r>
              <a:rPr lang="en-US" sz="1200" b="0" baseline="-25000">
                <a:solidFill>
                  <a:srgbClr val="4A5568"/>
                </a:solidFill>
                <a:latin typeface="Verdana"/>
                <a:ea typeface="Verdana"/>
                <a:cs typeface="Verdana"/>
              </a:rPr>
              <a:t>10</a:t>
            </a:r>
            <a:r>
              <a:rPr lang="en-US" sz="1200" b="0">
                <a:solidFill>
                  <a:srgbClr val="4A5568"/>
                </a:solidFill>
                <a:latin typeface="Verdana"/>
                <a:ea typeface="Verdana"/>
                <a:cs typeface="Verdana"/>
              </a:rPr>
              <a:t>⟩, squared back to debye. The 11 numbers b and w are fitted on training molecules.</a:t>
            </a:r>
            <a:endParaRPr lang="en-US" sz="1200"/>
          </a:p>
        </p:txBody>
      </p:sp>
      <p:sp>
        <p:nvSpPr>
          <p:cNvPr id="19" name="Card 19"/>
          <p:cNvSpPr/>
          <p:nvPr/>
        </p:nvSpPr>
        <p:spPr>
          <a:xfrm>
            <a:off x="5715000" y="5321808"/>
            <a:ext cx="5660136" cy="749808"/>
          </a:xfrm>
          <a:prstGeom prst="roundRect">
            <a:avLst>
              <a:gd name="adj" fmla="val 9576"/>
            </a:avLst>
          </a:prstGeom>
          <a:solidFill>
            <a:srgbClr val="E6EDFA"/>
          </a:solidFill>
          <a:ln w="6350">
            <a:solidFill>
              <a:srgbClr val="C7D5F2"/>
            </a:solidFill>
          </a:ln>
        </p:spPr>
        <p:txBody>
          <a:bodyPr/>
          <a:lstStyle/>
          <a:p>
            <a:endParaRPr lang="en-US"/>
          </a:p>
        </p:txBody>
      </p:sp>
      <p:sp>
        <p:nvSpPr>
          <p:cNvPr id="20" name="Text 20"/>
          <p:cNvSpPr txBox="1"/>
          <p:nvPr/>
        </p:nvSpPr>
        <p:spPr>
          <a:xfrm>
            <a:off x="5916168" y="5321808"/>
            <a:ext cx="5257800" cy="749808"/>
          </a:xfrm>
          <a:prstGeom prst="rect">
            <a:avLst/>
          </a:prstGeom>
          <a:noFill/>
          <a:ln/>
        </p:spPr>
        <p:txBody>
          <a:bodyPr wrap="square" lIns="0" tIns="0" rIns="0" bIns="0" rtlCol="0" anchor="ctr">
            <a:noAutofit/>
          </a:bodyPr>
          <a:lstStyle/>
          <a:p>
            <a:pPr marL="0" indent="0" algn="l">
              <a:lnSpc>
                <a:spcPct val="105000"/>
              </a:lnSpc>
              <a:buNone/>
            </a:pPr>
            <a:r>
              <a:rPr lang="en-US" sz="1200" b="0">
                <a:solidFill>
                  <a:srgbClr val="1B2433"/>
                </a:solidFill>
                <a:latin typeface="Verdana"/>
                <a:ea typeface="Verdana"/>
                <a:cs typeface="Verdana"/>
              </a:rPr>
              <a:t>Example: qubit 3 of one molecule read 0 on 700 shots and 1 on 300, so ⟨Z</a:t>
            </a:r>
            <a:r>
              <a:rPr lang="en-US" sz="1200" b="0" baseline="-25000">
                <a:solidFill>
                  <a:srgbClr val="1B2433"/>
                </a:solidFill>
                <a:latin typeface="Verdana"/>
                <a:ea typeface="Verdana"/>
                <a:cs typeface="Verdana"/>
              </a:rPr>
              <a:t>3</a:t>
            </a:r>
            <a:r>
              <a:rPr lang="en-US" sz="1200" b="0">
                <a:solidFill>
                  <a:srgbClr val="1B2433"/>
                </a:solidFill>
                <a:latin typeface="Verdana"/>
                <a:ea typeface="Verdana"/>
                <a:cs typeface="Verdana"/>
              </a:rPr>
              <a:t>⟩ = (700 − 300) ÷ 1,000 = 0.40.</a:t>
            </a:r>
            <a:endParaRPr lang="en-US" sz="1200"/>
          </a:p>
        </p:txBody>
      </p:sp>
      <p:sp>
        <p:nvSpPr>
          <p:cNvPr id="21" name="TextBox 20">
            <a:extLst>
              <a:ext uri="{FF2B5EF4-FFF2-40B4-BE49-F238E27FC236}">
                <a16:creationId xmlns:a16="http://schemas.microsoft.com/office/drawing/2014/main" id="{1340AD9F-D676-0BED-5CA4-2912131535C6}"/>
              </a:ext>
            </a:extLst>
          </p:cNvPr>
          <p:cNvSpPr txBox="1"/>
          <p:nvPr/>
        </p:nvSpPr>
        <p:spPr>
          <a:xfrm>
            <a:off x="11353800" y="142376"/>
            <a:ext cx="6096000" cy="238527"/>
          </a:xfrm>
          <a:prstGeom prst="rect">
            <a:avLst/>
          </a:prstGeom>
          <a:noFill/>
        </p:spPr>
        <p:txBody>
          <a:bodyPr wrap="square">
            <a:spAutoFit/>
          </a:bodyPr>
          <a:lstStyle/>
          <a:p>
            <a:r>
              <a:rPr lang="en-CA" sz="950" b="1" i="0">
                <a:solidFill>
                  <a:schemeClr val="accent3"/>
                </a:solidFill>
                <a:latin typeface="Verdana"/>
              </a:rPr>
              <a:t>TRACK B </a:t>
            </a:r>
            <a:endParaRPr lang="en-CA">
              <a:solidFill>
                <a:schemeClr val="accent3"/>
              </a:solidFill>
            </a:endParaRPr>
          </a:p>
        </p:txBody>
      </p:sp>
      <p:sp>
        <p:nvSpPr>
          <p:cNvPr id="23" name="Text 0">
            <a:extLst>
              <a:ext uri="{FF2B5EF4-FFF2-40B4-BE49-F238E27FC236}">
                <a16:creationId xmlns:a16="http://schemas.microsoft.com/office/drawing/2014/main" id="{791B98B6-EB98-970B-E0D8-E434549DA556}"/>
              </a:ext>
            </a:extLst>
          </p:cNvPr>
          <p:cNvSpPr/>
          <p:nvPr/>
        </p:nvSpPr>
        <p:spPr>
          <a:xfrm>
            <a:off x="279400" y="261640"/>
            <a:ext cx="10883392" cy="238720"/>
          </a:xfrm>
          <a:prstGeom prst="rect">
            <a:avLst/>
          </a:prstGeom>
          <a:noFill/>
          <a:ln/>
        </p:spPr>
        <p:txBody>
          <a:bodyPr wrap="square" lIns="0" tIns="0" rIns="0" bIns="0" rtlCol="0" anchor="t">
            <a:normAutofit/>
          </a:bodyPr>
          <a:lstStyle/>
          <a:p>
            <a:pPr>
              <a:lnSpc>
                <a:spcPts val="1680"/>
              </a:lnSpc>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QUANTUM MODELLING</a:t>
            </a:r>
            <a:endParaRPr lang="en-US" sz="1200">
              <a:latin typeface="Verdan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66A42-FDBB-F5EB-73AA-255444FD3A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2CC03F-2F5E-CF3E-ADFF-81AB33051E46}"/>
              </a:ext>
            </a:extLst>
          </p:cNvPr>
          <p:cNvSpPr/>
          <p:nvPr/>
        </p:nvSpPr>
        <p:spPr>
          <a:xfrm>
            <a:off x="279400" y="26164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MODELLING</a:t>
            </a:r>
            <a:endParaRPr lang="en-US" sz="1200">
              <a:latin typeface="Verdana" panose="020B0604030504040204" pitchFamily="34" charset="0"/>
            </a:endParaRPr>
          </a:p>
        </p:txBody>
      </p:sp>
      <p:sp>
        <p:nvSpPr>
          <p:cNvPr id="3" name="Text 1">
            <a:extLst>
              <a:ext uri="{FF2B5EF4-FFF2-40B4-BE49-F238E27FC236}">
                <a16:creationId xmlns:a16="http://schemas.microsoft.com/office/drawing/2014/main" id="{4D483EA9-D92F-2342-FBA4-DE926EC61D74}"/>
              </a:ext>
            </a:extLst>
          </p:cNvPr>
          <p:cNvSpPr>
            <a:spLocks noGrp="1"/>
          </p:cNvSpPr>
          <p:nvPr>
            <p:ph type="title"/>
          </p:nvPr>
        </p:nvSpPr>
        <p:spPr>
          <a:xfrm>
            <a:off x="327970" y="706067"/>
            <a:ext cx="10883392" cy="472414"/>
          </a:xfrm>
          <a:prstGeom prst="rect">
            <a:avLst/>
          </a:prstGeom>
          <a:noFill/>
          <a:ln/>
        </p:spPr>
        <p:txBody>
          <a:bodyPr wrap="square" lIns="0" tIns="0" rIns="0" bIns="0" rtlCol="0" anchor="t">
            <a:normAutofit/>
          </a:bodyPr>
          <a:lstStyle/>
          <a:p>
            <a:pPr marL="0" indent="0" algn="l">
              <a:lnSpc>
                <a:spcPts val="3520"/>
              </a:lnSpc>
              <a:buNone/>
            </a:pPr>
            <a:r>
              <a:rPr lang="en-US" sz="2400" b="1" i="0">
                <a:solidFill>
                  <a:srgbClr val="0F1B2D"/>
                </a:solidFill>
                <a:latin typeface="Verdana Pro" panose="020B0604030504040204" pitchFamily="34" charset="0"/>
                <a:cs typeface="Space Grotesk" pitchFamily="34" charset="-120"/>
              </a:rPr>
              <a:t>Quantum Vs Classical </a:t>
            </a:r>
            <a:endParaRPr lang="en-US" sz="2400"/>
          </a:p>
        </p:txBody>
      </p:sp>
      <p:sp>
        <p:nvSpPr>
          <p:cNvPr id="4" name="Text 2">
            <a:extLst>
              <a:ext uri="{FF2B5EF4-FFF2-40B4-BE49-F238E27FC236}">
                <a16:creationId xmlns:a16="http://schemas.microsoft.com/office/drawing/2014/main" id="{140F9017-B6A6-D272-EDE6-52AE397FFD44}"/>
              </a:ext>
            </a:extLst>
          </p:cNvPr>
          <p:cNvSpPr/>
          <p:nvPr/>
        </p:nvSpPr>
        <p:spPr>
          <a:xfrm>
            <a:off x="327970" y="1349954"/>
            <a:ext cx="3520440" cy="556182"/>
          </a:xfrm>
          <a:prstGeom prst="rect">
            <a:avLst/>
          </a:prstGeom>
          <a:noFill/>
          <a:ln/>
        </p:spPr>
        <p:txBody>
          <a:bodyPr wrap="square" lIns="0" tIns="0" rIns="0" bIns="0" rtlCol="0" anchor="t">
            <a:normAutofit/>
          </a:bodyPr>
          <a:lstStyle/>
          <a:p>
            <a:pPr marL="0" indent="0" algn="l">
              <a:lnSpc>
                <a:spcPts val="1960"/>
              </a:lnSpc>
              <a:buNone/>
            </a:pPr>
            <a:endParaRPr lang="en-US" sz="1400">
              <a:latin typeface="Verdana" panose="020B0604030504040204" pitchFamily="34" charset="0"/>
            </a:endParaRPr>
          </a:p>
        </p:txBody>
      </p:sp>
      <p:sp>
        <p:nvSpPr>
          <p:cNvPr id="26" name="TextBox 25">
            <a:extLst>
              <a:ext uri="{FF2B5EF4-FFF2-40B4-BE49-F238E27FC236}">
                <a16:creationId xmlns:a16="http://schemas.microsoft.com/office/drawing/2014/main" id="{0FECAB07-809C-B4FC-D642-A9796ECDA21B}"/>
              </a:ext>
            </a:extLst>
          </p:cNvPr>
          <p:cNvSpPr txBox="1"/>
          <p:nvPr/>
        </p:nvSpPr>
        <p:spPr>
          <a:xfrm>
            <a:off x="11353800" y="142376"/>
            <a:ext cx="6096000" cy="238527"/>
          </a:xfrm>
          <a:prstGeom prst="rect">
            <a:avLst/>
          </a:prstGeom>
          <a:noFill/>
        </p:spPr>
        <p:txBody>
          <a:bodyPr wrap="square">
            <a:spAutoFit/>
          </a:bodyPr>
          <a:lstStyle/>
          <a:p>
            <a:r>
              <a:rPr lang="en-CA" sz="950" b="1" i="0">
                <a:solidFill>
                  <a:schemeClr val="accent3"/>
                </a:solidFill>
                <a:latin typeface="Verdana"/>
              </a:rPr>
              <a:t>TRACK B </a:t>
            </a:r>
            <a:endParaRPr lang="en-CA">
              <a:solidFill>
                <a:schemeClr val="accent3"/>
              </a:solidFill>
            </a:endParaRPr>
          </a:p>
        </p:txBody>
      </p:sp>
      <p:sp>
        <p:nvSpPr>
          <p:cNvPr id="25" name="TextBox 24">
            <a:extLst>
              <a:ext uri="{FF2B5EF4-FFF2-40B4-BE49-F238E27FC236}">
                <a16:creationId xmlns:a16="http://schemas.microsoft.com/office/drawing/2014/main" id="{B0A9BABE-0CFD-F392-EEB0-8FB2F90F9D61}"/>
              </a:ext>
            </a:extLst>
          </p:cNvPr>
          <p:cNvSpPr txBox="1"/>
          <p:nvPr/>
        </p:nvSpPr>
        <p:spPr>
          <a:xfrm>
            <a:off x="4220168" y="5631661"/>
            <a:ext cx="3323632" cy="285078"/>
          </a:xfrm>
          <a:prstGeom prst="rect">
            <a:avLst/>
          </a:prstGeom>
          <a:noFill/>
        </p:spPr>
        <p:txBody>
          <a:bodyPr wrap="square">
            <a:spAutoFit/>
          </a:bodyPr>
          <a:lstStyle/>
          <a:p>
            <a:pPr marL="0" indent="0" algn="l">
              <a:lnSpc>
                <a:spcPts val="1740"/>
              </a:lnSpc>
              <a:buNone/>
            </a:pPr>
            <a:r>
              <a:rPr lang="en-US" sz="1100">
                <a:solidFill>
                  <a:srgbClr val="4A5568"/>
                </a:solidFill>
                <a:latin typeface="Verdana" panose="020B0604030504040204" pitchFamily="34" charset="0"/>
                <a:ea typeface="Verdana" panose="020B0604030504040204" pitchFamily="34" charset="0"/>
              </a:rPr>
              <a:t>Simulated model performance over 3 seeds </a:t>
            </a:r>
            <a:endParaRPr lang="en-US" sz="1100">
              <a:latin typeface="Verdana" panose="020B0604030504040204" pitchFamily="34" charset="0"/>
            </a:endParaRPr>
          </a:p>
        </p:txBody>
      </p:sp>
      <p:pic>
        <p:nvPicPr>
          <p:cNvPr id="8" name="Picture 7">
            <a:extLst>
              <a:ext uri="{FF2B5EF4-FFF2-40B4-BE49-F238E27FC236}">
                <a16:creationId xmlns:a16="http://schemas.microsoft.com/office/drawing/2014/main" id="{7BC0D4A9-C161-85D8-4080-272B55ED942E}"/>
              </a:ext>
            </a:extLst>
          </p:cNvPr>
          <p:cNvPicPr>
            <a:picLocks noChangeAspect="1"/>
          </p:cNvPicPr>
          <p:nvPr/>
        </p:nvPicPr>
        <p:blipFill>
          <a:blip r:embed="rId3"/>
          <a:stretch>
            <a:fillRect/>
          </a:stretch>
        </p:blipFill>
        <p:spPr>
          <a:xfrm>
            <a:off x="993901" y="1717033"/>
            <a:ext cx="10204196" cy="3832627"/>
          </a:xfrm>
          <a:prstGeom prst="rect">
            <a:avLst/>
          </a:prstGeom>
        </p:spPr>
      </p:pic>
    </p:spTree>
    <p:extLst>
      <p:ext uri="{BB962C8B-B14F-4D97-AF65-F5344CB8AC3E}">
        <p14:creationId xmlns:p14="http://schemas.microsoft.com/office/powerpoint/2010/main" val="42378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726" y="660301"/>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8AB4FF"/>
                </a:solidFill>
                <a:latin typeface="Verdana" panose="020B0604030504040204" pitchFamily="34" charset="0"/>
                <a:ea typeface="Verdana" panose="020B0604030504040204" pitchFamily="34" charset="0"/>
                <a:cs typeface="IBM Plex Sans" pitchFamily="34" charset="-120"/>
              </a:rPr>
              <a:t>WHY THEY TIE</a:t>
            </a:r>
            <a:endParaRPr lang="en-US" sz="1200">
              <a:latin typeface="Verdana" panose="020B0604030504040204" pitchFamily="34" charset="0"/>
            </a:endParaRPr>
          </a:p>
        </p:txBody>
      </p:sp>
      <p:sp>
        <p:nvSpPr>
          <p:cNvPr id="3" name="Text 1"/>
          <p:cNvSpPr>
            <a:spLocks noGrp="1"/>
          </p:cNvSpPr>
          <p:nvPr>
            <p:ph type="title"/>
          </p:nvPr>
        </p:nvSpPr>
        <p:spPr>
          <a:xfrm>
            <a:off x="812726" y="1000621"/>
            <a:ext cx="9810750" cy="1232396"/>
          </a:xfrm>
          <a:prstGeom prst="rect">
            <a:avLst/>
          </a:prstGeom>
          <a:noFill/>
          <a:ln/>
        </p:spPr>
        <p:txBody>
          <a:bodyPr wrap="square" lIns="0" tIns="0" rIns="0" bIns="0" rtlCol="0" anchor="t">
            <a:normAutofit/>
          </a:bodyPr>
          <a:lstStyle/>
          <a:p>
            <a:pPr marL="0" indent="0" algn="l">
              <a:lnSpc>
                <a:spcPts val="4752"/>
              </a:lnSpc>
              <a:buNone/>
            </a:pPr>
            <a:r>
              <a:rPr lang="en-US" sz="4400" b="1" i="0">
                <a:solidFill>
                  <a:srgbClr val="F3F1EA"/>
                </a:solidFill>
                <a:cs typeface="Space Grotesk" pitchFamily="34" charset="-120"/>
              </a:rPr>
              <a:t>Entanglement made no measurable difference.</a:t>
            </a:r>
            <a:endParaRPr lang="en-US" sz="4400"/>
          </a:p>
        </p:txBody>
      </p:sp>
      <p:sp>
        <p:nvSpPr>
          <p:cNvPr id="4" name="Shape 2"/>
          <p:cNvSpPr/>
          <p:nvPr/>
        </p:nvSpPr>
        <p:spPr>
          <a:xfrm>
            <a:off x="812726" y="2569542"/>
            <a:ext cx="3318991" cy="0"/>
          </a:xfrm>
          <a:prstGeom prst="line">
            <a:avLst/>
          </a:prstGeom>
          <a:noFill/>
          <a:ln w="12700">
            <a:solidFill>
              <a:srgbClr val="2A3C5A"/>
            </a:solidFill>
            <a:prstDash val="solid"/>
          </a:ln>
        </p:spPr>
        <p:txBody>
          <a:bodyPr/>
          <a:lstStyle/>
          <a:p>
            <a:endParaRPr lang="en-CA">
              <a:latin typeface="Verdana" panose="020B0604030504040204" pitchFamily="34" charset="0"/>
            </a:endParaRPr>
          </a:p>
        </p:txBody>
      </p:sp>
      <p:sp>
        <p:nvSpPr>
          <p:cNvPr id="5" name="Text 3"/>
          <p:cNvSpPr/>
          <p:nvPr/>
        </p:nvSpPr>
        <p:spPr>
          <a:xfrm>
            <a:off x="812726" y="2748855"/>
            <a:ext cx="3418561" cy="594296"/>
          </a:xfrm>
          <a:prstGeom prst="rect">
            <a:avLst/>
          </a:prstGeom>
          <a:noFill/>
          <a:ln/>
        </p:spPr>
        <p:txBody>
          <a:bodyPr wrap="square" lIns="0" tIns="0" rIns="0" bIns="0" rtlCol="0" anchor="t">
            <a:normAutofit/>
          </a:bodyPr>
          <a:lstStyle/>
          <a:p>
            <a:pPr marL="0" indent="0" algn="l">
              <a:lnSpc>
                <a:spcPts val="4480"/>
              </a:lnSpc>
              <a:buNone/>
            </a:pPr>
            <a:r>
              <a:rPr lang="en-US" sz="3200" b="1">
                <a:solidFill>
                  <a:srgbClr val="8AB4FF"/>
                </a:solidFill>
                <a:latin typeface="Verdana Pro" panose="020B0604030504040204" pitchFamily="34" charset="0"/>
                <a:ea typeface="Space Grotesk" pitchFamily="34" charset="-122"/>
                <a:cs typeface="Space Grotesk" pitchFamily="34" charset="-120"/>
              </a:rPr>
              <a:t>0.490 D</a:t>
            </a:r>
            <a:endParaRPr lang="en-US" sz="3200">
              <a:latin typeface="Verdana" panose="020B0604030504040204" pitchFamily="34" charset="0"/>
            </a:endParaRPr>
          </a:p>
        </p:txBody>
      </p:sp>
      <p:sp>
        <p:nvSpPr>
          <p:cNvPr id="6" name="Text 4"/>
          <p:cNvSpPr/>
          <p:nvPr/>
        </p:nvSpPr>
        <p:spPr>
          <a:xfrm>
            <a:off x="812726" y="3393901"/>
            <a:ext cx="3418561" cy="487511"/>
          </a:xfrm>
          <a:prstGeom prst="rect">
            <a:avLst/>
          </a:prstGeom>
          <a:noFill/>
          <a:ln/>
        </p:spPr>
        <p:txBody>
          <a:bodyPr wrap="square" lIns="0" tIns="0" rIns="0" bIns="0" rtlCol="0" anchor="t">
            <a:normAutofit fontScale="85000" lnSpcReduction="10000"/>
          </a:bodyPr>
          <a:lstStyle/>
          <a:p>
            <a:pPr marL="0" indent="0" algn="l">
              <a:lnSpc>
                <a:spcPts val="1820"/>
              </a:lnSpc>
              <a:buNone/>
            </a:pPr>
            <a:r>
              <a:rPr lang="en-US" sz="1300">
                <a:solidFill>
                  <a:srgbClr val="B9C4D6"/>
                </a:solidFill>
                <a:latin typeface="Verdana" panose="020B0604030504040204" pitchFamily="34" charset="0"/>
                <a:ea typeface="Verdana" panose="020B0604030504040204" pitchFamily="34" charset="0"/>
                <a:cs typeface="IBM Plex Sans" pitchFamily="34" charset="-120"/>
              </a:rPr>
              <a:t>A product-state kernel with no entangling gates, vs 0.492 D for the ZZ map (N = 1,000)</a:t>
            </a:r>
            <a:endParaRPr lang="en-US" sz="1300">
              <a:latin typeface="Verdana" panose="020B0604030504040204" pitchFamily="34" charset="0"/>
            </a:endParaRPr>
          </a:p>
        </p:txBody>
      </p:sp>
      <p:sp>
        <p:nvSpPr>
          <p:cNvPr id="7" name="Shape 5"/>
          <p:cNvSpPr/>
          <p:nvPr/>
        </p:nvSpPr>
        <p:spPr>
          <a:xfrm>
            <a:off x="4436442" y="2569542"/>
            <a:ext cx="3319115" cy="0"/>
          </a:xfrm>
          <a:prstGeom prst="line">
            <a:avLst/>
          </a:prstGeom>
          <a:noFill/>
          <a:ln w="12700">
            <a:solidFill>
              <a:srgbClr val="2A3C5A"/>
            </a:solidFill>
            <a:prstDash val="solid"/>
          </a:ln>
        </p:spPr>
        <p:txBody>
          <a:bodyPr/>
          <a:lstStyle/>
          <a:p>
            <a:endParaRPr lang="en-CA">
              <a:latin typeface="Verdana" panose="020B0604030504040204" pitchFamily="34" charset="0"/>
            </a:endParaRPr>
          </a:p>
        </p:txBody>
      </p:sp>
      <p:sp>
        <p:nvSpPr>
          <p:cNvPr id="8" name="Text 6"/>
          <p:cNvSpPr/>
          <p:nvPr/>
        </p:nvSpPr>
        <p:spPr>
          <a:xfrm>
            <a:off x="4436442" y="2748855"/>
            <a:ext cx="3418689" cy="594296"/>
          </a:xfrm>
          <a:prstGeom prst="rect">
            <a:avLst/>
          </a:prstGeom>
          <a:noFill/>
          <a:ln/>
        </p:spPr>
        <p:txBody>
          <a:bodyPr wrap="square" lIns="0" tIns="0" rIns="0" bIns="0" rtlCol="0" anchor="t">
            <a:normAutofit/>
          </a:bodyPr>
          <a:lstStyle/>
          <a:p>
            <a:pPr marL="0" indent="0" algn="l">
              <a:lnSpc>
                <a:spcPts val="4480"/>
              </a:lnSpc>
              <a:buNone/>
            </a:pPr>
            <a:r>
              <a:rPr lang="en-US" sz="3200" b="1">
                <a:solidFill>
                  <a:srgbClr val="8AB4FF"/>
                </a:solidFill>
                <a:latin typeface="Verdana Pro" panose="020B0604030504040204" pitchFamily="34" charset="0"/>
                <a:ea typeface="Space Grotesk" pitchFamily="34" charset="-122"/>
                <a:cs typeface="Space Grotesk" pitchFamily="34" charset="-120"/>
              </a:rPr>
              <a:t>71.4 vs 71.7</a:t>
            </a:r>
            <a:endParaRPr lang="en-US" sz="3200">
              <a:latin typeface="Verdana" panose="020B0604030504040204" pitchFamily="34" charset="0"/>
            </a:endParaRPr>
          </a:p>
        </p:txBody>
      </p:sp>
      <p:sp>
        <p:nvSpPr>
          <p:cNvPr id="9" name="Text 7"/>
          <p:cNvSpPr/>
          <p:nvPr/>
        </p:nvSpPr>
        <p:spPr>
          <a:xfrm>
            <a:off x="4436442" y="3393901"/>
            <a:ext cx="3418689" cy="718567"/>
          </a:xfrm>
          <a:prstGeom prst="rect">
            <a:avLst/>
          </a:prstGeom>
          <a:noFill/>
          <a:ln/>
        </p:spPr>
        <p:txBody>
          <a:bodyPr wrap="square" lIns="0" tIns="0" rIns="0" bIns="0" rtlCol="0" anchor="t">
            <a:normAutofit/>
          </a:bodyPr>
          <a:lstStyle/>
          <a:p>
            <a:pPr marL="0" indent="0" algn="l">
              <a:lnSpc>
                <a:spcPts val="1820"/>
              </a:lnSpc>
              <a:buNone/>
            </a:pPr>
            <a:r>
              <a:rPr lang="en-US" sz="1300">
                <a:solidFill>
                  <a:srgbClr val="B9C4D6"/>
                </a:solidFill>
                <a:latin typeface="Verdana" panose="020B0604030504040204" pitchFamily="34" charset="0"/>
                <a:ea typeface="Verdana" panose="020B0604030504040204" pitchFamily="34" charset="0"/>
                <a:cs typeface="IBM Plex Sans" pitchFamily="34" charset="-120"/>
              </a:rPr>
              <a:t>Effective parameters of the quantum kernel and of RBF kernel ridge, at the settings CV chose</a:t>
            </a:r>
            <a:endParaRPr lang="en-US" sz="1300">
              <a:latin typeface="Verdana" panose="020B0604030504040204" pitchFamily="34" charset="0"/>
            </a:endParaRPr>
          </a:p>
        </p:txBody>
      </p:sp>
      <p:sp>
        <p:nvSpPr>
          <p:cNvPr id="10" name="Shape 8"/>
          <p:cNvSpPr/>
          <p:nvPr/>
        </p:nvSpPr>
        <p:spPr>
          <a:xfrm>
            <a:off x="8060283" y="2569542"/>
            <a:ext cx="3318991" cy="0"/>
          </a:xfrm>
          <a:prstGeom prst="line">
            <a:avLst/>
          </a:prstGeom>
          <a:noFill/>
          <a:ln w="12700">
            <a:solidFill>
              <a:srgbClr val="2A3C5A"/>
            </a:solidFill>
            <a:prstDash val="solid"/>
          </a:ln>
        </p:spPr>
        <p:txBody>
          <a:bodyPr/>
          <a:lstStyle/>
          <a:p>
            <a:endParaRPr lang="en-CA">
              <a:latin typeface="Verdana" panose="020B0604030504040204" pitchFamily="34" charset="0"/>
            </a:endParaRPr>
          </a:p>
        </p:txBody>
      </p:sp>
      <p:sp>
        <p:nvSpPr>
          <p:cNvPr id="11" name="Text 9"/>
          <p:cNvSpPr/>
          <p:nvPr/>
        </p:nvSpPr>
        <p:spPr>
          <a:xfrm>
            <a:off x="8060283" y="2748855"/>
            <a:ext cx="3418561" cy="594296"/>
          </a:xfrm>
          <a:prstGeom prst="rect">
            <a:avLst/>
          </a:prstGeom>
          <a:noFill/>
          <a:ln/>
        </p:spPr>
        <p:txBody>
          <a:bodyPr wrap="square" lIns="0" tIns="0" rIns="0" bIns="0" rtlCol="0" anchor="t">
            <a:normAutofit/>
          </a:bodyPr>
          <a:lstStyle/>
          <a:p>
            <a:pPr marL="0" indent="0" algn="l">
              <a:lnSpc>
                <a:spcPts val="4480"/>
              </a:lnSpc>
              <a:buNone/>
            </a:pPr>
            <a:r>
              <a:rPr lang="en-US" sz="3200" b="1">
                <a:solidFill>
                  <a:srgbClr val="8AB4FF"/>
                </a:solidFill>
                <a:latin typeface="Verdana Pro" panose="020B0604030504040204" pitchFamily="34" charset="0"/>
                <a:ea typeface="Space Grotesk" pitchFamily="34" charset="-122"/>
                <a:cs typeface="Space Grotesk" pitchFamily="34" charset="-120"/>
              </a:rPr>
              <a:t>≈ 0</a:t>
            </a:r>
            <a:endParaRPr lang="en-US" sz="3200">
              <a:latin typeface="Verdana" panose="020B0604030504040204" pitchFamily="34" charset="0"/>
            </a:endParaRPr>
          </a:p>
        </p:txBody>
      </p:sp>
      <p:sp>
        <p:nvSpPr>
          <p:cNvPr id="12" name="Text 10"/>
          <p:cNvSpPr/>
          <p:nvPr/>
        </p:nvSpPr>
        <p:spPr>
          <a:xfrm>
            <a:off x="8060283" y="3393901"/>
            <a:ext cx="3418561" cy="718567"/>
          </a:xfrm>
          <a:prstGeom prst="rect">
            <a:avLst/>
          </a:prstGeom>
          <a:noFill/>
          <a:ln/>
        </p:spPr>
        <p:txBody>
          <a:bodyPr wrap="square" lIns="0" tIns="0" rIns="0" bIns="0" rtlCol="0" anchor="t">
            <a:normAutofit/>
          </a:bodyPr>
          <a:lstStyle/>
          <a:p>
            <a:pPr marL="0" indent="0" algn="l">
              <a:lnSpc>
                <a:spcPts val="1820"/>
              </a:lnSpc>
              <a:buNone/>
            </a:pPr>
            <a:r>
              <a:rPr lang="en-US" sz="1300">
                <a:solidFill>
                  <a:srgbClr val="B9C4D6"/>
                </a:solidFill>
                <a:latin typeface="Verdana" panose="020B0604030504040204" pitchFamily="34" charset="0"/>
                <a:ea typeface="Verdana" panose="020B0604030504040204" pitchFamily="34" charset="0"/>
                <a:cs typeface="IBM Plex Sans" pitchFamily="34" charset="-120"/>
              </a:rPr>
              <a:t>Mean off-diagonal kernel entry on 16 qubits at γ = 1: at larger angles every molecule looks orthogonal</a:t>
            </a:r>
            <a:endParaRPr lang="en-US" sz="1300">
              <a:latin typeface="Verdana" panose="020B0604030504040204" pitchFamily="34" charset="0"/>
            </a:endParaRPr>
          </a:p>
        </p:txBody>
      </p:sp>
      <p:sp>
        <p:nvSpPr>
          <p:cNvPr id="13" name="Text 11"/>
          <p:cNvSpPr/>
          <p:nvPr/>
        </p:nvSpPr>
        <p:spPr>
          <a:xfrm>
            <a:off x="812726" y="4442644"/>
            <a:ext cx="9810750" cy="577800"/>
          </a:xfrm>
          <a:prstGeom prst="rect">
            <a:avLst/>
          </a:prstGeom>
          <a:noFill/>
          <a:ln/>
        </p:spPr>
        <p:txBody>
          <a:bodyPr wrap="square" lIns="0" tIns="0" rIns="0" bIns="0" rtlCol="0" anchor="t">
            <a:normAutofit/>
          </a:bodyPr>
          <a:lstStyle/>
          <a:p>
            <a:pPr marL="0" indent="0" algn="l">
              <a:lnSpc>
                <a:spcPts val="2175"/>
              </a:lnSpc>
              <a:buNone/>
            </a:pPr>
            <a:r>
              <a:rPr lang="en-US" sz="1500">
                <a:solidFill>
                  <a:srgbClr val="F3F1EA"/>
                </a:solidFill>
                <a:latin typeface="Verdana" panose="020B0604030504040204" pitchFamily="34" charset="0"/>
                <a:ea typeface="Verdana" panose="020B0604030504040204" pitchFamily="34" charset="0"/>
                <a:cs typeface="IBM Plex Sans" pitchFamily="34" charset="-120"/>
              </a:rPr>
              <a:t>Cross-validation picks the smallest angle scale, where the fidelity kernel behaves like a wide classical RBF kernel. That is the regime where it works, and in that regime it is effectively classical.</a:t>
            </a:r>
            <a:endParaRPr lang="en-US" sz="1500">
              <a:latin typeface="Verdana" panose="020B060403050404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890FC-54F8-1E7C-2730-529D6B79B2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C7EC4E-F44C-EA6F-5DEA-17A2719F9167}"/>
              </a:ext>
            </a:extLst>
          </p:cNvPr>
          <p:cNvSpPr/>
          <p:nvPr/>
        </p:nvSpPr>
        <p:spPr>
          <a:xfrm>
            <a:off x="812726" y="660301"/>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IBM Plex Sans" pitchFamily="34" charset="0"/>
                <a:ea typeface="IBM Plex Sans" pitchFamily="34" charset="-122"/>
                <a:cs typeface="IBM Plex Sans" pitchFamily="34" charset="-120"/>
              </a:rPr>
              <a:t>MEASURING PERFORMANCE</a:t>
            </a:r>
            <a:endParaRPr lang="en-US" sz="1200"/>
          </a:p>
        </p:txBody>
      </p:sp>
      <p:sp>
        <p:nvSpPr>
          <p:cNvPr id="3" name="Text 1">
            <a:extLst>
              <a:ext uri="{FF2B5EF4-FFF2-40B4-BE49-F238E27FC236}">
                <a16:creationId xmlns:a16="http://schemas.microsoft.com/office/drawing/2014/main" id="{A3B26320-3172-32F8-8557-BEB9C587DE53}"/>
              </a:ext>
            </a:extLst>
          </p:cNvPr>
          <p:cNvSpPr>
            <a:spLocks noGrp="1"/>
          </p:cNvSpPr>
          <p:nvPr>
            <p:ph type="title"/>
          </p:nvPr>
        </p:nvSpPr>
        <p:spPr>
          <a:xfrm>
            <a:off x="812726" y="975196"/>
            <a:ext cx="10883545" cy="919361"/>
          </a:xfrm>
          <a:prstGeom prst="rect">
            <a:avLst/>
          </a:prstGeom>
          <a:noFill/>
          <a:ln/>
        </p:spPr>
        <p:txBody>
          <a:bodyPr wrap="square" lIns="0" tIns="0" rIns="0" bIns="0" rtlCol="0" anchor="t">
            <a:normAutofit/>
          </a:bodyPr>
          <a:lstStyle/>
          <a:p>
            <a:pPr>
              <a:lnSpc>
                <a:spcPts val="3520"/>
              </a:lnSpc>
            </a:pPr>
            <a:r>
              <a:rPr lang="en-US" b="1"/>
              <a:t>Isolating molecule representation choices</a:t>
            </a:r>
            <a:endParaRPr lang="en-US"/>
          </a:p>
        </p:txBody>
      </p:sp>
      <p:sp>
        <p:nvSpPr>
          <p:cNvPr id="4" name="Text 2">
            <a:extLst>
              <a:ext uri="{FF2B5EF4-FFF2-40B4-BE49-F238E27FC236}">
                <a16:creationId xmlns:a16="http://schemas.microsoft.com/office/drawing/2014/main" id="{62D5F823-A4B1-3B1F-9F1A-C094366852F2}"/>
              </a:ext>
            </a:extLst>
          </p:cNvPr>
          <p:cNvSpPr/>
          <p:nvPr/>
        </p:nvSpPr>
        <p:spPr>
          <a:xfrm>
            <a:off x="815901" y="1558056"/>
            <a:ext cx="9810750" cy="1130201"/>
          </a:xfrm>
          <a:prstGeom prst="rect">
            <a:avLst/>
          </a:prstGeom>
          <a:noFill/>
          <a:ln/>
        </p:spPr>
        <p:txBody>
          <a:bodyPr wrap="square" lIns="0" tIns="0" rIns="0" bIns="0" rtlCol="0" anchor="t">
            <a:normAutofit/>
          </a:bodyPr>
          <a:lstStyle/>
          <a:p>
            <a:pPr marL="0" indent="0" algn="l">
              <a:lnSpc>
                <a:spcPts val="2175"/>
              </a:lnSpc>
              <a:buNone/>
            </a:pPr>
            <a:r>
              <a:rPr lang="en-US" sz="1600" b="1"/>
              <a:t>Relevant representations/inputs to measure:</a:t>
            </a:r>
          </a:p>
          <a:p>
            <a:pPr marL="0" indent="0" algn="l">
              <a:lnSpc>
                <a:spcPts val="2175"/>
              </a:lnSpc>
              <a:buNone/>
            </a:pPr>
            <a:endParaRPr lang="en-US" sz="1600" b="1"/>
          </a:p>
        </p:txBody>
      </p:sp>
      <p:sp>
        <p:nvSpPr>
          <p:cNvPr id="5" name="Shape 3">
            <a:extLst>
              <a:ext uri="{FF2B5EF4-FFF2-40B4-BE49-F238E27FC236}">
                <a16:creationId xmlns:a16="http://schemas.microsoft.com/office/drawing/2014/main" id="{6B70F44A-6B69-92F8-3F2B-48BDB5D1373E}"/>
              </a:ext>
            </a:extLst>
          </p:cNvPr>
          <p:cNvSpPr/>
          <p:nvPr/>
        </p:nvSpPr>
        <p:spPr>
          <a:xfrm>
            <a:off x="815901" y="2538686"/>
            <a:ext cx="5309186" cy="2547412"/>
          </a:xfrm>
          <a:prstGeom prst="roundRect">
            <a:avLst>
              <a:gd name="adj" fmla="val 6140"/>
            </a:avLst>
          </a:prstGeom>
          <a:solidFill>
            <a:srgbClr val="FDFCF9"/>
          </a:solidFill>
          <a:ln w="6350">
            <a:solidFill>
              <a:srgbClr val="E2DED5"/>
            </a:solidFill>
            <a:prstDash val="solid"/>
          </a:ln>
        </p:spPr>
        <p:txBody>
          <a:bodyPr/>
          <a:lstStyle/>
          <a:p>
            <a:endParaRPr lang="en-CA" sz="2800"/>
          </a:p>
        </p:txBody>
      </p:sp>
      <p:sp>
        <p:nvSpPr>
          <p:cNvPr id="6" name="Text 4">
            <a:extLst>
              <a:ext uri="{FF2B5EF4-FFF2-40B4-BE49-F238E27FC236}">
                <a16:creationId xmlns:a16="http://schemas.microsoft.com/office/drawing/2014/main" id="{E18465D7-24EA-3E44-C73D-B87DBE8CCF7C}"/>
              </a:ext>
            </a:extLst>
          </p:cNvPr>
          <p:cNvSpPr/>
          <p:nvPr/>
        </p:nvSpPr>
        <p:spPr>
          <a:xfrm>
            <a:off x="1023814" y="2746599"/>
            <a:ext cx="4566466" cy="562151"/>
          </a:xfrm>
          <a:prstGeom prst="rect">
            <a:avLst/>
          </a:prstGeom>
          <a:noFill/>
          <a:ln/>
        </p:spPr>
        <p:txBody>
          <a:bodyPr wrap="square" lIns="0" tIns="0" rIns="0" bIns="0" rtlCol="0" anchor="t">
            <a:normAutofit/>
          </a:bodyPr>
          <a:lstStyle/>
          <a:p>
            <a:pPr marL="0" indent="0" algn="l">
              <a:lnSpc>
                <a:spcPts val="3080"/>
              </a:lnSpc>
              <a:buNone/>
            </a:pPr>
            <a:r>
              <a:rPr lang="en-US" sz="2800" b="1" u="sng">
                <a:solidFill>
                  <a:srgbClr val="2558C0"/>
                </a:solidFill>
                <a:latin typeface="Space Grotesk" pitchFamily="34" charset="0"/>
                <a:ea typeface="Space Grotesk" pitchFamily="34" charset="-122"/>
                <a:cs typeface="Space Grotesk" pitchFamily="34" charset="-120"/>
              </a:rPr>
              <a:t>01 – Composition-only</a:t>
            </a:r>
            <a:endParaRPr lang="en-US" sz="2800" u="sng"/>
          </a:p>
        </p:txBody>
      </p:sp>
      <p:sp>
        <p:nvSpPr>
          <p:cNvPr id="7" name="Text 5">
            <a:extLst>
              <a:ext uri="{FF2B5EF4-FFF2-40B4-BE49-F238E27FC236}">
                <a16:creationId xmlns:a16="http://schemas.microsoft.com/office/drawing/2014/main" id="{5F575AEC-D167-8A43-6367-B1E9D9E00CC9}"/>
              </a:ext>
            </a:extLst>
          </p:cNvPr>
          <p:cNvSpPr/>
          <p:nvPr/>
        </p:nvSpPr>
        <p:spPr>
          <a:xfrm>
            <a:off x="1023691" y="3459912"/>
            <a:ext cx="4566466" cy="1450878"/>
          </a:xfrm>
          <a:prstGeom prst="rect">
            <a:avLst/>
          </a:prstGeom>
          <a:noFill/>
          <a:ln/>
        </p:spPr>
        <p:txBody>
          <a:bodyPr wrap="square" lIns="0" tIns="0" rIns="0" bIns="0" rtlCol="0" anchor="t">
            <a:normAutofit/>
          </a:bodyPr>
          <a:lstStyle/>
          <a:p>
            <a:pPr marL="285750" indent="-285750" algn="l">
              <a:buFont typeface="Arial" panose="020B0604020202020204" pitchFamily="34" charset="0"/>
              <a:buChar char="•"/>
            </a:pPr>
            <a:r>
              <a:rPr lang="en-US" sz="2400">
                <a:solidFill>
                  <a:srgbClr val="1B2433"/>
                </a:solidFill>
                <a:latin typeface="IBM Plex Sans" pitchFamily="34" charset="0"/>
                <a:ea typeface="IBM Plex Sans" pitchFamily="34" charset="-122"/>
                <a:cs typeface="IBM Plex Sans" pitchFamily="34" charset="-120"/>
              </a:rPr>
              <a:t>Count of 5 atoms (C, H, N, O, F)</a:t>
            </a:r>
          </a:p>
          <a:p>
            <a:pPr marL="285750" indent="-285750">
              <a:buFont typeface="Arial" panose="020B0604020202020204" pitchFamily="34" charset="0"/>
              <a:buChar char="•"/>
            </a:pPr>
            <a:r>
              <a:rPr lang="en-US" sz="2400" b="1"/>
              <a:t>5 qubits</a:t>
            </a:r>
          </a:p>
        </p:txBody>
      </p:sp>
      <p:sp>
        <p:nvSpPr>
          <p:cNvPr id="8" name="Shape 6">
            <a:extLst>
              <a:ext uri="{FF2B5EF4-FFF2-40B4-BE49-F238E27FC236}">
                <a16:creationId xmlns:a16="http://schemas.microsoft.com/office/drawing/2014/main" id="{7F0D968E-3689-2BFE-0A09-3119B3BB9DE5}"/>
              </a:ext>
            </a:extLst>
          </p:cNvPr>
          <p:cNvSpPr/>
          <p:nvPr/>
        </p:nvSpPr>
        <p:spPr>
          <a:xfrm>
            <a:off x="6387084" y="2538686"/>
            <a:ext cx="5309187" cy="2547412"/>
          </a:xfrm>
          <a:prstGeom prst="roundRect">
            <a:avLst>
              <a:gd name="adj" fmla="val 6140"/>
            </a:avLst>
          </a:prstGeom>
          <a:solidFill>
            <a:srgbClr val="FDFCF9"/>
          </a:solidFill>
          <a:ln w="6350">
            <a:solidFill>
              <a:srgbClr val="E2DED5"/>
            </a:solidFill>
            <a:prstDash val="solid"/>
          </a:ln>
        </p:spPr>
        <p:txBody>
          <a:bodyPr/>
          <a:lstStyle/>
          <a:p>
            <a:endParaRPr lang="en-CA" sz="2800"/>
          </a:p>
        </p:txBody>
      </p:sp>
      <p:sp>
        <p:nvSpPr>
          <p:cNvPr id="9" name="Text 7">
            <a:extLst>
              <a:ext uri="{FF2B5EF4-FFF2-40B4-BE49-F238E27FC236}">
                <a16:creationId xmlns:a16="http://schemas.microsoft.com/office/drawing/2014/main" id="{122FAAED-1C99-C7FD-8E64-D7C15C5AFE4A}"/>
              </a:ext>
            </a:extLst>
          </p:cNvPr>
          <p:cNvSpPr/>
          <p:nvPr/>
        </p:nvSpPr>
        <p:spPr>
          <a:xfrm>
            <a:off x="6594997" y="2746599"/>
            <a:ext cx="4566511" cy="562150"/>
          </a:xfrm>
          <a:prstGeom prst="rect">
            <a:avLst/>
          </a:prstGeom>
          <a:noFill/>
          <a:ln/>
        </p:spPr>
        <p:txBody>
          <a:bodyPr wrap="square" lIns="0" tIns="0" rIns="0" bIns="0" rtlCol="0" anchor="t">
            <a:normAutofit/>
          </a:bodyPr>
          <a:lstStyle/>
          <a:p>
            <a:pPr marL="0" indent="0" algn="l">
              <a:lnSpc>
                <a:spcPts val="3080"/>
              </a:lnSpc>
              <a:buNone/>
            </a:pPr>
            <a:r>
              <a:rPr lang="en-US" sz="2800" b="1" u="sng">
                <a:solidFill>
                  <a:srgbClr val="2558C0"/>
                </a:solidFill>
                <a:latin typeface="Space Grotesk" pitchFamily="34" charset="0"/>
                <a:ea typeface="Space Grotesk" pitchFamily="34" charset="-122"/>
                <a:cs typeface="Space Grotesk" pitchFamily="34" charset="-120"/>
              </a:rPr>
              <a:t>02 – Geometry-aware</a:t>
            </a:r>
            <a:endParaRPr lang="en-US" sz="2800" u="sng"/>
          </a:p>
        </p:txBody>
      </p:sp>
      <p:sp>
        <p:nvSpPr>
          <p:cNvPr id="10" name="Text 8">
            <a:extLst>
              <a:ext uri="{FF2B5EF4-FFF2-40B4-BE49-F238E27FC236}">
                <a16:creationId xmlns:a16="http://schemas.microsoft.com/office/drawing/2014/main" id="{4C93FD49-1EC6-9D23-0F93-815F034B4F78}"/>
              </a:ext>
            </a:extLst>
          </p:cNvPr>
          <p:cNvSpPr/>
          <p:nvPr/>
        </p:nvSpPr>
        <p:spPr>
          <a:xfrm>
            <a:off x="6594993" y="3459912"/>
            <a:ext cx="4781105" cy="1450878"/>
          </a:xfrm>
          <a:prstGeom prst="rect">
            <a:avLst/>
          </a:prstGeom>
          <a:noFill/>
          <a:ln/>
        </p:spPr>
        <p:txBody>
          <a:bodyPr wrap="square" lIns="0" tIns="0" rIns="0" bIns="0" rtlCol="0" anchor="t">
            <a:noAutofit/>
          </a:bodyPr>
          <a:lstStyle/>
          <a:p>
            <a:pPr marL="285750" indent="-285750" algn="l">
              <a:buFont typeface="Arial" panose="020B0604020202020204" pitchFamily="34" charset="0"/>
              <a:buChar char="•"/>
            </a:pPr>
            <a:r>
              <a:rPr lang="en-US" sz="2400">
                <a:solidFill>
                  <a:srgbClr val="1B2433"/>
                </a:solidFill>
                <a:latin typeface="IBM Plex Sans" pitchFamily="34" charset="0"/>
                <a:ea typeface="IBM Plex Sans" pitchFamily="34" charset="-122"/>
                <a:cs typeface="IBM Plex Sans" pitchFamily="34" charset="-120"/>
              </a:rPr>
              <a:t>All 188 descriptors, compressed to 10</a:t>
            </a:r>
          </a:p>
          <a:p>
            <a:pPr marL="285750" indent="-285750" algn="l">
              <a:buFont typeface="Arial" panose="020B0604020202020204" pitchFamily="34" charset="0"/>
              <a:buChar char="•"/>
            </a:pPr>
            <a:r>
              <a:rPr lang="en-US" sz="2400" b="1">
                <a:solidFill>
                  <a:srgbClr val="1B2433"/>
                </a:solidFill>
                <a:latin typeface="IBM Plex Sans" pitchFamily="34" charset="0"/>
                <a:ea typeface="IBM Plex Sans" pitchFamily="34" charset="-122"/>
                <a:cs typeface="IBM Plex Sans" pitchFamily="34" charset="-120"/>
              </a:rPr>
              <a:t>10 qubits</a:t>
            </a:r>
          </a:p>
        </p:txBody>
      </p:sp>
    </p:spTree>
    <p:extLst>
      <p:ext uri="{BB962C8B-B14F-4D97-AF65-F5344CB8AC3E}">
        <p14:creationId xmlns:p14="http://schemas.microsoft.com/office/powerpoint/2010/main" val="3518126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F85E6-CD0F-A968-3047-76416F083B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093748-4EAC-F1D2-1052-8DE978129868}"/>
              </a:ext>
            </a:extLst>
          </p:cNvPr>
          <p:cNvSpPr/>
          <p:nvPr/>
        </p:nvSpPr>
        <p:spPr>
          <a:xfrm>
            <a:off x="812726" y="660301"/>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IBM Plex Sans" pitchFamily="34" charset="0"/>
                <a:ea typeface="IBM Plex Sans" pitchFamily="34" charset="-122"/>
                <a:cs typeface="IBM Plex Sans" pitchFamily="34" charset="-120"/>
              </a:rPr>
              <a:t>MEASURING PERFORMANCE</a:t>
            </a:r>
            <a:endParaRPr lang="en-US" sz="1200"/>
          </a:p>
        </p:txBody>
      </p:sp>
      <p:sp>
        <p:nvSpPr>
          <p:cNvPr id="3" name="Text 1">
            <a:extLst>
              <a:ext uri="{FF2B5EF4-FFF2-40B4-BE49-F238E27FC236}">
                <a16:creationId xmlns:a16="http://schemas.microsoft.com/office/drawing/2014/main" id="{51787C1D-01C5-3A11-DB75-4C61BCF6E483}"/>
              </a:ext>
            </a:extLst>
          </p:cNvPr>
          <p:cNvSpPr>
            <a:spLocks noGrp="1"/>
          </p:cNvSpPr>
          <p:nvPr>
            <p:ph type="title"/>
          </p:nvPr>
        </p:nvSpPr>
        <p:spPr>
          <a:xfrm>
            <a:off x="812726" y="975197"/>
            <a:ext cx="10883545" cy="582860"/>
          </a:xfrm>
          <a:prstGeom prst="rect">
            <a:avLst/>
          </a:prstGeom>
          <a:noFill/>
          <a:ln/>
        </p:spPr>
        <p:txBody>
          <a:bodyPr wrap="square" lIns="0" tIns="0" rIns="0" bIns="0" rtlCol="0" anchor="t">
            <a:normAutofit/>
          </a:bodyPr>
          <a:lstStyle/>
          <a:p>
            <a:pPr>
              <a:lnSpc>
                <a:spcPts val="3520"/>
              </a:lnSpc>
            </a:pPr>
            <a:r>
              <a:rPr lang="en-US" b="1"/>
              <a:t>The effect of geometry on training size</a:t>
            </a:r>
            <a:endParaRPr lang="en-US" sz="3200"/>
          </a:p>
        </p:txBody>
      </p:sp>
      <p:sp>
        <p:nvSpPr>
          <p:cNvPr id="4" name="Text 2">
            <a:extLst>
              <a:ext uri="{FF2B5EF4-FFF2-40B4-BE49-F238E27FC236}">
                <a16:creationId xmlns:a16="http://schemas.microsoft.com/office/drawing/2014/main" id="{600018DF-19EB-8308-FF93-78C08119A2E8}"/>
              </a:ext>
            </a:extLst>
          </p:cNvPr>
          <p:cNvSpPr/>
          <p:nvPr/>
        </p:nvSpPr>
        <p:spPr>
          <a:xfrm>
            <a:off x="815901" y="1558056"/>
            <a:ext cx="9810750" cy="1130201"/>
          </a:xfrm>
          <a:prstGeom prst="rect">
            <a:avLst/>
          </a:prstGeom>
          <a:noFill/>
          <a:ln/>
        </p:spPr>
        <p:txBody>
          <a:bodyPr wrap="square" lIns="0" tIns="0" rIns="0" bIns="0" rtlCol="0" anchor="t">
            <a:normAutofit/>
          </a:bodyPr>
          <a:lstStyle/>
          <a:p>
            <a:pPr marL="0" indent="0" algn="l">
              <a:lnSpc>
                <a:spcPts val="2175"/>
              </a:lnSpc>
              <a:buNone/>
            </a:pPr>
            <a:r>
              <a:rPr lang="en-US" sz="1500" b="1" i="1"/>
              <a:t>Measuring MAE for </a:t>
            </a:r>
            <a:r>
              <a:rPr lang="en-US" sz="1500" b="1" i="1" u="sng">
                <a:solidFill>
                  <a:schemeClr val="accent2">
                    <a:lumMod val="50000"/>
                  </a:schemeClr>
                </a:solidFill>
              </a:rPr>
              <a:t>composition-only</a:t>
            </a:r>
            <a:r>
              <a:rPr lang="en-US" sz="1500" b="1" i="1"/>
              <a:t> versus </a:t>
            </a:r>
            <a:r>
              <a:rPr lang="en-US" sz="1500" b="1" i="1" u="sng">
                <a:solidFill>
                  <a:schemeClr val="accent5">
                    <a:lumMod val="60000"/>
                    <a:lumOff val="40000"/>
                  </a:schemeClr>
                </a:solidFill>
              </a:rPr>
              <a:t>geometry-aware</a:t>
            </a:r>
          </a:p>
        </p:txBody>
      </p:sp>
      <p:graphicFrame>
        <p:nvGraphicFramePr>
          <p:cNvPr id="23" name="Table 22">
            <a:extLst>
              <a:ext uri="{FF2B5EF4-FFF2-40B4-BE49-F238E27FC236}">
                <a16:creationId xmlns:a16="http://schemas.microsoft.com/office/drawing/2014/main" id="{1239FD63-DB31-032A-E592-B9D7B0C1171F}"/>
              </a:ext>
            </a:extLst>
          </p:cNvPr>
          <p:cNvGraphicFramePr>
            <a:graphicFrameLocks noGrp="1"/>
          </p:cNvGraphicFramePr>
          <p:nvPr/>
        </p:nvGraphicFramePr>
        <p:xfrm>
          <a:off x="815901" y="2127584"/>
          <a:ext cx="6978770" cy="4084320"/>
        </p:xfrm>
        <a:graphic>
          <a:graphicData uri="http://schemas.openxmlformats.org/drawingml/2006/table">
            <a:tbl>
              <a:tblPr>
                <a:tableStyleId>{5C22544A-7EE6-4342-B048-85BDC9FD1C3A}</a:tableStyleId>
              </a:tblPr>
              <a:tblGrid>
                <a:gridCol w="1395754">
                  <a:extLst>
                    <a:ext uri="{9D8B030D-6E8A-4147-A177-3AD203B41FA5}">
                      <a16:colId xmlns:a16="http://schemas.microsoft.com/office/drawing/2014/main" val="3093543680"/>
                    </a:ext>
                  </a:extLst>
                </a:gridCol>
                <a:gridCol w="1395754">
                  <a:extLst>
                    <a:ext uri="{9D8B030D-6E8A-4147-A177-3AD203B41FA5}">
                      <a16:colId xmlns:a16="http://schemas.microsoft.com/office/drawing/2014/main" val="4165422944"/>
                    </a:ext>
                  </a:extLst>
                </a:gridCol>
                <a:gridCol w="1395754">
                  <a:extLst>
                    <a:ext uri="{9D8B030D-6E8A-4147-A177-3AD203B41FA5}">
                      <a16:colId xmlns:a16="http://schemas.microsoft.com/office/drawing/2014/main" val="1624514775"/>
                    </a:ext>
                  </a:extLst>
                </a:gridCol>
                <a:gridCol w="1395754">
                  <a:extLst>
                    <a:ext uri="{9D8B030D-6E8A-4147-A177-3AD203B41FA5}">
                      <a16:colId xmlns:a16="http://schemas.microsoft.com/office/drawing/2014/main" val="4112965618"/>
                    </a:ext>
                  </a:extLst>
                </a:gridCol>
                <a:gridCol w="1395754">
                  <a:extLst>
                    <a:ext uri="{9D8B030D-6E8A-4147-A177-3AD203B41FA5}">
                      <a16:colId xmlns:a16="http://schemas.microsoft.com/office/drawing/2014/main" val="1430003286"/>
                    </a:ext>
                  </a:extLst>
                </a:gridCol>
              </a:tblGrid>
              <a:tr h="200389">
                <a:tc>
                  <a:txBody>
                    <a:bodyPr/>
                    <a:lstStyle/>
                    <a:p>
                      <a:pPr algn="r" fontAlgn="ctr">
                        <a:buNone/>
                      </a:pPr>
                      <a:r>
                        <a:rPr lang="en-CA" sz="900" b="1">
                          <a:effectLst/>
                        </a:rPr>
                        <a:t> </a:t>
                      </a:r>
                      <a:endParaRPr lang="en-CA" sz="900" b="1" i="0">
                        <a:solidFill>
                          <a:srgbClr val="BBBEBF"/>
                        </a:solidFill>
                        <a:effectLst/>
                        <a:latin typeface="Segoe WPC"/>
                      </a:endParaRPr>
                    </a:p>
                  </a:txBody>
                  <a:tcPr marL="76200" marR="76200" marT="38100" marB="381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b="1" err="1">
                          <a:effectLst/>
                        </a:rPr>
                        <a:t>n_train</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b="1">
                          <a:effectLst/>
                        </a:rPr>
                        <a:t>100</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b="1">
                          <a:effectLst/>
                        </a:rPr>
                        <a:t>300</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b="1">
                          <a:effectLst/>
                        </a:rPr>
                        <a:t>1000</a:t>
                      </a:r>
                      <a:endParaRPr lang="en-CA" sz="900" b="1"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60000"/>
                        <a:lumOff val="40000"/>
                      </a:schemeClr>
                    </a:solidFill>
                  </a:tcPr>
                </a:tc>
                <a:extLst>
                  <a:ext uri="{0D108BD9-81ED-4DB2-BD59-A6C34878D82A}">
                    <a16:rowId xmlns:a16="http://schemas.microsoft.com/office/drawing/2014/main" val="4199769029"/>
                  </a:ext>
                </a:extLst>
              </a:tr>
              <a:tr h="200389">
                <a:tc>
                  <a:txBody>
                    <a:bodyPr/>
                    <a:lstStyle/>
                    <a:p>
                      <a:pPr algn="r" fontAlgn="ctr">
                        <a:buNone/>
                      </a:pPr>
                      <a:r>
                        <a:rPr lang="en-CA" sz="900">
                          <a:effectLst/>
                        </a:rPr>
                        <a:t>features</a:t>
                      </a:r>
                      <a:endParaRPr lang="en-CA" sz="900" b="0" i="0">
                        <a:solidFill>
                          <a:srgbClr val="BBBEBF"/>
                        </a:solidFill>
                        <a:effectLst/>
                        <a:latin typeface="Segoe WPC"/>
                      </a:endParaRPr>
                    </a:p>
                  </a:txBody>
                  <a:tcPr marL="76200" marR="76200" marT="38100" marB="381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model</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 </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 </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 </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705119003"/>
                  </a:ext>
                </a:extLst>
              </a:tr>
              <a:tr h="336136">
                <a:tc rowSpan="3">
                  <a:txBody>
                    <a:bodyPr/>
                    <a:lstStyle/>
                    <a:p>
                      <a:pPr algn="r" fontAlgn="ctr">
                        <a:buNone/>
                      </a:pPr>
                      <a:r>
                        <a:rPr lang="en-CA" sz="900" u="sng">
                          <a:solidFill>
                            <a:schemeClr val="accent2">
                              <a:lumMod val="50000"/>
                            </a:schemeClr>
                          </a:solidFill>
                          <a:effectLst/>
                        </a:rPr>
                        <a:t>composition</a:t>
                      </a:r>
                      <a:endParaRPr lang="en-CA" sz="900" b="0" i="0" u="sng">
                        <a:solidFill>
                          <a:schemeClr val="accent2">
                            <a:lumMod val="50000"/>
                          </a:schemeClr>
                        </a:solidFill>
                        <a:effectLst/>
                        <a:latin typeface="Segoe WPC"/>
                      </a:endParaRPr>
                    </a:p>
                  </a:txBody>
                  <a:tcPr marL="76200" marR="76200" marT="38100" marB="381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projected quantum kernel</a:t>
                      </a:r>
                      <a:endParaRPr lang="en-CA" sz="900" b="0"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1.050</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1.018</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0.985</a:t>
                      </a:r>
                      <a:endParaRPr lang="en-CA" sz="900" b="1"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05192497"/>
                  </a:ext>
                </a:extLst>
              </a:tr>
              <a:tr h="336136">
                <a:tc vMerge="1">
                  <a:txBody>
                    <a:bodyPr/>
                    <a:lstStyle/>
                    <a:p>
                      <a:endParaRPr lang="en-CA"/>
                    </a:p>
                  </a:txBody>
                  <a:tcPr/>
                </a:tc>
                <a:tc>
                  <a:txBody>
                    <a:bodyPr/>
                    <a:lstStyle/>
                    <a:p>
                      <a:pPr algn="r" fontAlgn="ctr">
                        <a:buNone/>
                      </a:pPr>
                      <a:r>
                        <a:rPr lang="en-CA" sz="900">
                          <a:effectLst/>
                        </a:rPr>
                        <a:t>quantum kernel ridge (ZZ map)</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1.037</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1.025</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0.986</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06398959"/>
                  </a:ext>
                </a:extLst>
              </a:tr>
              <a:tr h="200389">
                <a:tc vMerge="1">
                  <a:txBody>
                    <a:bodyPr/>
                    <a:lstStyle/>
                    <a:p>
                      <a:endParaRPr lang="en-CA"/>
                    </a:p>
                  </a:txBody>
                  <a:tcPr/>
                </a:tc>
                <a:tc>
                  <a:txBody>
                    <a:bodyPr/>
                    <a:lstStyle/>
                    <a:p>
                      <a:pPr algn="r" fontAlgn="ctr">
                        <a:buNone/>
                      </a:pPr>
                      <a:r>
                        <a:rPr lang="en-CA" sz="900">
                          <a:effectLst/>
                        </a:rPr>
                        <a:t>RBF kernel ridge</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1.025</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1.016</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0.986</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921623"/>
                  </a:ext>
                </a:extLst>
              </a:tr>
              <a:tr h="336136">
                <a:tc rowSpan="3">
                  <a:txBody>
                    <a:bodyPr/>
                    <a:lstStyle/>
                    <a:p>
                      <a:pPr algn="r" fontAlgn="ctr">
                        <a:buNone/>
                      </a:pPr>
                      <a:r>
                        <a:rPr lang="en-CA" sz="900" u="sng">
                          <a:solidFill>
                            <a:schemeClr val="accent5">
                              <a:lumMod val="60000"/>
                              <a:lumOff val="40000"/>
                            </a:schemeClr>
                          </a:solidFill>
                          <a:effectLst/>
                        </a:rPr>
                        <a:t>kbest10</a:t>
                      </a:r>
                      <a:endParaRPr lang="en-CA" sz="900" b="0" i="0" u="sng">
                        <a:solidFill>
                          <a:schemeClr val="accent5">
                            <a:lumMod val="60000"/>
                            <a:lumOff val="40000"/>
                          </a:schemeClr>
                        </a:solidFill>
                        <a:effectLst/>
                        <a:latin typeface="Segoe WPC"/>
                      </a:endParaRPr>
                    </a:p>
                  </a:txBody>
                  <a:tcPr marL="76200" marR="76200" marT="38100" marB="381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projected quantum kernel</a:t>
                      </a:r>
                      <a:endParaRPr lang="en-CA" sz="900" b="0"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0.731</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0.622</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0.575</a:t>
                      </a:r>
                      <a:endParaRPr lang="en-CA" sz="900" b="1"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76886630"/>
                  </a:ext>
                </a:extLst>
              </a:tr>
              <a:tr h="336136">
                <a:tc vMerge="1">
                  <a:txBody>
                    <a:bodyPr/>
                    <a:lstStyle/>
                    <a:p>
                      <a:endParaRPr lang="en-CA"/>
                    </a:p>
                  </a:txBody>
                  <a:tcPr/>
                </a:tc>
                <a:tc>
                  <a:txBody>
                    <a:bodyPr/>
                    <a:lstStyle/>
                    <a:p>
                      <a:pPr algn="r" fontAlgn="ctr">
                        <a:buNone/>
                      </a:pPr>
                      <a:r>
                        <a:rPr lang="en-CA" sz="900">
                          <a:effectLst/>
                        </a:rPr>
                        <a:t>quantum kernel ridge (ZZ map)</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b="0">
                          <a:effectLst/>
                        </a:rPr>
                        <a:t>0.718</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b="0">
                          <a:effectLst/>
                        </a:rPr>
                        <a:t>0.620</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b="0">
                          <a:effectLst/>
                        </a:rPr>
                        <a:t>0.568</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10019696"/>
                  </a:ext>
                </a:extLst>
              </a:tr>
              <a:tr h="200389">
                <a:tc vMerge="1">
                  <a:txBody>
                    <a:bodyPr/>
                    <a:lstStyle/>
                    <a:p>
                      <a:endParaRPr lang="en-CA"/>
                    </a:p>
                  </a:txBody>
                  <a:tcPr/>
                </a:tc>
                <a:tc>
                  <a:txBody>
                    <a:bodyPr/>
                    <a:lstStyle/>
                    <a:p>
                      <a:pPr algn="r" fontAlgn="ctr">
                        <a:buNone/>
                      </a:pPr>
                      <a:r>
                        <a:rPr lang="en-CA" sz="900">
                          <a:effectLst/>
                        </a:rPr>
                        <a:t>RBF kernel ridge</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0.681</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0.612</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0.551</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8703615"/>
                  </a:ext>
                </a:extLst>
              </a:tr>
              <a:tr h="336136">
                <a:tc rowSpan="3">
                  <a:txBody>
                    <a:bodyPr/>
                    <a:lstStyle/>
                    <a:p>
                      <a:pPr algn="r" fontAlgn="ctr">
                        <a:buNone/>
                      </a:pPr>
                      <a:r>
                        <a:rPr lang="en-CA" sz="900" u="sng">
                          <a:solidFill>
                            <a:schemeClr val="accent5">
                              <a:lumMod val="60000"/>
                              <a:lumOff val="40000"/>
                            </a:schemeClr>
                          </a:solidFill>
                          <a:effectLst/>
                        </a:rPr>
                        <a:t>pca10</a:t>
                      </a:r>
                      <a:endParaRPr lang="en-CA" sz="900" b="0" i="0" u="sng">
                        <a:solidFill>
                          <a:schemeClr val="accent5">
                            <a:lumMod val="60000"/>
                            <a:lumOff val="40000"/>
                          </a:schemeClr>
                        </a:solidFill>
                        <a:effectLst/>
                        <a:latin typeface="Segoe WPC"/>
                      </a:endParaRPr>
                    </a:p>
                  </a:txBody>
                  <a:tcPr marL="76200" marR="76200" marT="38100" marB="381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projected quantum kernel</a:t>
                      </a:r>
                      <a:endParaRPr lang="en-CA" sz="900" b="0"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0.879</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0.790</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0.706</a:t>
                      </a:r>
                      <a:endParaRPr lang="en-CA" sz="900" b="1"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51539096"/>
                  </a:ext>
                </a:extLst>
              </a:tr>
              <a:tr h="336136">
                <a:tc vMerge="1">
                  <a:txBody>
                    <a:bodyPr/>
                    <a:lstStyle/>
                    <a:p>
                      <a:endParaRPr lang="en-CA"/>
                    </a:p>
                  </a:txBody>
                  <a:tcPr/>
                </a:tc>
                <a:tc>
                  <a:txBody>
                    <a:bodyPr/>
                    <a:lstStyle/>
                    <a:p>
                      <a:pPr algn="r" fontAlgn="ctr">
                        <a:buNone/>
                      </a:pPr>
                      <a:r>
                        <a:rPr lang="en-CA" sz="900">
                          <a:effectLst/>
                        </a:rPr>
                        <a:t>quantum kernel ridge (ZZ map)</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0.806</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0.784</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0.706</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62759877"/>
                  </a:ext>
                </a:extLst>
              </a:tr>
              <a:tr h="200389">
                <a:tc vMerge="1">
                  <a:txBody>
                    <a:bodyPr/>
                    <a:lstStyle/>
                    <a:p>
                      <a:endParaRPr lang="en-CA"/>
                    </a:p>
                  </a:txBody>
                  <a:tcPr/>
                </a:tc>
                <a:tc>
                  <a:txBody>
                    <a:bodyPr/>
                    <a:lstStyle/>
                    <a:p>
                      <a:pPr algn="r" fontAlgn="ctr">
                        <a:buNone/>
                      </a:pPr>
                      <a:r>
                        <a:rPr lang="en-CA" sz="900">
                          <a:effectLst/>
                        </a:rPr>
                        <a:t>RBF kernel ridge</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0.838</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0.770</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0.698</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8648019"/>
                  </a:ext>
                </a:extLst>
              </a:tr>
              <a:tr h="336136">
                <a:tc rowSpan="3">
                  <a:txBody>
                    <a:bodyPr/>
                    <a:lstStyle/>
                    <a:p>
                      <a:pPr algn="r" fontAlgn="ctr">
                        <a:buNone/>
                      </a:pPr>
                      <a:r>
                        <a:rPr lang="en-CA" sz="900" u="sng">
                          <a:solidFill>
                            <a:schemeClr val="accent5">
                              <a:lumMod val="60000"/>
                              <a:lumOff val="40000"/>
                            </a:schemeClr>
                          </a:solidFill>
                          <a:effectLst/>
                        </a:rPr>
                        <a:t>pls10</a:t>
                      </a:r>
                      <a:endParaRPr lang="en-CA" sz="900" b="0" i="0" u="sng">
                        <a:solidFill>
                          <a:schemeClr val="accent5">
                            <a:lumMod val="60000"/>
                            <a:lumOff val="40000"/>
                          </a:schemeClr>
                        </a:solidFill>
                        <a:effectLst/>
                        <a:latin typeface="Segoe WPC"/>
                      </a:endParaRPr>
                    </a:p>
                  </a:txBody>
                  <a:tcPr marL="76200" marR="76200" marT="38100" marB="381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projected quantum kernel</a:t>
                      </a:r>
                      <a:endParaRPr lang="en-CA" sz="900" b="0"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0.731</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0.579</a:t>
                      </a:r>
                      <a:endParaRPr lang="en-CA" sz="900" b="1" i="0">
                        <a:solidFill>
                          <a:srgbClr val="BBBEBF"/>
                        </a:solidFill>
                        <a:effectLst/>
                        <a:latin typeface="Segoe WPC"/>
                      </a:endParaRP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0.502</a:t>
                      </a:r>
                      <a:endParaRPr lang="en-CA" sz="900" b="1"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18127018"/>
                  </a:ext>
                </a:extLst>
              </a:tr>
              <a:tr h="336136">
                <a:tc vMerge="1">
                  <a:txBody>
                    <a:bodyPr/>
                    <a:lstStyle/>
                    <a:p>
                      <a:endParaRPr lang="en-CA"/>
                    </a:p>
                  </a:txBody>
                  <a:tcPr/>
                </a:tc>
                <a:tc>
                  <a:txBody>
                    <a:bodyPr/>
                    <a:lstStyle/>
                    <a:p>
                      <a:pPr algn="r" fontAlgn="ctr">
                        <a:buNone/>
                      </a:pPr>
                      <a:r>
                        <a:rPr lang="en-CA" sz="900">
                          <a:effectLst/>
                        </a:rPr>
                        <a:t>quantum kernel ridge (ZZ map)</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0.745</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0.581</a:t>
                      </a:r>
                      <a:endParaRPr lang="en-CA" sz="900" b="0" i="0">
                        <a:solidFill>
                          <a:srgbClr val="BBBEBF"/>
                        </a:solidFill>
                        <a:effectLst/>
                        <a:latin typeface="Segoe WPC"/>
                      </a:endParaRPr>
                    </a:p>
                  </a:txBody>
                  <a:tcPr marL="76200" marR="76200" marT="38100" marB="38100" anchor="ctr"/>
                </a:tc>
                <a:tc>
                  <a:txBody>
                    <a:bodyPr/>
                    <a:lstStyle/>
                    <a:p>
                      <a:pPr algn="r" fontAlgn="ctr">
                        <a:buNone/>
                      </a:pPr>
                      <a:r>
                        <a:rPr lang="en-CA" sz="900">
                          <a:effectLst/>
                        </a:rPr>
                        <a:t>0.499</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18565296"/>
                  </a:ext>
                </a:extLst>
              </a:tr>
              <a:tr h="200389">
                <a:tc vMerge="1">
                  <a:txBody>
                    <a:bodyPr/>
                    <a:lstStyle/>
                    <a:p>
                      <a:endParaRPr lang="en-CA"/>
                    </a:p>
                  </a:txBody>
                  <a:tcPr/>
                </a:tc>
                <a:tc>
                  <a:txBody>
                    <a:bodyPr/>
                    <a:lstStyle/>
                    <a:p>
                      <a:pPr algn="r" fontAlgn="ctr">
                        <a:buNone/>
                      </a:pPr>
                      <a:r>
                        <a:rPr lang="en-CA" sz="900">
                          <a:effectLst/>
                        </a:rPr>
                        <a:t>RBF kernel ridge</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0.738</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0.582</a:t>
                      </a:r>
                      <a:endParaRPr lang="en-CA" sz="900" b="0" i="0">
                        <a:solidFill>
                          <a:srgbClr val="BBBEBF"/>
                        </a:solidFill>
                        <a:effectLst/>
                        <a:latin typeface="Segoe WPC"/>
                      </a:endParaRPr>
                    </a:p>
                  </a:txBody>
                  <a:tcPr marL="76200" marR="76200" marT="38100" marB="38100"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0.497</a:t>
                      </a:r>
                      <a:endParaRPr lang="en-CA" sz="900" b="0" i="0">
                        <a:solidFill>
                          <a:srgbClr val="BBBEBF"/>
                        </a:solidFill>
                        <a:effectLst/>
                        <a:latin typeface="Segoe WPC"/>
                      </a:endParaRPr>
                    </a:p>
                  </a:txBody>
                  <a:tcPr marL="76200" marR="76200" marT="38100" marB="381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426131"/>
                  </a:ext>
                </a:extLst>
              </a:tr>
            </a:tbl>
          </a:graphicData>
        </a:graphic>
      </p:graphicFrame>
    </p:spTree>
    <p:extLst>
      <p:ext uri="{BB962C8B-B14F-4D97-AF65-F5344CB8AC3E}">
        <p14:creationId xmlns:p14="http://schemas.microsoft.com/office/powerpoint/2010/main" val="280412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C2F14-7034-E5D9-C20D-C8DD1ECAB40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E095DC-F6BA-9AD7-32D6-D32AA4F20D65}"/>
              </a:ext>
            </a:extLst>
          </p:cNvPr>
          <p:cNvSpPr/>
          <p:nvPr/>
        </p:nvSpPr>
        <p:spPr>
          <a:xfrm>
            <a:off x="812726" y="660301"/>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IBM Plex Sans" pitchFamily="34" charset="0"/>
                <a:ea typeface="IBM Plex Sans" pitchFamily="34" charset="-122"/>
                <a:cs typeface="IBM Plex Sans" pitchFamily="34" charset="-120"/>
              </a:rPr>
              <a:t>MEASURING PERFORMANCE</a:t>
            </a:r>
            <a:endParaRPr lang="en-US" sz="1200"/>
          </a:p>
        </p:txBody>
      </p:sp>
      <p:sp>
        <p:nvSpPr>
          <p:cNvPr id="3" name="Text 1">
            <a:extLst>
              <a:ext uri="{FF2B5EF4-FFF2-40B4-BE49-F238E27FC236}">
                <a16:creationId xmlns:a16="http://schemas.microsoft.com/office/drawing/2014/main" id="{92200625-A86B-E624-A044-A1D154A8E0A1}"/>
              </a:ext>
            </a:extLst>
          </p:cNvPr>
          <p:cNvSpPr>
            <a:spLocks noGrp="1"/>
          </p:cNvSpPr>
          <p:nvPr>
            <p:ph type="title"/>
          </p:nvPr>
        </p:nvSpPr>
        <p:spPr>
          <a:xfrm>
            <a:off x="812726" y="975196"/>
            <a:ext cx="10883545" cy="493353"/>
          </a:xfrm>
          <a:prstGeom prst="rect">
            <a:avLst/>
          </a:prstGeom>
          <a:noFill/>
          <a:ln/>
        </p:spPr>
        <p:txBody>
          <a:bodyPr wrap="square" lIns="0" tIns="0" rIns="0" bIns="0" rtlCol="0" anchor="t">
            <a:normAutofit/>
          </a:bodyPr>
          <a:lstStyle/>
          <a:p>
            <a:pPr>
              <a:lnSpc>
                <a:spcPts val="3520"/>
              </a:lnSpc>
            </a:pPr>
            <a:r>
              <a:rPr lang="en-US" b="1"/>
              <a:t>Validation—the effect of extra qubits</a:t>
            </a:r>
            <a:endParaRPr lang="en-US" sz="3200"/>
          </a:p>
        </p:txBody>
      </p:sp>
      <p:sp>
        <p:nvSpPr>
          <p:cNvPr id="4" name="Text 2">
            <a:extLst>
              <a:ext uri="{FF2B5EF4-FFF2-40B4-BE49-F238E27FC236}">
                <a16:creationId xmlns:a16="http://schemas.microsoft.com/office/drawing/2014/main" id="{1F2F9B83-239F-A0C5-3026-7101E53DE0E5}"/>
              </a:ext>
            </a:extLst>
          </p:cNvPr>
          <p:cNvSpPr/>
          <p:nvPr/>
        </p:nvSpPr>
        <p:spPr>
          <a:xfrm>
            <a:off x="815900" y="1558056"/>
            <a:ext cx="5808183" cy="3598735"/>
          </a:xfrm>
          <a:prstGeom prst="rect">
            <a:avLst/>
          </a:prstGeom>
          <a:noFill/>
          <a:ln/>
        </p:spPr>
        <p:txBody>
          <a:bodyPr wrap="square" lIns="0" tIns="0" rIns="0" bIns="0" rtlCol="0" anchor="t">
            <a:normAutofit/>
          </a:bodyPr>
          <a:lstStyle/>
          <a:p>
            <a:pPr marL="285750" indent="-285750" algn="l">
              <a:lnSpc>
                <a:spcPts val="2175"/>
              </a:lnSpc>
              <a:buFont typeface="Arial" panose="020B0604020202020204" pitchFamily="34" charset="0"/>
              <a:buChar char="•"/>
            </a:pPr>
            <a:r>
              <a:rPr lang="en-US" sz="1500" b="1"/>
              <a:t>Geometry-aware inputs appear to out-perform composition-only inputs</a:t>
            </a:r>
          </a:p>
          <a:p>
            <a:pPr marL="285750" indent="-285750" algn="l">
              <a:lnSpc>
                <a:spcPts val="2175"/>
              </a:lnSpc>
              <a:buFont typeface="Arial" panose="020B0604020202020204" pitchFamily="34" charset="0"/>
              <a:buChar char="•"/>
            </a:pPr>
            <a:r>
              <a:rPr lang="en-US" sz="1500" b="1" u="sng"/>
              <a:t>Validate</a:t>
            </a:r>
            <a:r>
              <a:rPr lang="en-US" sz="1500" b="1"/>
              <a:t>: does the number of qubits (k) impact performance?</a:t>
            </a:r>
          </a:p>
          <a:p>
            <a:pPr marL="742950" lvl="1" indent="-285750">
              <a:lnSpc>
                <a:spcPts val="2175"/>
              </a:lnSpc>
              <a:buFont typeface="Arial" panose="020B0604020202020204" pitchFamily="34" charset="0"/>
              <a:buChar char="•"/>
            </a:pPr>
            <a:r>
              <a:rPr lang="en-US" sz="1500" b="1"/>
              <a:t>Test k = 4, 6, 8, 10, 12, 16</a:t>
            </a:r>
          </a:p>
          <a:p>
            <a:pPr marL="285750" indent="-285750" algn="l">
              <a:lnSpc>
                <a:spcPts val="2175"/>
              </a:lnSpc>
              <a:buFont typeface="Arial" panose="020B0604020202020204" pitchFamily="34" charset="0"/>
              <a:buChar char="•"/>
            </a:pPr>
            <a:endParaRPr lang="en-US" sz="1500" b="1"/>
          </a:p>
        </p:txBody>
      </p:sp>
      <p:graphicFrame>
        <p:nvGraphicFramePr>
          <p:cNvPr id="5" name="Table 4">
            <a:extLst>
              <a:ext uri="{FF2B5EF4-FFF2-40B4-BE49-F238E27FC236}">
                <a16:creationId xmlns:a16="http://schemas.microsoft.com/office/drawing/2014/main" id="{46B5B62A-7B41-7268-7E78-B1CA4D4F972D}"/>
              </a:ext>
            </a:extLst>
          </p:cNvPr>
          <p:cNvGraphicFramePr>
            <a:graphicFrameLocks noGrp="1"/>
          </p:cNvGraphicFramePr>
          <p:nvPr/>
        </p:nvGraphicFramePr>
        <p:xfrm>
          <a:off x="7012358" y="1917260"/>
          <a:ext cx="4167961" cy="4416360"/>
        </p:xfrm>
        <a:graphic>
          <a:graphicData uri="http://schemas.openxmlformats.org/drawingml/2006/table">
            <a:tbl>
              <a:tblPr>
                <a:tableStyleId>{5C22544A-7EE6-4342-B048-85BDC9FD1C3A}</a:tableStyleId>
              </a:tblPr>
              <a:tblGrid>
                <a:gridCol w="1833240">
                  <a:extLst>
                    <a:ext uri="{9D8B030D-6E8A-4147-A177-3AD203B41FA5}">
                      <a16:colId xmlns:a16="http://schemas.microsoft.com/office/drawing/2014/main" val="2398015742"/>
                    </a:ext>
                  </a:extLst>
                </a:gridCol>
                <a:gridCol w="683084">
                  <a:extLst>
                    <a:ext uri="{9D8B030D-6E8A-4147-A177-3AD203B41FA5}">
                      <a16:colId xmlns:a16="http://schemas.microsoft.com/office/drawing/2014/main" val="3310830680"/>
                    </a:ext>
                  </a:extLst>
                </a:gridCol>
                <a:gridCol w="591327">
                  <a:extLst>
                    <a:ext uri="{9D8B030D-6E8A-4147-A177-3AD203B41FA5}">
                      <a16:colId xmlns:a16="http://schemas.microsoft.com/office/drawing/2014/main" val="3076082728"/>
                    </a:ext>
                  </a:extLst>
                </a:gridCol>
                <a:gridCol w="530156">
                  <a:extLst>
                    <a:ext uri="{9D8B030D-6E8A-4147-A177-3AD203B41FA5}">
                      <a16:colId xmlns:a16="http://schemas.microsoft.com/office/drawing/2014/main" val="3467952796"/>
                    </a:ext>
                  </a:extLst>
                </a:gridCol>
                <a:gridCol w="530154">
                  <a:extLst>
                    <a:ext uri="{9D8B030D-6E8A-4147-A177-3AD203B41FA5}">
                      <a16:colId xmlns:a16="http://schemas.microsoft.com/office/drawing/2014/main" val="2328252325"/>
                    </a:ext>
                  </a:extLst>
                </a:gridCol>
              </a:tblGrid>
              <a:tr h="220818">
                <a:tc>
                  <a:txBody>
                    <a:bodyPr/>
                    <a:lstStyle/>
                    <a:p>
                      <a:pPr algn="r" fontAlgn="ctr">
                        <a:buNone/>
                      </a:pPr>
                      <a:r>
                        <a:rPr lang="en-CA" sz="900">
                          <a:effectLst/>
                        </a:rPr>
                        <a:t> </a:t>
                      </a:r>
                      <a:endParaRPr lang="en-CA" sz="900" b="0" i="0">
                        <a:solidFill>
                          <a:srgbClr val="BBBEBF"/>
                        </a:solidFill>
                        <a:effectLst/>
                        <a:latin typeface="Segoe WPC"/>
                      </a:endParaRPr>
                    </a:p>
                  </a:txBody>
                  <a:tcPr marL="69645" marR="69645" marT="34823" marB="3482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err="1">
                          <a:effectLst/>
                        </a:rPr>
                        <a:t>n_train</a:t>
                      </a:r>
                      <a:endParaRPr lang="en-CA" sz="900" b="0"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a:effectLst/>
                        </a:rPr>
                        <a:t>100</a:t>
                      </a:r>
                      <a:endParaRPr lang="en-CA" sz="900" b="0"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a:effectLst/>
                        </a:rPr>
                        <a:t>300</a:t>
                      </a:r>
                      <a:endParaRPr lang="en-CA" sz="900" b="0"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solidFill>
                      <a:schemeClr val="accent1">
                        <a:lumMod val="60000"/>
                        <a:lumOff val="40000"/>
                      </a:schemeClr>
                    </a:solidFill>
                  </a:tcPr>
                </a:tc>
                <a:tc>
                  <a:txBody>
                    <a:bodyPr/>
                    <a:lstStyle/>
                    <a:p>
                      <a:pPr algn="r" fontAlgn="ctr">
                        <a:buNone/>
                      </a:pPr>
                      <a:r>
                        <a:rPr lang="en-CA" sz="900">
                          <a:effectLst/>
                        </a:rPr>
                        <a:t>1000</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60000"/>
                        <a:lumOff val="40000"/>
                      </a:schemeClr>
                    </a:solidFill>
                  </a:tcPr>
                </a:tc>
                <a:extLst>
                  <a:ext uri="{0D108BD9-81ED-4DB2-BD59-A6C34878D82A}">
                    <a16:rowId xmlns:a16="http://schemas.microsoft.com/office/drawing/2014/main" val="3461240935"/>
                  </a:ext>
                </a:extLst>
              </a:tr>
              <a:tr h="220818">
                <a:tc>
                  <a:txBody>
                    <a:bodyPr/>
                    <a:lstStyle/>
                    <a:p>
                      <a:pPr algn="r" fontAlgn="ctr">
                        <a:buNone/>
                      </a:pPr>
                      <a:r>
                        <a:rPr lang="en-CA" sz="900">
                          <a:effectLst/>
                        </a:rPr>
                        <a:t>model</a:t>
                      </a:r>
                      <a:endParaRPr lang="en-CA" sz="900" b="0" i="0">
                        <a:solidFill>
                          <a:srgbClr val="BBBEBF"/>
                        </a:solidFill>
                        <a:effectLst/>
                        <a:latin typeface="Segoe WPC"/>
                      </a:endParaRPr>
                    </a:p>
                  </a:txBody>
                  <a:tcPr marL="69645" marR="69645" marT="34823" marB="3482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k</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 </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 </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fontAlgn="ctr">
                        <a:buNone/>
                      </a:pPr>
                      <a:r>
                        <a:rPr lang="en-CA" sz="900">
                          <a:effectLst/>
                        </a:rPr>
                        <a:t> </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620993280"/>
                  </a:ext>
                </a:extLst>
              </a:tr>
              <a:tr h="220818">
                <a:tc rowSpan="6">
                  <a:txBody>
                    <a:bodyPr/>
                    <a:lstStyle/>
                    <a:p>
                      <a:pPr algn="r" fontAlgn="ctr">
                        <a:buNone/>
                      </a:pPr>
                      <a:r>
                        <a:rPr lang="en-CA" sz="900">
                          <a:effectLst/>
                        </a:rPr>
                        <a:t>projected quantum kernel</a:t>
                      </a:r>
                      <a:endParaRPr lang="en-CA" sz="900" b="0" i="0">
                        <a:solidFill>
                          <a:srgbClr val="BBBEBF"/>
                        </a:solidFill>
                        <a:effectLst/>
                        <a:latin typeface="Segoe WPC"/>
                      </a:endParaRPr>
                    </a:p>
                  </a:txBody>
                  <a:tcPr marL="69645" marR="69645" marT="34823" marB="3482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b="1">
                          <a:effectLst/>
                        </a:rPr>
                        <a:t>4</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0.705</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0.635</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0.574</a:t>
                      </a:r>
                      <a:endParaRPr lang="en-CA" sz="900" b="1"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98881384"/>
                  </a:ext>
                </a:extLst>
              </a:tr>
              <a:tr h="220818">
                <a:tc vMerge="1">
                  <a:txBody>
                    <a:bodyPr/>
                    <a:lstStyle/>
                    <a:p>
                      <a:endParaRPr lang="en-CA"/>
                    </a:p>
                  </a:txBody>
                  <a:tcPr/>
                </a:tc>
                <a:tc>
                  <a:txBody>
                    <a:bodyPr/>
                    <a:lstStyle/>
                    <a:p>
                      <a:pPr algn="r" fontAlgn="ctr">
                        <a:buNone/>
                      </a:pPr>
                      <a:r>
                        <a:rPr lang="en-CA" sz="900">
                          <a:effectLst/>
                        </a:rPr>
                        <a:t>6</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0.705</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0.593</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0.551</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42527985"/>
                  </a:ext>
                </a:extLst>
              </a:tr>
              <a:tr h="220818">
                <a:tc vMerge="1">
                  <a:txBody>
                    <a:bodyPr/>
                    <a:lstStyle/>
                    <a:p>
                      <a:endParaRPr lang="en-CA"/>
                    </a:p>
                  </a:txBody>
                  <a:tcPr/>
                </a:tc>
                <a:tc>
                  <a:txBody>
                    <a:bodyPr/>
                    <a:lstStyle/>
                    <a:p>
                      <a:pPr algn="r" fontAlgn="ctr">
                        <a:buNone/>
                      </a:pPr>
                      <a:r>
                        <a:rPr lang="en-CA" sz="900">
                          <a:effectLst/>
                        </a:rPr>
                        <a:t>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0.722</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0.583</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0.512</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67041979"/>
                  </a:ext>
                </a:extLst>
              </a:tr>
              <a:tr h="220818">
                <a:tc vMerge="1">
                  <a:txBody>
                    <a:bodyPr/>
                    <a:lstStyle/>
                    <a:p>
                      <a:endParaRPr lang="en-CA"/>
                    </a:p>
                  </a:txBody>
                  <a:tcPr/>
                </a:tc>
                <a:tc>
                  <a:txBody>
                    <a:bodyPr/>
                    <a:lstStyle/>
                    <a:p>
                      <a:pPr algn="r" fontAlgn="ctr">
                        <a:buNone/>
                      </a:pPr>
                      <a:r>
                        <a:rPr lang="en-CA" sz="900">
                          <a:effectLst/>
                        </a:rPr>
                        <a:t>10</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0.731</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0.579</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0.502</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64028670"/>
                  </a:ext>
                </a:extLst>
              </a:tr>
              <a:tr h="220818">
                <a:tc vMerge="1">
                  <a:txBody>
                    <a:bodyPr/>
                    <a:lstStyle/>
                    <a:p>
                      <a:endParaRPr lang="en-CA"/>
                    </a:p>
                  </a:txBody>
                  <a:tcPr/>
                </a:tc>
                <a:tc>
                  <a:txBody>
                    <a:bodyPr/>
                    <a:lstStyle/>
                    <a:p>
                      <a:pPr algn="r" fontAlgn="ctr">
                        <a:buNone/>
                      </a:pPr>
                      <a:r>
                        <a:rPr lang="en-CA" sz="900">
                          <a:effectLst/>
                        </a:rPr>
                        <a:t>12</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0.755</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0.598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0.499</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42711915"/>
                  </a:ext>
                </a:extLst>
              </a:tr>
              <a:tr h="220818">
                <a:tc vMerge="1">
                  <a:txBody>
                    <a:bodyPr/>
                    <a:lstStyle/>
                    <a:p>
                      <a:endParaRPr lang="en-CA"/>
                    </a:p>
                  </a:txBody>
                  <a:tcPr/>
                </a:tc>
                <a:tc>
                  <a:txBody>
                    <a:bodyPr/>
                    <a:lstStyle/>
                    <a:p>
                      <a:pPr algn="r" fontAlgn="ctr">
                        <a:buNone/>
                      </a:pPr>
                      <a:r>
                        <a:rPr lang="en-CA" sz="900">
                          <a:effectLst/>
                        </a:rPr>
                        <a:t>16</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0.719</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0.596</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nan</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643422"/>
                  </a:ext>
                </a:extLst>
              </a:tr>
              <a:tr h="220818">
                <a:tc rowSpan="6">
                  <a:txBody>
                    <a:bodyPr/>
                    <a:lstStyle/>
                    <a:p>
                      <a:pPr algn="r" fontAlgn="ctr">
                        <a:buNone/>
                      </a:pPr>
                      <a:r>
                        <a:rPr lang="en-CA" sz="900">
                          <a:effectLst/>
                        </a:rPr>
                        <a:t>quantum kernel ridge (ZZ map)</a:t>
                      </a:r>
                      <a:endParaRPr lang="en-CA" sz="900" b="0" i="0">
                        <a:solidFill>
                          <a:srgbClr val="BBBEBF"/>
                        </a:solidFill>
                        <a:effectLst/>
                        <a:latin typeface="Segoe WPC"/>
                      </a:endParaRPr>
                    </a:p>
                  </a:txBody>
                  <a:tcPr marL="69645" marR="69645" marT="34823" marB="3482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b="1">
                          <a:effectLst/>
                        </a:rPr>
                        <a:t>4</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0.699</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0.609</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0.579</a:t>
                      </a:r>
                      <a:endParaRPr lang="en-CA" sz="900" b="1"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3353663"/>
                  </a:ext>
                </a:extLst>
              </a:tr>
              <a:tr h="220818">
                <a:tc vMerge="1">
                  <a:txBody>
                    <a:bodyPr/>
                    <a:lstStyle/>
                    <a:p>
                      <a:endParaRPr lang="en-CA"/>
                    </a:p>
                  </a:txBody>
                  <a:tcPr/>
                </a:tc>
                <a:tc>
                  <a:txBody>
                    <a:bodyPr/>
                    <a:lstStyle/>
                    <a:p>
                      <a:pPr algn="r" fontAlgn="ctr">
                        <a:buNone/>
                      </a:pPr>
                      <a:r>
                        <a:rPr lang="en-CA" sz="900">
                          <a:effectLst/>
                        </a:rPr>
                        <a:t>6</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0.698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0.593</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0.530</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56112678"/>
                  </a:ext>
                </a:extLst>
              </a:tr>
              <a:tr h="220818">
                <a:tc vMerge="1">
                  <a:txBody>
                    <a:bodyPr/>
                    <a:lstStyle/>
                    <a:p>
                      <a:endParaRPr lang="en-CA"/>
                    </a:p>
                  </a:txBody>
                  <a:tcPr/>
                </a:tc>
                <a:tc>
                  <a:txBody>
                    <a:bodyPr/>
                    <a:lstStyle/>
                    <a:p>
                      <a:pPr algn="r" fontAlgn="ctr">
                        <a:buNone/>
                      </a:pPr>
                      <a:r>
                        <a:rPr lang="en-CA" sz="900">
                          <a:effectLst/>
                        </a:rPr>
                        <a:t>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0.726</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0.582</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0.509</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53893411"/>
                  </a:ext>
                </a:extLst>
              </a:tr>
              <a:tr h="220818">
                <a:tc vMerge="1">
                  <a:txBody>
                    <a:bodyPr/>
                    <a:lstStyle/>
                    <a:p>
                      <a:endParaRPr lang="en-CA"/>
                    </a:p>
                  </a:txBody>
                  <a:tcPr/>
                </a:tc>
                <a:tc>
                  <a:txBody>
                    <a:bodyPr/>
                    <a:lstStyle/>
                    <a:p>
                      <a:pPr algn="r" fontAlgn="ctr">
                        <a:buNone/>
                      </a:pPr>
                      <a:r>
                        <a:rPr lang="en-CA" sz="900">
                          <a:effectLst/>
                        </a:rPr>
                        <a:t>10</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0.745</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0.581</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0.499</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72583595"/>
                  </a:ext>
                </a:extLst>
              </a:tr>
              <a:tr h="220818">
                <a:tc vMerge="1">
                  <a:txBody>
                    <a:bodyPr/>
                    <a:lstStyle/>
                    <a:p>
                      <a:endParaRPr lang="en-CA"/>
                    </a:p>
                  </a:txBody>
                  <a:tcPr/>
                </a:tc>
                <a:tc>
                  <a:txBody>
                    <a:bodyPr/>
                    <a:lstStyle/>
                    <a:p>
                      <a:pPr algn="r" fontAlgn="ctr">
                        <a:buNone/>
                      </a:pPr>
                      <a:r>
                        <a:rPr lang="en-CA" sz="900">
                          <a:effectLst/>
                        </a:rPr>
                        <a:t>12</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0.755</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0.598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0.497</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07740260"/>
                  </a:ext>
                </a:extLst>
              </a:tr>
              <a:tr h="220818">
                <a:tc vMerge="1">
                  <a:txBody>
                    <a:bodyPr/>
                    <a:lstStyle/>
                    <a:p>
                      <a:endParaRPr lang="en-CA"/>
                    </a:p>
                  </a:txBody>
                  <a:tcPr/>
                </a:tc>
                <a:tc>
                  <a:txBody>
                    <a:bodyPr/>
                    <a:lstStyle/>
                    <a:p>
                      <a:pPr algn="r" fontAlgn="ctr">
                        <a:buNone/>
                      </a:pPr>
                      <a:r>
                        <a:rPr lang="en-CA" sz="900">
                          <a:effectLst/>
                        </a:rPr>
                        <a:t>16</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0.699</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0.591</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nan</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7003221"/>
                  </a:ext>
                </a:extLst>
              </a:tr>
              <a:tr h="220818">
                <a:tc rowSpan="6">
                  <a:txBody>
                    <a:bodyPr/>
                    <a:lstStyle/>
                    <a:p>
                      <a:pPr algn="r" fontAlgn="ctr">
                        <a:buNone/>
                      </a:pPr>
                      <a:r>
                        <a:rPr lang="en-CA" sz="900">
                          <a:effectLst/>
                        </a:rPr>
                        <a:t>RBF kernel ridge</a:t>
                      </a:r>
                      <a:endParaRPr lang="en-CA" sz="900" b="0" i="0">
                        <a:solidFill>
                          <a:srgbClr val="BBBEBF"/>
                        </a:solidFill>
                        <a:effectLst/>
                        <a:latin typeface="Segoe WPC"/>
                      </a:endParaRPr>
                    </a:p>
                  </a:txBody>
                  <a:tcPr marL="69645" marR="69645" marT="34823" marB="3482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CA" sz="900" b="1">
                          <a:effectLst/>
                        </a:rPr>
                        <a:t>4</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0.694</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0.610</a:t>
                      </a:r>
                      <a:endParaRPr lang="en-CA" sz="900" b="1" i="0">
                        <a:solidFill>
                          <a:srgbClr val="BBBEBF"/>
                        </a:solidFill>
                        <a:effectLst/>
                        <a:latin typeface="Segoe WPC"/>
                      </a:endParaRPr>
                    </a:p>
                  </a:txBody>
                  <a:tcPr marL="69645" marR="69645" marT="34823" marB="34823" anchor="ctr">
                    <a:lnT w="12700" cap="flat" cmpd="sng" algn="ctr">
                      <a:solidFill>
                        <a:schemeClr val="tx1"/>
                      </a:solidFill>
                      <a:prstDash val="solid"/>
                      <a:round/>
                      <a:headEnd type="none" w="med" len="med"/>
                      <a:tailEnd type="none" w="med" len="med"/>
                    </a:lnT>
                  </a:tcPr>
                </a:tc>
                <a:tc>
                  <a:txBody>
                    <a:bodyPr/>
                    <a:lstStyle/>
                    <a:p>
                      <a:pPr algn="r" fontAlgn="ctr">
                        <a:buNone/>
                      </a:pPr>
                      <a:r>
                        <a:rPr lang="en-CA" sz="900" b="1">
                          <a:effectLst/>
                        </a:rPr>
                        <a:t>0.569</a:t>
                      </a:r>
                      <a:endParaRPr lang="en-CA" sz="900" b="1"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21218328"/>
                  </a:ext>
                </a:extLst>
              </a:tr>
              <a:tr h="220818">
                <a:tc vMerge="1">
                  <a:txBody>
                    <a:bodyPr/>
                    <a:lstStyle/>
                    <a:p>
                      <a:endParaRPr lang="en-CA"/>
                    </a:p>
                  </a:txBody>
                  <a:tcPr/>
                </a:tc>
                <a:tc>
                  <a:txBody>
                    <a:bodyPr/>
                    <a:lstStyle/>
                    <a:p>
                      <a:pPr algn="r" fontAlgn="ctr">
                        <a:buNone/>
                      </a:pPr>
                      <a:r>
                        <a:rPr lang="en-CA" sz="900">
                          <a:effectLst/>
                        </a:rPr>
                        <a:t>6</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0.694</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0.591</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0.519</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17225699"/>
                  </a:ext>
                </a:extLst>
              </a:tr>
              <a:tr h="220818">
                <a:tc vMerge="1">
                  <a:txBody>
                    <a:bodyPr/>
                    <a:lstStyle/>
                    <a:p>
                      <a:endParaRPr lang="en-CA"/>
                    </a:p>
                  </a:txBody>
                  <a:tcPr/>
                </a:tc>
                <a:tc>
                  <a:txBody>
                    <a:bodyPr/>
                    <a:lstStyle/>
                    <a:p>
                      <a:pPr algn="r" fontAlgn="ctr">
                        <a:buNone/>
                      </a:pPr>
                      <a:r>
                        <a:rPr lang="en-CA" sz="900">
                          <a:effectLst/>
                        </a:rPr>
                        <a:t>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0.715</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0.589</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0.507</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3214675"/>
                  </a:ext>
                </a:extLst>
              </a:tr>
              <a:tr h="220818">
                <a:tc vMerge="1">
                  <a:txBody>
                    <a:bodyPr/>
                    <a:lstStyle/>
                    <a:p>
                      <a:endParaRPr lang="en-CA"/>
                    </a:p>
                  </a:txBody>
                  <a:tcPr/>
                </a:tc>
                <a:tc>
                  <a:txBody>
                    <a:bodyPr/>
                    <a:lstStyle/>
                    <a:p>
                      <a:pPr algn="r" fontAlgn="ctr">
                        <a:buNone/>
                      </a:pPr>
                      <a:r>
                        <a:rPr lang="en-CA" sz="900">
                          <a:effectLst/>
                        </a:rPr>
                        <a:t>10</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0.738</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0.582</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0.497</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82159162"/>
                  </a:ext>
                </a:extLst>
              </a:tr>
              <a:tr h="220818">
                <a:tc vMerge="1">
                  <a:txBody>
                    <a:bodyPr/>
                    <a:lstStyle/>
                    <a:p>
                      <a:endParaRPr lang="en-CA"/>
                    </a:p>
                  </a:txBody>
                  <a:tcPr/>
                </a:tc>
                <a:tc>
                  <a:txBody>
                    <a:bodyPr/>
                    <a:lstStyle/>
                    <a:p>
                      <a:pPr algn="r" fontAlgn="ctr">
                        <a:buNone/>
                      </a:pPr>
                      <a:r>
                        <a:rPr lang="en-CA" sz="900">
                          <a:effectLst/>
                        </a:rPr>
                        <a:t>12</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0.744</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0.591</a:t>
                      </a:r>
                      <a:endParaRPr lang="en-CA" sz="900" b="0" i="0">
                        <a:solidFill>
                          <a:srgbClr val="BBBEBF"/>
                        </a:solidFill>
                        <a:effectLst/>
                        <a:latin typeface="Segoe WPC"/>
                      </a:endParaRPr>
                    </a:p>
                  </a:txBody>
                  <a:tcPr marL="69645" marR="69645" marT="34823" marB="34823" anchor="ctr"/>
                </a:tc>
                <a:tc>
                  <a:txBody>
                    <a:bodyPr/>
                    <a:lstStyle/>
                    <a:p>
                      <a:pPr algn="r" fontAlgn="ctr">
                        <a:buNone/>
                      </a:pPr>
                      <a:r>
                        <a:rPr lang="en-CA" sz="900">
                          <a:effectLst/>
                        </a:rPr>
                        <a:t>0.494</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95852618"/>
                  </a:ext>
                </a:extLst>
              </a:tr>
              <a:tr h="220818">
                <a:tc vMerge="1">
                  <a:txBody>
                    <a:bodyPr/>
                    <a:lstStyle/>
                    <a:p>
                      <a:endParaRPr lang="en-CA"/>
                    </a:p>
                  </a:txBody>
                  <a:tcPr/>
                </a:tc>
                <a:tc>
                  <a:txBody>
                    <a:bodyPr/>
                    <a:lstStyle/>
                    <a:p>
                      <a:pPr algn="r" fontAlgn="ctr">
                        <a:buNone/>
                      </a:pPr>
                      <a:r>
                        <a:rPr lang="en-CA" sz="900">
                          <a:effectLst/>
                        </a:rPr>
                        <a:t>16</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0.772</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0.588</a:t>
                      </a:r>
                      <a:endParaRPr lang="en-CA" sz="900" b="0" i="0">
                        <a:solidFill>
                          <a:srgbClr val="BBBEBF"/>
                        </a:solidFill>
                        <a:effectLst/>
                        <a:latin typeface="Segoe WPC"/>
                      </a:endParaRPr>
                    </a:p>
                  </a:txBody>
                  <a:tcPr marL="69645" marR="69645" marT="34823" marB="34823" anchor="ctr">
                    <a:lnB w="12700" cap="flat" cmpd="sng" algn="ctr">
                      <a:solidFill>
                        <a:schemeClr val="tx1"/>
                      </a:solidFill>
                      <a:prstDash val="solid"/>
                      <a:round/>
                      <a:headEnd type="none" w="med" len="med"/>
                      <a:tailEnd type="none" w="med" len="med"/>
                    </a:lnB>
                  </a:tcPr>
                </a:tc>
                <a:tc>
                  <a:txBody>
                    <a:bodyPr/>
                    <a:lstStyle/>
                    <a:p>
                      <a:pPr algn="r" fontAlgn="ctr">
                        <a:buNone/>
                      </a:pPr>
                      <a:r>
                        <a:rPr lang="en-CA" sz="900">
                          <a:effectLst/>
                        </a:rPr>
                        <a:t>nan</a:t>
                      </a:r>
                      <a:endParaRPr lang="en-CA" sz="900" b="0" i="0">
                        <a:solidFill>
                          <a:srgbClr val="BBBEBF"/>
                        </a:solidFill>
                        <a:effectLst/>
                        <a:latin typeface="Segoe WPC"/>
                      </a:endParaRPr>
                    </a:p>
                  </a:txBody>
                  <a:tcPr marL="69645" marR="69645" marT="34823" marB="3482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2042649"/>
                  </a:ext>
                </a:extLst>
              </a:tr>
            </a:tbl>
          </a:graphicData>
        </a:graphic>
      </p:graphicFrame>
      <p:sp>
        <p:nvSpPr>
          <p:cNvPr id="7" name="Text 2">
            <a:extLst>
              <a:ext uri="{FF2B5EF4-FFF2-40B4-BE49-F238E27FC236}">
                <a16:creationId xmlns:a16="http://schemas.microsoft.com/office/drawing/2014/main" id="{BD94F030-937C-A7C0-04D9-44970026179C}"/>
              </a:ext>
            </a:extLst>
          </p:cNvPr>
          <p:cNvSpPr/>
          <p:nvPr/>
        </p:nvSpPr>
        <p:spPr>
          <a:xfrm>
            <a:off x="7012358" y="1547823"/>
            <a:ext cx="4022282" cy="369333"/>
          </a:xfrm>
          <a:prstGeom prst="rect">
            <a:avLst/>
          </a:prstGeom>
          <a:noFill/>
          <a:ln/>
        </p:spPr>
        <p:txBody>
          <a:bodyPr wrap="square" lIns="0" tIns="0" rIns="0" bIns="0" rtlCol="0" anchor="t">
            <a:normAutofit/>
          </a:bodyPr>
          <a:lstStyle/>
          <a:p>
            <a:pPr algn="l">
              <a:lnSpc>
                <a:spcPts val="2175"/>
              </a:lnSpc>
            </a:pPr>
            <a:r>
              <a:rPr lang="en-US" sz="1500" b="1" i="1"/>
              <a:t>Measuring MAE across different k qubits</a:t>
            </a:r>
          </a:p>
        </p:txBody>
      </p:sp>
      <p:pic>
        <p:nvPicPr>
          <p:cNvPr id="15" name="Picture 14">
            <a:extLst>
              <a:ext uri="{FF2B5EF4-FFF2-40B4-BE49-F238E27FC236}">
                <a16:creationId xmlns:a16="http://schemas.microsoft.com/office/drawing/2014/main" id="{DE22F0EC-2611-DC0D-8728-5FF1318CF343}"/>
              </a:ext>
            </a:extLst>
          </p:cNvPr>
          <p:cNvPicPr>
            <a:picLocks noChangeAspect="1"/>
          </p:cNvPicPr>
          <p:nvPr/>
        </p:nvPicPr>
        <p:blipFill>
          <a:blip r:embed="rId3"/>
          <a:stretch>
            <a:fillRect/>
          </a:stretch>
        </p:blipFill>
        <p:spPr>
          <a:xfrm>
            <a:off x="815900" y="2793764"/>
            <a:ext cx="5808183" cy="3539854"/>
          </a:xfrm>
          <a:prstGeom prst="rect">
            <a:avLst/>
          </a:prstGeom>
          <a:ln>
            <a:solidFill>
              <a:schemeClr val="accent1"/>
            </a:solidFill>
          </a:ln>
        </p:spPr>
      </p:pic>
    </p:spTree>
    <p:extLst>
      <p:ext uri="{BB962C8B-B14F-4D97-AF65-F5344CB8AC3E}">
        <p14:creationId xmlns:p14="http://schemas.microsoft.com/office/powerpoint/2010/main" val="292628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289390" y="309493"/>
            <a:ext cx="1088354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2558C0"/>
                </a:solidFill>
                <a:latin typeface="Verdana" panose="020B0604030504040204" pitchFamily="34" charset="0"/>
                <a:ea typeface="Verdana" panose="020B0604030504040204" pitchFamily="34" charset="0"/>
                <a:cs typeface="IBM Plex Sans" pitchFamily="34" charset="-120"/>
              </a:rPr>
              <a:t>MODELLING</a:t>
            </a:r>
            <a:endParaRPr lang="en-US" sz="1200">
              <a:latin typeface="Verdana" panose="020B0604030504040204" pitchFamily="34" charset="0"/>
            </a:endParaRPr>
          </a:p>
        </p:txBody>
      </p:sp>
      <p:sp>
        <p:nvSpPr>
          <p:cNvPr id="3" name="Text 1"/>
          <p:cNvSpPr>
            <a:spLocks noGrp="1"/>
          </p:cNvSpPr>
          <p:nvPr>
            <p:ph type="title"/>
          </p:nvPr>
        </p:nvSpPr>
        <p:spPr>
          <a:xfrm>
            <a:off x="654227" y="793893"/>
            <a:ext cx="10883545" cy="472380"/>
          </a:xfrm>
          <a:prstGeom prst="rect">
            <a:avLst/>
          </a:prstGeom>
          <a:noFill/>
          <a:ln/>
        </p:spPr>
        <p:txBody>
          <a:bodyPr wrap="square" lIns="0" tIns="0" rIns="0" bIns="0" rtlCol="0" anchor="t">
            <a:normAutofit/>
          </a:bodyPr>
          <a:lstStyle/>
          <a:p>
            <a:pPr marL="0" indent="0" algn="l">
              <a:lnSpc>
                <a:spcPts val="3520"/>
              </a:lnSpc>
              <a:buNone/>
            </a:pPr>
            <a:r>
              <a:rPr lang="en-US" sz="3200" b="1" i="0">
                <a:solidFill>
                  <a:srgbClr val="0F1B2D"/>
                </a:solidFill>
                <a:cs typeface="Space Grotesk" pitchFamily="34" charset="-120"/>
              </a:rPr>
              <a:t>The quantum models tie their classical twin</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740517285"/>
              </p:ext>
            </p:extLst>
          </p:nvPr>
        </p:nvGraphicFramePr>
        <p:xfrm>
          <a:off x="820663" y="1633265"/>
          <a:ext cx="10558612" cy="3030192"/>
        </p:xfrm>
        <a:graphic>
          <a:graphicData uri="http://schemas.openxmlformats.org/drawingml/2006/table">
            <a:tbl>
              <a:tblPr/>
              <a:tblGrid>
                <a:gridCol w="3933600">
                  <a:extLst>
                    <a:ext uri="{9D8B030D-6E8A-4147-A177-3AD203B41FA5}">
                      <a16:colId xmlns:a16="http://schemas.microsoft.com/office/drawing/2014/main" val="20000"/>
                    </a:ext>
                  </a:extLst>
                </a:gridCol>
                <a:gridCol w="1656253">
                  <a:extLst>
                    <a:ext uri="{9D8B030D-6E8A-4147-A177-3AD203B41FA5}">
                      <a16:colId xmlns:a16="http://schemas.microsoft.com/office/drawing/2014/main" val="20001"/>
                    </a:ext>
                  </a:extLst>
                </a:gridCol>
                <a:gridCol w="1656253">
                  <a:extLst>
                    <a:ext uri="{9D8B030D-6E8A-4147-A177-3AD203B41FA5}">
                      <a16:colId xmlns:a16="http://schemas.microsoft.com/office/drawing/2014/main" val="20002"/>
                    </a:ext>
                  </a:extLst>
                </a:gridCol>
                <a:gridCol w="1656253">
                  <a:extLst>
                    <a:ext uri="{9D8B030D-6E8A-4147-A177-3AD203B41FA5}">
                      <a16:colId xmlns:a16="http://schemas.microsoft.com/office/drawing/2014/main" val="20003"/>
                    </a:ext>
                  </a:extLst>
                </a:gridCol>
                <a:gridCol w="1656253">
                  <a:extLst>
                    <a:ext uri="{9D8B030D-6E8A-4147-A177-3AD203B41FA5}">
                      <a16:colId xmlns:a16="http://schemas.microsoft.com/office/drawing/2014/main" val="20004"/>
                    </a:ext>
                  </a:extLst>
                </a:gridCol>
              </a:tblGrid>
              <a:tr h="354335">
                <a:tc>
                  <a:txBody>
                    <a:bodyPr/>
                    <a:lstStyle/>
                    <a:p>
                      <a:pPr marL="0" indent="0">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Model (PLS 10)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N = 100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N = 300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N = 1,000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gn="r">
                        <a:lnSpc>
                          <a:spcPts val="1820"/>
                        </a:lnSpc>
                        <a:buNone/>
                      </a:pPr>
                      <a:r>
                        <a:rPr lang="en-US" sz="1300" b="1">
                          <a:solidFill>
                            <a:srgbClr val="1B2433"/>
                          </a:solidFill>
                          <a:latin typeface="Verdana" panose="020B0604030504040204" pitchFamily="34" charset="0"/>
                          <a:ea typeface="Verdana" panose="020B0604030504040204" pitchFamily="34" charset="0"/>
                          <a:cs typeface="IBM Plex Sans" pitchFamily="34" charset="-120"/>
                        </a:rPr>
                        <a:t>Unseen, N = 1,000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QKRR, ZZ map</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0.735 ± 0.062</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0.578 ± 0.011</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0.492 ± 0.008</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0.437 ± 0.010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B8BDC7"/>
                      </a:solidFill>
                      <a:prstDash val="solid"/>
                      <a:round/>
                      <a:headEnd type="none" w="med" len="med"/>
                      <a:tailEnd type="none" w="med" len="med"/>
                    </a:lnL>
                    <a:lnR w="12700" cap="flat" cmpd="sng" algn="ctr">
                      <a:solidFill>
                        <a:srgbClr val="B8BDC7"/>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B8BDC7"/>
                      </a:solidFill>
                      <a:prstDash val="solid"/>
                      <a:round/>
                      <a:headEnd type="none" w="med" len="med"/>
                      <a:tailEnd type="none" w="med" len="med"/>
                    </a:lnB>
                    <a:solidFill>
                      <a:srgbClr val="E6EDFA"/>
                    </a:solidFill>
                  </a:tcPr>
                </a:tc>
                <a:extLst>
                  <a:ext uri="{0D108BD9-81ED-4DB2-BD59-A6C34878D82A}">
                    <a16:rowId xmlns:a16="http://schemas.microsoft.com/office/drawing/2014/main" val="10001"/>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Product-state kernel</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0.732 ± 0.075</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0.578 ± 0.011</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0.490 ± 0.009</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0.433 ± 0.009</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8BDC7"/>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Projected quantum kernel</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0.724 ± 0.057</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0.578 ± 0.013</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0.493 ± 0.007</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0.440 ± 0.016</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⟨Z⟩ feature ridge</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0.731 ± 0.072</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0.597 ± 0.010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0.545 ± 0.011</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0.493 ± 0.021</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RBF kernel ridge</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0.730 ± 0.075</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0.578 ± 0.010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0.490 ± 0.009</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0.433 ± 0.010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8BAB1"/>
                      </a:solidFill>
                      <a:prstDash val="solid"/>
                      <a:round/>
                      <a:headEnd type="none" w="med" len="med"/>
                      <a:tailEnd type="none" w="med" len="med"/>
                    </a:lnL>
                    <a:lnR w="12700" cap="flat" cmpd="sng" algn="ctr">
                      <a:solidFill>
                        <a:srgbClr val="C8BA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1"/>
                      </a:solidFill>
                      <a:prstDash val="solid"/>
                      <a:round/>
                      <a:headEnd type="none" w="med" len="med"/>
                      <a:tailEnd type="none" w="med" len="med"/>
                    </a:lnB>
                    <a:solidFill>
                      <a:srgbClr val="FBE9DE"/>
                    </a:solidFill>
                  </a:tcPr>
                </a:tc>
                <a:extLst>
                  <a:ext uri="{0D108BD9-81ED-4DB2-BD59-A6C34878D82A}">
                    <a16:rowId xmlns:a16="http://schemas.microsoft.com/office/drawing/2014/main" val="10005"/>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RBF kernel ridge, all 188 features</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0.662 ± 0.040</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0.549 ± 0.012</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0.453 ± 0.009</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0.420 ± 0.015</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r h="354335">
                <a:tc>
                  <a:txBody>
                    <a:bodyPr/>
                    <a:lstStyle/>
                    <a:p>
                      <a:pPr marL="0" indent="0">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Predicting the mean</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1.156</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1.142</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1.138</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gn="r">
                        <a:lnSpc>
                          <a:spcPts val="1820"/>
                        </a:lnSpc>
                        <a:buNone/>
                      </a:pPr>
                      <a:r>
                        <a:rPr lang="en-US" sz="1300">
                          <a:solidFill>
                            <a:srgbClr val="1B2433"/>
                          </a:solidFill>
                          <a:latin typeface="Verdana" panose="020B0604030504040204" pitchFamily="34" charset="0"/>
                          <a:ea typeface="Verdana" panose="020B0604030504040204" pitchFamily="34" charset="0"/>
                          <a:cs typeface="IBM Plex Sans" pitchFamily="34" charset="-120"/>
                        </a:rPr>
                        <a:t>1.254</a:t>
                      </a:r>
                      <a:endParaRPr lang="en-US" sz="1300">
                        <a:latin typeface="Verdana" panose="020B0604030504040204" pitchFamily="34" charset="0"/>
                        <a:ea typeface="Verdana" panose="020B0604030504040204" pitchFamily="34" charset="0"/>
                        <a:cs typeface="IBM Plex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726" y="4671095"/>
            <a:ext cx="10883545" cy="467420"/>
          </a:xfrm>
          <a:prstGeom prst="rect">
            <a:avLst/>
          </a:prstGeom>
          <a:noFill/>
          <a:ln/>
        </p:spPr>
        <p:txBody>
          <a:bodyPr wrap="square" lIns="0" tIns="0" rIns="0" bIns="0" rtlCol="0" anchor="t">
            <a:normAutofit/>
          </a:bodyPr>
          <a:lstStyle/>
          <a:p>
            <a:pPr marL="0" indent="0" algn="l">
              <a:lnSpc>
                <a:spcPts val="1740"/>
              </a:lnSpc>
              <a:buNone/>
            </a:pPr>
            <a:r>
              <a:rPr lang="en-US" sz="1200">
                <a:solidFill>
                  <a:srgbClr val="4A5568"/>
                </a:solidFill>
                <a:latin typeface="Verdana" panose="020B0604030504040204" pitchFamily="34" charset="0"/>
                <a:ea typeface="Verdana" panose="020B0604030504040204" pitchFamily="34" charset="0"/>
                <a:cs typeface="IBM Plex Sans" pitchFamily="34" charset="-120"/>
              </a:rPr>
              <a:t>Test MAE in debye, mean ± sd over 3 seeds. Paired difference, quantum - twin, at N = 1,000: </a:t>
            </a:r>
            <a:r>
              <a:rPr lang="en-US" sz="1200" b="1">
                <a:solidFill>
                  <a:srgbClr val="4A5568"/>
                </a:solidFill>
                <a:latin typeface="Verdana" panose="020B0604030504040204" pitchFamily="34" charset="0"/>
                <a:ea typeface="Verdana" panose="020B0604030504040204" pitchFamily="34" charset="0"/>
                <a:cs typeface="IBM Plex Sans" pitchFamily="34" charset="-120"/>
              </a:rPr>
              <a:t>+0.001 ± 0.001 D</a:t>
            </a:r>
            <a:r>
              <a:rPr lang="en-US" sz="1200">
                <a:solidFill>
                  <a:srgbClr val="4A5568"/>
                </a:solidFill>
                <a:latin typeface="Verdana" panose="020B0604030504040204" pitchFamily="34" charset="0"/>
                <a:ea typeface="Verdana" panose="020B0604030504040204" pitchFamily="34" charset="0"/>
                <a:cs typeface="IBM Plex Sans" pitchFamily="34" charset="-120"/>
              </a:rPr>
              <a:t> on familiar formulas and +0.004 ± 0.001 D on unseen ones.</a:t>
            </a:r>
            <a:endParaRPr lang="en-US" sz="1200">
              <a:latin typeface="Verdana" panose="020B060403050404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813816" y="658368"/>
            <a:ext cx="10561320" cy="237744"/>
          </a:xfrm>
          <a:prstGeom prst="rect">
            <a:avLst/>
          </a:prstGeom>
          <a:noFill/>
          <a:ln/>
        </p:spPr>
        <p:txBody>
          <a:bodyPr wrap="square" lIns="0" tIns="0" rIns="0" bIns="0" rtlCol="0" anchor="t">
            <a:noAutofit/>
          </a:bodyPr>
          <a:lstStyle/>
          <a:p>
            <a:pPr marL="0" indent="0" algn="l">
              <a:buNone/>
            </a:pPr>
            <a:r>
              <a:rPr lang="en-US" sz="1200" b="1" spc="150">
                <a:solidFill>
                  <a:srgbClr val="2558C0"/>
                </a:solidFill>
                <a:latin typeface="Verdana"/>
                <a:ea typeface="Verdana"/>
                <a:cs typeface="Verdana"/>
              </a:rPr>
              <a:t>COST, SHOTS AND NOISE</a:t>
            </a:r>
            <a:endParaRPr lang="en-US" sz="1200"/>
          </a:p>
        </p:txBody>
      </p:sp>
      <p:sp>
        <p:nvSpPr>
          <p:cNvPr id="4" name="Title"/>
          <p:cNvSpPr>
            <a:spLocks noGrp="1"/>
          </p:cNvSpPr>
          <p:nvPr>
            <p:ph type="title"/>
          </p:nvPr>
        </p:nvSpPr>
        <p:spPr>
          <a:xfrm>
            <a:off x="813816" y="978408"/>
            <a:ext cx="10561320" cy="548640"/>
          </a:xfrm>
          <a:prstGeom prst="rect">
            <a:avLst/>
          </a:prstGeom>
          <a:noFill/>
          <a:ln/>
        </p:spPr>
        <p:txBody>
          <a:bodyPr wrap="square" lIns="0" tIns="0" rIns="0" bIns="0" rtlCol="0" anchor="t">
            <a:noAutofit/>
          </a:bodyPr>
          <a:lstStyle/>
          <a:p>
            <a:pPr marL="0" indent="0" algn="l">
              <a:buNone/>
            </a:pPr>
            <a:r>
              <a:rPr lang="en-US" sz="3200" b="1">
                <a:solidFill>
                  <a:srgbClr val="0F1B2D"/>
                </a:solidFill>
                <a:latin typeface="Verdana Pro"/>
                <a:ea typeface="Verdana Pro"/>
                <a:cs typeface="Verdana Pro"/>
              </a:rPr>
              <a:t>What it would cost on IBM hardware</a:t>
            </a:r>
            <a:endParaRPr lang="en-US" sz="3200"/>
          </a:p>
        </p:txBody>
      </p:sp>
      <p:pic>
        <p:nvPicPr>
          <p:cNvPr id="5" name="Picture 5" descr="QPU hours to train and predict, by model and training size"/>
          <p:cNvPicPr>
            <a:picLocks noChangeAspect="1"/>
          </p:cNvPicPr>
          <p:nvPr/>
        </p:nvPicPr>
        <p:blipFill>
          <a:blip r:embed="rId3"/>
          <a:stretch>
            <a:fillRect/>
          </a:stretch>
        </p:blipFill>
        <p:spPr>
          <a:xfrm>
            <a:off x="813816" y="1691640"/>
            <a:ext cx="5760720" cy="3266655"/>
          </a:xfrm>
          <a:prstGeom prst="rect">
            <a:avLst/>
          </a:prstGeom>
        </p:spPr>
      </p:pic>
      <p:sp>
        <p:nvSpPr>
          <p:cNvPr id="6" name="Text 6"/>
          <p:cNvSpPr txBox="1"/>
          <p:nvPr/>
        </p:nvSpPr>
        <p:spPr>
          <a:xfrm>
            <a:off x="813816" y="5031447"/>
            <a:ext cx="5760720" cy="548640"/>
          </a:xfrm>
          <a:prstGeom prst="rect">
            <a:avLst/>
          </a:prstGeom>
          <a:noFill/>
          <a:ln/>
        </p:spPr>
        <p:txBody>
          <a:bodyPr wrap="square" lIns="0" tIns="0" rIns="0" bIns="0" rtlCol="0" anchor="t">
            <a:noAutofit/>
          </a:bodyPr>
          <a:lstStyle/>
          <a:p>
            <a:pPr marL="0" indent="0" algn="l">
              <a:lnSpc>
                <a:spcPct val="105000"/>
              </a:lnSpc>
              <a:buNone/>
            </a:pPr>
            <a:r>
              <a:rPr lang="en-US" sz="1050" b="0">
                <a:solidFill>
                  <a:srgbClr val="6B7280"/>
                </a:solidFill>
                <a:latin typeface="Verdana"/>
                <a:ea typeface="Verdana"/>
                <a:cs typeface="Verdana"/>
              </a:rPr>
              <a:t>Lower bound on QPU hours to train and predict the 9,183 development molecules at 1,000 shots per circuit. Dotted line: IBM's free Open Plan, 10 minutes per 28 days.</a:t>
            </a:r>
            <a:endParaRPr lang="en-US" sz="1050"/>
          </a:p>
        </p:txBody>
      </p:sp>
      <p:sp>
        <p:nvSpPr>
          <p:cNvPr id="7" name="Text 7"/>
          <p:cNvSpPr txBox="1"/>
          <p:nvPr/>
        </p:nvSpPr>
        <p:spPr>
          <a:xfrm>
            <a:off x="6858000" y="1691640"/>
            <a:ext cx="4517136" cy="45720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To train on 1,000 molecules and predict both test sets (22,302 molecules), at 1,000 shots per circuit:</a:t>
            </a:r>
            <a:endParaRPr lang="en-US" sz="1200"/>
          </a:p>
        </p:txBody>
      </p:sp>
      <p:sp>
        <p:nvSpPr>
          <p:cNvPr id="8" name="Card 8"/>
          <p:cNvSpPr/>
          <p:nvPr/>
        </p:nvSpPr>
        <p:spPr>
          <a:xfrm>
            <a:off x="6858000" y="2286000"/>
            <a:ext cx="4517136" cy="850392"/>
          </a:xfrm>
          <a:prstGeom prst="roundRect">
            <a:avLst>
              <a:gd name="adj" fmla="val 9576"/>
            </a:avLst>
          </a:prstGeom>
          <a:solidFill>
            <a:srgbClr val="FDFCF9"/>
          </a:solidFill>
          <a:ln w="6350">
            <a:solidFill>
              <a:srgbClr val="E2DED5"/>
            </a:solidFill>
          </a:ln>
        </p:spPr>
        <p:txBody>
          <a:bodyPr/>
          <a:lstStyle/>
          <a:p>
            <a:endParaRPr lang="en-US"/>
          </a:p>
        </p:txBody>
      </p:sp>
      <p:sp>
        <p:nvSpPr>
          <p:cNvPr id="9" name="Text 9"/>
          <p:cNvSpPr txBox="1"/>
          <p:nvPr/>
        </p:nvSpPr>
        <p:spPr>
          <a:xfrm>
            <a:off x="7059168" y="2441448"/>
            <a:ext cx="2606040" cy="274320"/>
          </a:xfrm>
          <a:prstGeom prst="rect">
            <a:avLst/>
          </a:prstGeom>
          <a:noFill/>
          <a:ln/>
        </p:spPr>
        <p:txBody>
          <a:bodyPr wrap="square" lIns="0" tIns="0" rIns="0" bIns="0" rtlCol="0" anchor="t">
            <a:noAutofit/>
          </a:bodyPr>
          <a:lstStyle/>
          <a:p>
            <a:pPr marL="0" indent="0" algn="l">
              <a:buNone/>
            </a:pPr>
            <a:r>
              <a:rPr lang="en-US" sz="1300" b="1">
                <a:solidFill>
                  <a:srgbClr val="0F1B2D"/>
                </a:solidFill>
                <a:latin typeface="Verdana"/>
                <a:ea typeface="Verdana"/>
                <a:cs typeface="Verdana"/>
              </a:rPr>
              <a:t>Fidelity kernel (QKRR)</a:t>
            </a:r>
            <a:endParaRPr lang="en-US" sz="1300"/>
          </a:p>
        </p:txBody>
      </p:sp>
      <p:sp>
        <p:nvSpPr>
          <p:cNvPr id="10" name="Text 10"/>
          <p:cNvSpPr txBox="1"/>
          <p:nvPr/>
        </p:nvSpPr>
        <p:spPr>
          <a:xfrm>
            <a:off x="7059168" y="2761488"/>
            <a:ext cx="2606040" cy="237744"/>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499,500 circuits to train</a:t>
            </a:r>
            <a:endParaRPr lang="en-US" sz="1100"/>
          </a:p>
        </p:txBody>
      </p:sp>
      <p:sp>
        <p:nvSpPr>
          <p:cNvPr id="11" name="Text 11"/>
          <p:cNvSpPr txBox="1"/>
          <p:nvPr/>
        </p:nvSpPr>
        <p:spPr>
          <a:xfrm>
            <a:off x="9601200" y="2286000"/>
            <a:ext cx="1572768" cy="850392"/>
          </a:xfrm>
          <a:prstGeom prst="rect">
            <a:avLst/>
          </a:prstGeom>
          <a:noFill/>
          <a:ln/>
        </p:spPr>
        <p:txBody>
          <a:bodyPr wrap="square" lIns="0" tIns="0" rIns="0" bIns="0" rtlCol="0" anchor="ctr">
            <a:noAutofit/>
          </a:bodyPr>
          <a:lstStyle/>
          <a:p>
            <a:pPr marL="0" indent="0" algn="r">
              <a:buNone/>
            </a:pPr>
            <a:r>
              <a:rPr lang="en-US" sz="2000" b="1">
                <a:solidFill>
                  <a:srgbClr val="2558C0"/>
                </a:solidFill>
                <a:latin typeface="Verdana Pro"/>
                <a:ea typeface="Verdana Pro"/>
                <a:cs typeface="Verdana Pro"/>
              </a:rPr>
              <a:t>≈ 1,640 h</a:t>
            </a:r>
            <a:endParaRPr lang="en-US" sz="2000"/>
          </a:p>
        </p:txBody>
      </p:sp>
      <p:sp>
        <p:nvSpPr>
          <p:cNvPr id="12" name="Card 12"/>
          <p:cNvSpPr/>
          <p:nvPr/>
        </p:nvSpPr>
        <p:spPr>
          <a:xfrm>
            <a:off x="6858000" y="3273552"/>
            <a:ext cx="4517136" cy="850392"/>
          </a:xfrm>
          <a:prstGeom prst="roundRect">
            <a:avLst>
              <a:gd name="adj" fmla="val 9576"/>
            </a:avLst>
          </a:prstGeom>
          <a:solidFill>
            <a:srgbClr val="FDFCF9"/>
          </a:solidFill>
          <a:ln w="6350">
            <a:solidFill>
              <a:srgbClr val="E2DED5"/>
            </a:solidFill>
          </a:ln>
        </p:spPr>
        <p:txBody>
          <a:bodyPr/>
          <a:lstStyle/>
          <a:p>
            <a:endParaRPr lang="en-US"/>
          </a:p>
        </p:txBody>
      </p:sp>
      <p:sp>
        <p:nvSpPr>
          <p:cNvPr id="13" name="Text 13"/>
          <p:cNvSpPr txBox="1"/>
          <p:nvPr/>
        </p:nvSpPr>
        <p:spPr>
          <a:xfrm>
            <a:off x="7059168" y="3429000"/>
            <a:ext cx="2606040" cy="274320"/>
          </a:xfrm>
          <a:prstGeom prst="rect">
            <a:avLst/>
          </a:prstGeom>
          <a:noFill/>
          <a:ln/>
        </p:spPr>
        <p:txBody>
          <a:bodyPr wrap="square" lIns="0" tIns="0" rIns="0" bIns="0" rtlCol="0" anchor="t">
            <a:noAutofit/>
          </a:bodyPr>
          <a:lstStyle/>
          <a:p>
            <a:pPr marL="0" indent="0" algn="l">
              <a:buNone/>
            </a:pPr>
            <a:r>
              <a:rPr lang="en-US" sz="1300" b="1">
                <a:solidFill>
                  <a:srgbClr val="0F1B2D"/>
                </a:solidFill>
                <a:latin typeface="Verdana"/>
                <a:ea typeface="Verdana"/>
                <a:cs typeface="Verdana"/>
              </a:rPr>
              <a:t>Projected kernel</a:t>
            </a:r>
            <a:endParaRPr lang="en-US" sz="1300"/>
          </a:p>
        </p:txBody>
      </p:sp>
      <p:sp>
        <p:nvSpPr>
          <p:cNvPr id="14" name="Text 14"/>
          <p:cNvSpPr txBox="1"/>
          <p:nvPr/>
        </p:nvSpPr>
        <p:spPr>
          <a:xfrm>
            <a:off x="7059168" y="3749040"/>
            <a:ext cx="2606040" cy="237744"/>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3,000 circuits to train</a:t>
            </a:r>
            <a:endParaRPr lang="en-US" sz="1100"/>
          </a:p>
        </p:txBody>
      </p:sp>
      <p:sp>
        <p:nvSpPr>
          <p:cNvPr id="15" name="Text 15"/>
          <p:cNvSpPr txBox="1"/>
          <p:nvPr/>
        </p:nvSpPr>
        <p:spPr>
          <a:xfrm>
            <a:off x="9601200" y="3273552"/>
            <a:ext cx="1572768" cy="850392"/>
          </a:xfrm>
          <a:prstGeom prst="rect">
            <a:avLst/>
          </a:prstGeom>
          <a:noFill/>
          <a:ln/>
        </p:spPr>
        <p:txBody>
          <a:bodyPr wrap="square" lIns="0" tIns="0" rIns="0" bIns="0" rtlCol="0" anchor="ctr">
            <a:noAutofit/>
          </a:bodyPr>
          <a:lstStyle/>
          <a:p>
            <a:pPr marL="0" indent="0" algn="r">
              <a:buNone/>
            </a:pPr>
            <a:r>
              <a:rPr lang="en-US" sz="2000" b="1">
                <a:solidFill>
                  <a:srgbClr val="2558C0"/>
                </a:solidFill>
                <a:latin typeface="Verdana Pro"/>
                <a:ea typeface="Verdana Pro"/>
                <a:cs typeface="Verdana Pro"/>
              </a:rPr>
              <a:t>≈ 5 h</a:t>
            </a:r>
            <a:endParaRPr lang="en-US" sz="2000"/>
          </a:p>
        </p:txBody>
      </p:sp>
      <p:sp>
        <p:nvSpPr>
          <p:cNvPr id="16" name="Card 16"/>
          <p:cNvSpPr/>
          <p:nvPr/>
        </p:nvSpPr>
        <p:spPr>
          <a:xfrm>
            <a:off x="6858000" y="4261104"/>
            <a:ext cx="4517136" cy="850392"/>
          </a:xfrm>
          <a:prstGeom prst="roundRect">
            <a:avLst>
              <a:gd name="adj" fmla="val 9576"/>
            </a:avLst>
          </a:prstGeom>
          <a:solidFill>
            <a:srgbClr val="FDFCF9"/>
          </a:solidFill>
          <a:ln w="6350">
            <a:solidFill>
              <a:srgbClr val="E2DED5"/>
            </a:solidFill>
          </a:ln>
        </p:spPr>
        <p:txBody>
          <a:bodyPr/>
          <a:lstStyle/>
          <a:p>
            <a:endParaRPr lang="en-US"/>
          </a:p>
        </p:txBody>
      </p:sp>
      <p:sp>
        <p:nvSpPr>
          <p:cNvPr id="17" name="Text 17"/>
          <p:cNvSpPr txBox="1"/>
          <p:nvPr/>
        </p:nvSpPr>
        <p:spPr>
          <a:xfrm>
            <a:off x="7059168" y="4416552"/>
            <a:ext cx="2606040" cy="274320"/>
          </a:xfrm>
          <a:prstGeom prst="rect">
            <a:avLst/>
          </a:prstGeom>
          <a:noFill/>
          <a:ln/>
        </p:spPr>
        <p:txBody>
          <a:bodyPr wrap="square" lIns="0" tIns="0" rIns="0" bIns="0" rtlCol="0" anchor="t">
            <a:noAutofit/>
          </a:bodyPr>
          <a:lstStyle/>
          <a:p>
            <a:pPr marL="0" indent="0" algn="l">
              <a:buNone/>
            </a:pPr>
            <a:r>
              <a:rPr lang="en-US" sz="1300" b="1">
                <a:solidFill>
                  <a:srgbClr val="0F1B2D"/>
                </a:solidFill>
                <a:latin typeface="Verdana"/>
                <a:ea typeface="Verdana"/>
                <a:cs typeface="Verdana"/>
              </a:rPr>
              <a:t>⟨Z⟩ feature ridge</a:t>
            </a:r>
            <a:endParaRPr lang="en-US" sz="1300"/>
          </a:p>
        </p:txBody>
      </p:sp>
      <p:sp>
        <p:nvSpPr>
          <p:cNvPr id="18" name="Text 18"/>
          <p:cNvSpPr txBox="1"/>
          <p:nvPr/>
        </p:nvSpPr>
        <p:spPr>
          <a:xfrm>
            <a:off x="7059168" y="4736592"/>
            <a:ext cx="2606040" cy="237744"/>
          </a:xfrm>
          <a:prstGeom prst="rect">
            <a:avLst/>
          </a:prstGeom>
          <a:noFill/>
          <a:ln/>
        </p:spPr>
        <p:txBody>
          <a:bodyPr wrap="square" lIns="0" tIns="0" rIns="0" bIns="0" rtlCol="0" anchor="t">
            <a:noAutofit/>
          </a:bodyPr>
          <a:lstStyle/>
          <a:p>
            <a:pPr marL="0" indent="0" algn="l">
              <a:buNone/>
            </a:pPr>
            <a:r>
              <a:rPr lang="en-US" sz="1100" b="0">
                <a:solidFill>
                  <a:srgbClr val="6B7280"/>
                </a:solidFill>
                <a:latin typeface="Verdana"/>
                <a:ea typeface="Verdana"/>
                <a:cs typeface="Verdana"/>
              </a:rPr>
              <a:t>1,000 circuits to train</a:t>
            </a:r>
            <a:endParaRPr lang="en-US" sz="1100"/>
          </a:p>
        </p:txBody>
      </p:sp>
      <p:sp>
        <p:nvSpPr>
          <p:cNvPr id="19" name="Text 19"/>
          <p:cNvSpPr txBox="1"/>
          <p:nvPr/>
        </p:nvSpPr>
        <p:spPr>
          <a:xfrm>
            <a:off x="9601200" y="4261104"/>
            <a:ext cx="1572768" cy="850392"/>
          </a:xfrm>
          <a:prstGeom prst="rect">
            <a:avLst/>
          </a:prstGeom>
          <a:noFill/>
          <a:ln/>
        </p:spPr>
        <p:txBody>
          <a:bodyPr wrap="square" lIns="0" tIns="0" rIns="0" bIns="0" rtlCol="0" anchor="ctr">
            <a:noAutofit/>
          </a:bodyPr>
          <a:lstStyle/>
          <a:p>
            <a:pPr marL="0" indent="0" algn="r">
              <a:buNone/>
            </a:pPr>
            <a:r>
              <a:rPr lang="en-US" sz="2000" b="1">
                <a:solidFill>
                  <a:srgbClr val="2558C0"/>
                </a:solidFill>
                <a:latin typeface="Verdana Pro"/>
                <a:ea typeface="Verdana Pro"/>
                <a:cs typeface="Verdana Pro"/>
              </a:rPr>
              <a:t>≈ 1.7 h</a:t>
            </a:r>
            <a:endParaRPr lang="en-US" sz="2000"/>
          </a:p>
        </p:txBody>
      </p:sp>
      <p:sp>
        <p:nvSpPr>
          <p:cNvPr id="20" name="Text 20"/>
          <p:cNvSpPr txBox="1"/>
          <p:nvPr/>
        </p:nvSpPr>
        <p:spPr>
          <a:xfrm>
            <a:off x="6858000" y="5349240"/>
            <a:ext cx="4517136" cy="640080"/>
          </a:xfrm>
          <a:prstGeom prst="rect">
            <a:avLst/>
          </a:prstGeom>
          <a:noFill/>
          <a:ln/>
        </p:spPr>
        <p:txBody>
          <a:bodyPr wrap="square" lIns="0" tIns="0" rIns="0" bIns="0" rtlCol="0" anchor="t">
            <a:noAutofit/>
          </a:bodyPr>
          <a:lstStyle/>
          <a:p>
            <a:pPr marL="0" indent="0" algn="l">
              <a:lnSpc>
                <a:spcPct val="105000"/>
              </a:lnSpc>
              <a:buNone/>
            </a:pPr>
            <a:r>
              <a:rPr lang="en-US" sz="1100" b="0">
                <a:solidFill>
                  <a:srgbClr val="4A5568"/>
                </a:solidFill>
                <a:latin typeface="Verdana"/>
                <a:ea typeface="Verdana"/>
                <a:cs typeface="Verdana"/>
              </a:rPr>
              <a:t>Compiled for IBM hardware, one kernel entry is a circuit of depth 206 with 70 two-qubit gates; the encoder alone is depth 109 with 36.</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293554" y="301752"/>
            <a:ext cx="10561320" cy="237744"/>
          </a:xfrm>
          <a:prstGeom prst="rect">
            <a:avLst/>
          </a:prstGeom>
          <a:noFill/>
          <a:ln/>
        </p:spPr>
        <p:txBody>
          <a:bodyPr wrap="square" lIns="0" tIns="0" rIns="0" bIns="0" rtlCol="0" anchor="t">
            <a:noAutofit/>
          </a:bodyPr>
          <a:lstStyle/>
          <a:p>
            <a:pPr marL="0" indent="0" algn="l">
              <a:buNone/>
            </a:pPr>
            <a:r>
              <a:rPr lang="en-US" sz="1200" b="1" spc="150">
                <a:solidFill>
                  <a:srgbClr val="2558C0"/>
                </a:solidFill>
                <a:latin typeface="Verdana"/>
                <a:ea typeface="Verdana"/>
                <a:cs typeface="Verdana"/>
              </a:rPr>
              <a:t>IBM QUANTUM HARDWARE</a:t>
            </a:r>
            <a:endParaRPr lang="en-US" sz="1200"/>
          </a:p>
        </p:txBody>
      </p:sp>
      <p:sp>
        <p:nvSpPr>
          <p:cNvPr id="4" name="Title"/>
          <p:cNvSpPr>
            <a:spLocks noGrp="1"/>
          </p:cNvSpPr>
          <p:nvPr>
            <p:ph type="title"/>
          </p:nvPr>
        </p:nvSpPr>
        <p:spPr>
          <a:xfrm>
            <a:off x="813816" y="978408"/>
            <a:ext cx="10561320" cy="548640"/>
          </a:xfrm>
          <a:prstGeom prst="rect">
            <a:avLst/>
          </a:prstGeom>
          <a:noFill/>
          <a:ln/>
        </p:spPr>
        <p:txBody>
          <a:bodyPr wrap="square" lIns="0" tIns="0" rIns="0" bIns="0" rtlCol="0" anchor="t">
            <a:noAutofit/>
          </a:bodyPr>
          <a:lstStyle/>
          <a:p>
            <a:pPr marL="0" indent="0" algn="l">
              <a:buNone/>
            </a:pPr>
            <a:r>
              <a:rPr lang="en-US" sz="3200" b="1">
                <a:solidFill>
                  <a:srgbClr val="0F1B2D"/>
                </a:solidFill>
                <a:latin typeface="Verdana Pro"/>
                <a:ea typeface="Verdana Pro"/>
                <a:cs typeface="Verdana Pro"/>
              </a:rPr>
              <a:t>Running our model on IBM hardware</a:t>
            </a:r>
            <a:endParaRPr lang="en-US" sz="3200"/>
          </a:p>
        </p:txBody>
      </p:sp>
      <p:sp>
        <p:nvSpPr>
          <p:cNvPr id="5" name="Card 5"/>
          <p:cNvSpPr/>
          <p:nvPr/>
        </p:nvSpPr>
        <p:spPr>
          <a:xfrm>
            <a:off x="813816" y="1691640"/>
            <a:ext cx="2240280" cy="1097280"/>
          </a:xfrm>
          <a:prstGeom prst="roundRect">
            <a:avLst>
              <a:gd name="adj" fmla="val 9576"/>
            </a:avLst>
          </a:prstGeom>
          <a:solidFill>
            <a:srgbClr val="FDFCF9"/>
          </a:solidFill>
          <a:ln w="6350">
            <a:solidFill>
              <a:srgbClr val="E2DED5"/>
            </a:solidFill>
          </a:ln>
        </p:spPr>
        <p:txBody>
          <a:bodyPr/>
          <a:lstStyle/>
          <a:p>
            <a:endParaRPr lang="en-US"/>
          </a:p>
        </p:txBody>
      </p:sp>
      <p:sp>
        <p:nvSpPr>
          <p:cNvPr id="6" name="Text 6"/>
          <p:cNvSpPr txBox="1"/>
          <p:nvPr/>
        </p:nvSpPr>
        <p:spPr>
          <a:xfrm>
            <a:off x="978408" y="1847088"/>
            <a:ext cx="1911096" cy="237744"/>
          </a:xfrm>
          <a:prstGeom prst="rect">
            <a:avLst/>
          </a:prstGeom>
          <a:noFill/>
          <a:ln/>
        </p:spPr>
        <p:txBody>
          <a:bodyPr wrap="square" lIns="0" tIns="0" rIns="0" bIns="0" rtlCol="0" anchor="t">
            <a:noAutofit/>
          </a:bodyPr>
          <a:lstStyle/>
          <a:p>
            <a:pPr marL="0" indent="0" algn="l">
              <a:buNone/>
            </a:pPr>
            <a:r>
              <a:rPr lang="en-US" sz="1200" b="0">
                <a:solidFill>
                  <a:srgbClr val="6B7280"/>
                </a:solidFill>
                <a:latin typeface="Verdana"/>
                <a:ea typeface="Verdana"/>
                <a:cs typeface="Verdana"/>
              </a:rPr>
              <a:t>Model</a:t>
            </a:r>
            <a:endParaRPr lang="en-US" sz="1200"/>
          </a:p>
        </p:txBody>
      </p:sp>
      <p:sp>
        <p:nvSpPr>
          <p:cNvPr id="7" name="Text 7"/>
          <p:cNvSpPr txBox="1"/>
          <p:nvPr/>
        </p:nvSpPr>
        <p:spPr>
          <a:xfrm>
            <a:off x="978408" y="2121408"/>
            <a:ext cx="1911096" cy="59436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1B2433"/>
                </a:solidFill>
                <a:latin typeface="Verdana"/>
                <a:ea typeface="Verdana"/>
                <a:cs typeface="Verdana"/>
              </a:rPr>
              <a:t>⟨Z⟩ feature ridge, one circuit per molecule</a:t>
            </a:r>
            <a:endParaRPr lang="en-US" sz="1200"/>
          </a:p>
        </p:txBody>
      </p:sp>
      <p:pic>
        <p:nvPicPr>
          <p:cNvPr id="8" name="Picture 8" descr="arrow-right"/>
          <p:cNvPicPr>
            <a:picLocks noChangeAspect="1"/>
          </p:cNvPicPr>
          <p:nvPr/>
        </p:nvPicPr>
        <p:blipFill>
          <a:blip r:embed="rId3"/>
          <a:stretch>
            <a:fillRect/>
          </a:stretch>
        </p:blipFill>
        <p:spPr>
          <a:xfrm>
            <a:off x="3154680" y="2167128"/>
            <a:ext cx="304495" cy="152705"/>
          </a:xfrm>
          <a:prstGeom prst="rect">
            <a:avLst/>
          </a:prstGeom>
        </p:spPr>
      </p:pic>
      <p:sp>
        <p:nvSpPr>
          <p:cNvPr id="9" name="Card 9"/>
          <p:cNvSpPr/>
          <p:nvPr/>
        </p:nvSpPr>
        <p:spPr>
          <a:xfrm>
            <a:off x="3557016" y="1691640"/>
            <a:ext cx="2240280" cy="1097280"/>
          </a:xfrm>
          <a:prstGeom prst="roundRect">
            <a:avLst>
              <a:gd name="adj" fmla="val 9576"/>
            </a:avLst>
          </a:prstGeom>
          <a:solidFill>
            <a:srgbClr val="FDFCF9"/>
          </a:solidFill>
          <a:ln w="6350">
            <a:solidFill>
              <a:srgbClr val="E2DED5"/>
            </a:solidFill>
          </a:ln>
        </p:spPr>
        <p:txBody>
          <a:bodyPr/>
          <a:lstStyle/>
          <a:p>
            <a:endParaRPr lang="en-US"/>
          </a:p>
        </p:txBody>
      </p:sp>
      <p:sp>
        <p:nvSpPr>
          <p:cNvPr id="10" name="Text 10"/>
          <p:cNvSpPr txBox="1"/>
          <p:nvPr/>
        </p:nvSpPr>
        <p:spPr>
          <a:xfrm>
            <a:off x="3721608" y="1847088"/>
            <a:ext cx="1911096" cy="237744"/>
          </a:xfrm>
          <a:prstGeom prst="rect">
            <a:avLst/>
          </a:prstGeom>
          <a:noFill/>
          <a:ln/>
        </p:spPr>
        <p:txBody>
          <a:bodyPr wrap="square" lIns="0" tIns="0" rIns="0" bIns="0" rtlCol="0" anchor="t">
            <a:noAutofit/>
          </a:bodyPr>
          <a:lstStyle/>
          <a:p>
            <a:pPr marL="0" indent="0" algn="l">
              <a:buNone/>
            </a:pPr>
            <a:r>
              <a:rPr lang="en-US" sz="1200" b="0">
                <a:solidFill>
                  <a:srgbClr val="6B7280"/>
                </a:solidFill>
                <a:latin typeface="Verdana"/>
                <a:ea typeface="Verdana"/>
                <a:cs typeface="Verdana"/>
              </a:rPr>
              <a:t>Rehearsal</a:t>
            </a:r>
            <a:endParaRPr lang="en-US" sz="1200"/>
          </a:p>
        </p:txBody>
      </p:sp>
      <p:sp>
        <p:nvSpPr>
          <p:cNvPr id="11" name="Text 11"/>
          <p:cNvSpPr txBox="1"/>
          <p:nvPr/>
        </p:nvSpPr>
        <p:spPr>
          <a:xfrm>
            <a:off x="3721608" y="2121408"/>
            <a:ext cx="1911096" cy="59436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1B2433"/>
                </a:solidFill>
                <a:latin typeface="Verdana"/>
                <a:ea typeface="Verdana"/>
                <a:cs typeface="Verdana"/>
              </a:rPr>
              <a:t>Same circuits on a FakeQuebec noise model</a:t>
            </a:r>
            <a:endParaRPr lang="en-US" sz="1200"/>
          </a:p>
        </p:txBody>
      </p:sp>
      <p:pic>
        <p:nvPicPr>
          <p:cNvPr id="12" name="Picture 12" descr="arrow-right"/>
          <p:cNvPicPr>
            <a:picLocks noChangeAspect="1"/>
          </p:cNvPicPr>
          <p:nvPr/>
        </p:nvPicPr>
        <p:blipFill>
          <a:blip r:embed="rId3"/>
          <a:stretch>
            <a:fillRect/>
          </a:stretch>
        </p:blipFill>
        <p:spPr>
          <a:xfrm>
            <a:off x="5897880" y="2167128"/>
            <a:ext cx="304495" cy="152705"/>
          </a:xfrm>
          <a:prstGeom prst="rect">
            <a:avLst/>
          </a:prstGeom>
        </p:spPr>
      </p:pic>
      <p:sp>
        <p:nvSpPr>
          <p:cNvPr id="13" name="Card 13"/>
          <p:cNvSpPr/>
          <p:nvPr/>
        </p:nvSpPr>
        <p:spPr>
          <a:xfrm>
            <a:off x="6300216" y="1691640"/>
            <a:ext cx="2240280" cy="1097280"/>
          </a:xfrm>
          <a:prstGeom prst="roundRect">
            <a:avLst>
              <a:gd name="adj" fmla="val 9576"/>
            </a:avLst>
          </a:prstGeom>
          <a:solidFill>
            <a:srgbClr val="2558C0"/>
          </a:solidFill>
          <a:ln>
            <a:noFill/>
          </a:ln>
        </p:spPr>
        <p:txBody>
          <a:bodyPr/>
          <a:lstStyle/>
          <a:p>
            <a:endParaRPr lang="en-US"/>
          </a:p>
        </p:txBody>
      </p:sp>
      <p:sp>
        <p:nvSpPr>
          <p:cNvPr id="14" name="Text 14"/>
          <p:cNvSpPr txBox="1"/>
          <p:nvPr/>
        </p:nvSpPr>
        <p:spPr>
          <a:xfrm>
            <a:off x="6464808" y="1847088"/>
            <a:ext cx="1911096" cy="237744"/>
          </a:xfrm>
          <a:prstGeom prst="rect">
            <a:avLst/>
          </a:prstGeom>
          <a:noFill/>
          <a:ln/>
        </p:spPr>
        <p:txBody>
          <a:bodyPr wrap="square" lIns="0" tIns="0" rIns="0" bIns="0" rtlCol="0" anchor="t">
            <a:noAutofit/>
          </a:bodyPr>
          <a:lstStyle/>
          <a:p>
            <a:pPr marL="0" indent="0" algn="l">
              <a:buNone/>
            </a:pPr>
            <a:r>
              <a:rPr lang="en-US" sz="1200" b="0">
                <a:solidFill>
                  <a:srgbClr val="D6E2FA"/>
                </a:solidFill>
                <a:latin typeface="Verdana"/>
                <a:ea typeface="Verdana"/>
                <a:cs typeface="Verdana"/>
              </a:rPr>
              <a:t>Device job</a:t>
            </a:r>
            <a:endParaRPr lang="en-US" sz="1200"/>
          </a:p>
        </p:txBody>
      </p:sp>
      <p:sp>
        <p:nvSpPr>
          <p:cNvPr id="15" name="Text 15"/>
          <p:cNvSpPr txBox="1"/>
          <p:nvPr/>
        </p:nvSpPr>
        <p:spPr>
          <a:xfrm>
            <a:off x="6464808" y="2121408"/>
            <a:ext cx="1911096" cy="59436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FDFCF9"/>
                </a:solidFill>
                <a:latin typeface="Verdana"/>
                <a:ea typeface="Verdana"/>
                <a:cs typeface="Verdana"/>
              </a:rPr>
              <a:t>160 circuits × 1,000 shots on ibm_quebec</a:t>
            </a:r>
            <a:endParaRPr lang="en-US" sz="1200"/>
          </a:p>
        </p:txBody>
      </p:sp>
      <p:pic>
        <p:nvPicPr>
          <p:cNvPr id="16" name="Picture 16" descr="arrow-right"/>
          <p:cNvPicPr>
            <a:picLocks noChangeAspect="1"/>
          </p:cNvPicPr>
          <p:nvPr/>
        </p:nvPicPr>
        <p:blipFill>
          <a:blip r:embed="rId3"/>
          <a:stretch>
            <a:fillRect/>
          </a:stretch>
        </p:blipFill>
        <p:spPr>
          <a:xfrm>
            <a:off x="8641080" y="2167128"/>
            <a:ext cx="304495" cy="152705"/>
          </a:xfrm>
          <a:prstGeom prst="rect">
            <a:avLst/>
          </a:prstGeom>
        </p:spPr>
      </p:pic>
      <p:sp>
        <p:nvSpPr>
          <p:cNvPr id="17" name="Card 17"/>
          <p:cNvSpPr/>
          <p:nvPr/>
        </p:nvSpPr>
        <p:spPr>
          <a:xfrm>
            <a:off x="9043416" y="1691640"/>
            <a:ext cx="2240280" cy="1097280"/>
          </a:xfrm>
          <a:prstGeom prst="roundRect">
            <a:avLst>
              <a:gd name="adj" fmla="val 9576"/>
            </a:avLst>
          </a:prstGeom>
          <a:solidFill>
            <a:srgbClr val="FDFCF9"/>
          </a:solidFill>
          <a:ln w="6350">
            <a:solidFill>
              <a:srgbClr val="E2DED5"/>
            </a:solidFill>
          </a:ln>
        </p:spPr>
        <p:txBody>
          <a:bodyPr/>
          <a:lstStyle/>
          <a:p>
            <a:endParaRPr lang="en-US"/>
          </a:p>
        </p:txBody>
      </p:sp>
      <p:sp>
        <p:nvSpPr>
          <p:cNvPr id="18" name="Text 18"/>
          <p:cNvSpPr txBox="1"/>
          <p:nvPr/>
        </p:nvSpPr>
        <p:spPr>
          <a:xfrm>
            <a:off x="9208008" y="1847088"/>
            <a:ext cx="1911096" cy="237744"/>
          </a:xfrm>
          <a:prstGeom prst="rect">
            <a:avLst/>
          </a:prstGeom>
          <a:noFill/>
          <a:ln/>
        </p:spPr>
        <p:txBody>
          <a:bodyPr wrap="square" lIns="0" tIns="0" rIns="0" bIns="0" rtlCol="0" anchor="t">
            <a:noAutofit/>
          </a:bodyPr>
          <a:lstStyle/>
          <a:p>
            <a:pPr marL="0" indent="0" algn="l">
              <a:buNone/>
            </a:pPr>
            <a:r>
              <a:rPr lang="en-US" sz="1200" b="0">
                <a:solidFill>
                  <a:srgbClr val="6B7280"/>
                </a:solidFill>
                <a:latin typeface="Verdana"/>
                <a:ea typeface="Verdana"/>
                <a:cs typeface="Verdana"/>
              </a:rPr>
              <a:t>Readout</a:t>
            </a:r>
            <a:endParaRPr lang="en-US" sz="1200"/>
          </a:p>
        </p:txBody>
      </p:sp>
      <p:sp>
        <p:nvSpPr>
          <p:cNvPr id="19" name="Text 19"/>
          <p:cNvSpPr txBox="1"/>
          <p:nvPr/>
        </p:nvSpPr>
        <p:spPr>
          <a:xfrm>
            <a:off x="9208008" y="2121408"/>
            <a:ext cx="1911096" cy="59436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1B2433"/>
                </a:solidFill>
                <a:latin typeface="Verdana"/>
                <a:ea typeface="Verdana"/>
                <a:cs typeface="Verdana"/>
              </a:rPr>
              <a:t>Ridge refit on the device's measurements</a:t>
            </a:r>
            <a:endParaRPr lang="en-US" sz="1200"/>
          </a:p>
        </p:txBody>
      </p:sp>
      <p:sp>
        <p:nvSpPr>
          <p:cNvPr id="20" name="Card 20"/>
          <p:cNvSpPr/>
          <p:nvPr/>
        </p:nvSpPr>
        <p:spPr>
          <a:xfrm>
            <a:off x="813816" y="3063240"/>
            <a:ext cx="3410712" cy="1371600"/>
          </a:xfrm>
          <a:prstGeom prst="roundRect">
            <a:avLst>
              <a:gd name="adj" fmla="val 9576"/>
            </a:avLst>
          </a:prstGeom>
          <a:solidFill>
            <a:srgbClr val="E6EDFA"/>
          </a:solidFill>
          <a:ln w="6350">
            <a:solidFill>
              <a:srgbClr val="C7D5F2"/>
            </a:solidFill>
          </a:ln>
        </p:spPr>
        <p:txBody>
          <a:bodyPr/>
          <a:lstStyle/>
          <a:p>
            <a:endParaRPr lang="en-US"/>
          </a:p>
        </p:txBody>
      </p:sp>
      <p:sp>
        <p:nvSpPr>
          <p:cNvPr id="21" name="Text 21"/>
          <p:cNvSpPr txBox="1"/>
          <p:nvPr/>
        </p:nvSpPr>
        <p:spPr>
          <a:xfrm>
            <a:off x="1024128" y="3246120"/>
            <a:ext cx="2990088" cy="480060"/>
          </a:xfrm>
          <a:prstGeom prst="rect">
            <a:avLst/>
          </a:prstGeom>
          <a:noFill/>
          <a:ln/>
        </p:spPr>
        <p:txBody>
          <a:bodyPr wrap="square" lIns="0" tIns="0" rIns="0" bIns="0" rtlCol="0" anchor="t">
            <a:noAutofit/>
          </a:bodyPr>
          <a:lstStyle/>
          <a:p>
            <a:pPr marL="0" indent="0" algn="l">
              <a:buNone/>
            </a:pPr>
            <a:r>
              <a:rPr lang="en-US" sz="2800" b="1">
                <a:solidFill>
                  <a:srgbClr val="2558C0"/>
                </a:solidFill>
                <a:latin typeface="Verdana Pro"/>
                <a:ea typeface="Verdana Pro"/>
                <a:cs typeface="Verdana Pro"/>
              </a:rPr>
              <a:t>160</a:t>
            </a:r>
            <a:endParaRPr lang="en-US" sz="2800"/>
          </a:p>
        </p:txBody>
      </p:sp>
      <p:sp>
        <p:nvSpPr>
          <p:cNvPr id="22" name="Text 22"/>
          <p:cNvSpPr txBox="1"/>
          <p:nvPr/>
        </p:nvSpPr>
        <p:spPr>
          <a:xfrm>
            <a:off x="1024128" y="3762756"/>
            <a:ext cx="2990088" cy="68580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circuits: 100 training and 60 test molecules, 10 qubits each</a:t>
            </a:r>
            <a:endParaRPr lang="en-US" sz="1200"/>
          </a:p>
        </p:txBody>
      </p:sp>
      <p:sp>
        <p:nvSpPr>
          <p:cNvPr id="23" name="Card 23"/>
          <p:cNvSpPr/>
          <p:nvPr/>
        </p:nvSpPr>
        <p:spPr>
          <a:xfrm>
            <a:off x="4389120" y="3063240"/>
            <a:ext cx="3410712" cy="1371600"/>
          </a:xfrm>
          <a:prstGeom prst="roundRect">
            <a:avLst>
              <a:gd name="adj" fmla="val 9576"/>
            </a:avLst>
          </a:prstGeom>
          <a:solidFill>
            <a:srgbClr val="E6EDFA"/>
          </a:solidFill>
          <a:ln w="6350">
            <a:solidFill>
              <a:srgbClr val="C7D5F2"/>
            </a:solidFill>
          </a:ln>
        </p:spPr>
        <p:txBody>
          <a:bodyPr/>
          <a:lstStyle/>
          <a:p>
            <a:endParaRPr lang="en-US"/>
          </a:p>
        </p:txBody>
      </p:sp>
      <p:sp>
        <p:nvSpPr>
          <p:cNvPr id="24" name="Text 24"/>
          <p:cNvSpPr txBox="1"/>
          <p:nvPr/>
        </p:nvSpPr>
        <p:spPr>
          <a:xfrm>
            <a:off x="4599432" y="3246120"/>
            <a:ext cx="2990088" cy="480060"/>
          </a:xfrm>
          <a:prstGeom prst="rect">
            <a:avLst/>
          </a:prstGeom>
          <a:noFill/>
          <a:ln/>
        </p:spPr>
        <p:txBody>
          <a:bodyPr wrap="square" lIns="0" tIns="0" rIns="0" bIns="0" rtlCol="0" anchor="t">
            <a:noAutofit/>
          </a:bodyPr>
          <a:lstStyle/>
          <a:p>
            <a:pPr marL="0" indent="0" algn="l">
              <a:buNone/>
            </a:pPr>
            <a:r>
              <a:rPr lang="en-US" sz="2800" b="1">
                <a:solidFill>
                  <a:srgbClr val="2558C0"/>
                </a:solidFill>
                <a:latin typeface="Verdana Pro"/>
                <a:ea typeface="Verdana Pro"/>
                <a:cs typeface="Verdana Pro"/>
              </a:rPr>
              <a:t>45 s</a:t>
            </a:r>
            <a:endParaRPr lang="en-US" sz="2800"/>
          </a:p>
        </p:txBody>
      </p:sp>
      <p:sp>
        <p:nvSpPr>
          <p:cNvPr id="25" name="Text 25"/>
          <p:cNvSpPr txBox="1"/>
          <p:nvPr/>
        </p:nvSpPr>
        <p:spPr>
          <a:xfrm>
            <a:off x="4599432" y="3762756"/>
            <a:ext cx="2990088" cy="68580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of QPU time charged (41 s estimated), after about 85 minutes in the queue</a:t>
            </a:r>
            <a:endParaRPr lang="en-US" sz="1200"/>
          </a:p>
        </p:txBody>
      </p:sp>
      <p:sp>
        <p:nvSpPr>
          <p:cNvPr id="26" name="Card 26"/>
          <p:cNvSpPr/>
          <p:nvPr/>
        </p:nvSpPr>
        <p:spPr>
          <a:xfrm>
            <a:off x="7964424" y="3063240"/>
            <a:ext cx="3410712" cy="1371600"/>
          </a:xfrm>
          <a:prstGeom prst="roundRect">
            <a:avLst>
              <a:gd name="adj" fmla="val 9576"/>
            </a:avLst>
          </a:prstGeom>
          <a:solidFill>
            <a:srgbClr val="E6EDFA"/>
          </a:solidFill>
          <a:ln w="6350">
            <a:solidFill>
              <a:srgbClr val="C7D5F2"/>
            </a:solidFill>
          </a:ln>
        </p:spPr>
        <p:txBody>
          <a:bodyPr/>
          <a:lstStyle/>
          <a:p>
            <a:endParaRPr lang="en-US"/>
          </a:p>
        </p:txBody>
      </p:sp>
      <p:sp>
        <p:nvSpPr>
          <p:cNvPr id="27" name="Text 27"/>
          <p:cNvSpPr txBox="1"/>
          <p:nvPr/>
        </p:nvSpPr>
        <p:spPr>
          <a:xfrm>
            <a:off x="8174736" y="3246120"/>
            <a:ext cx="2990088" cy="480060"/>
          </a:xfrm>
          <a:prstGeom prst="rect">
            <a:avLst/>
          </a:prstGeom>
          <a:noFill/>
          <a:ln/>
        </p:spPr>
        <p:txBody>
          <a:bodyPr wrap="square" lIns="0" tIns="0" rIns="0" bIns="0" rtlCol="0" anchor="t">
            <a:noAutofit/>
          </a:bodyPr>
          <a:lstStyle/>
          <a:p>
            <a:pPr marL="0" indent="0" algn="l">
              <a:buNone/>
            </a:pPr>
            <a:r>
              <a:rPr lang="en-US" sz="2800" b="1">
                <a:solidFill>
                  <a:srgbClr val="2558C0"/>
                </a:solidFill>
                <a:latin typeface="Verdana Pro"/>
                <a:ea typeface="Verdana Pro"/>
                <a:cs typeface="Verdana Pro"/>
              </a:rPr>
              <a:t>1,000</a:t>
            </a:r>
            <a:endParaRPr lang="en-US" sz="2800"/>
          </a:p>
        </p:txBody>
      </p:sp>
      <p:sp>
        <p:nvSpPr>
          <p:cNvPr id="28" name="Text 28"/>
          <p:cNvSpPr txBox="1"/>
          <p:nvPr/>
        </p:nvSpPr>
        <p:spPr>
          <a:xfrm>
            <a:off x="8174736" y="3762756"/>
            <a:ext cx="2990088" cy="68580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shots per circuit, with no error mitigation</a:t>
            </a:r>
            <a:endParaRPr lang="en-US" sz="1200"/>
          </a:p>
        </p:txBody>
      </p:sp>
      <p:sp>
        <p:nvSpPr>
          <p:cNvPr id="29" name="Card 29"/>
          <p:cNvSpPr/>
          <p:nvPr/>
        </p:nvSpPr>
        <p:spPr>
          <a:xfrm>
            <a:off x="813816" y="4663440"/>
            <a:ext cx="10561320" cy="777240"/>
          </a:xfrm>
          <a:prstGeom prst="roundRect">
            <a:avLst>
              <a:gd name="adj" fmla="val 9576"/>
            </a:avLst>
          </a:prstGeom>
          <a:solidFill>
            <a:srgbClr val="FDFCF9"/>
          </a:solidFill>
          <a:ln w="6350">
            <a:solidFill>
              <a:srgbClr val="E2DED5"/>
            </a:solidFill>
          </a:ln>
        </p:spPr>
        <p:txBody>
          <a:bodyPr/>
          <a:lstStyle/>
          <a:p>
            <a:endParaRPr lang="en-US"/>
          </a:p>
        </p:txBody>
      </p:sp>
      <p:sp>
        <p:nvSpPr>
          <p:cNvPr id="30" name="Text 30"/>
          <p:cNvSpPr txBox="1"/>
          <p:nvPr/>
        </p:nvSpPr>
        <p:spPr>
          <a:xfrm>
            <a:off x="1042416" y="4663440"/>
            <a:ext cx="4846320" cy="777240"/>
          </a:xfrm>
          <a:prstGeom prst="rect">
            <a:avLst/>
          </a:prstGeom>
          <a:noFill/>
          <a:ln/>
        </p:spPr>
        <p:txBody>
          <a:bodyPr wrap="square" lIns="0" tIns="0" rIns="0" bIns="0" rtlCol="0" anchor="ctr">
            <a:noAutofit/>
          </a:bodyPr>
          <a:lstStyle/>
          <a:p>
            <a:pPr marL="0" indent="0" algn="l">
              <a:buNone/>
            </a:pPr>
            <a:r>
              <a:rPr lang="en-US" sz="1300" b="1">
                <a:solidFill>
                  <a:srgbClr val="0F1B2D"/>
                </a:solidFill>
                <a:latin typeface="Verdana"/>
                <a:ea typeface="Verdana"/>
                <a:cs typeface="Verdana"/>
              </a:rPr>
              <a:t>On the quantum processor: </a:t>
            </a:r>
            <a:r>
              <a:rPr lang="en-US" sz="1300" b="0">
                <a:solidFill>
                  <a:srgbClr val="4A5568"/>
                </a:solidFill>
                <a:latin typeface="Verdana"/>
                <a:ea typeface="Verdana"/>
                <a:cs typeface="Verdana"/>
              </a:rPr>
              <a:t>only the 160 circuits.</a:t>
            </a:r>
            <a:endParaRPr lang="en-US" sz="1300"/>
          </a:p>
        </p:txBody>
      </p:sp>
      <p:sp>
        <p:nvSpPr>
          <p:cNvPr id="31" name="Text 31"/>
          <p:cNvSpPr txBox="1"/>
          <p:nvPr/>
        </p:nvSpPr>
        <p:spPr>
          <a:xfrm>
            <a:off x="6208776" y="4663440"/>
            <a:ext cx="4937760" cy="777240"/>
          </a:xfrm>
          <a:prstGeom prst="rect">
            <a:avLst/>
          </a:prstGeom>
          <a:noFill/>
          <a:ln/>
        </p:spPr>
        <p:txBody>
          <a:bodyPr wrap="square" lIns="0" tIns="0" rIns="0" bIns="0" rtlCol="0" anchor="ctr">
            <a:noAutofit/>
          </a:bodyPr>
          <a:lstStyle/>
          <a:p>
            <a:pPr marL="0" indent="0" algn="l">
              <a:buNone/>
            </a:pPr>
            <a:r>
              <a:rPr lang="en-US" sz="1300" b="1">
                <a:solidFill>
                  <a:srgbClr val="0F1B2D"/>
                </a:solidFill>
                <a:latin typeface="Verdana"/>
                <a:ea typeface="Verdana"/>
                <a:cs typeface="Verdana"/>
              </a:rPr>
              <a:t>On our laptop: </a:t>
            </a:r>
            <a:r>
              <a:rPr lang="en-US" sz="1300" b="0">
                <a:solidFill>
                  <a:srgbClr val="4A5568"/>
                </a:solidFill>
                <a:latin typeface="Verdana"/>
                <a:ea typeface="Verdana"/>
                <a:cs typeface="Verdana"/>
              </a:rPr>
              <a:t>feature scaling, PLS, the ridge fit and conversion to debye.</a:t>
            </a:r>
            <a:endParaRPr lang="en-US" sz="1300"/>
          </a:p>
        </p:txBody>
      </p:sp>
      <p:sp>
        <p:nvSpPr>
          <p:cNvPr id="32" name="Text 32"/>
          <p:cNvSpPr txBox="1"/>
          <p:nvPr/>
        </p:nvSpPr>
        <p:spPr>
          <a:xfrm>
            <a:off x="769467" y="6556248"/>
            <a:ext cx="10561320" cy="548640"/>
          </a:xfrm>
          <a:prstGeom prst="rect">
            <a:avLst/>
          </a:prstGeom>
          <a:noFill/>
          <a:ln/>
        </p:spPr>
        <p:txBody>
          <a:bodyPr wrap="square" lIns="0" tIns="0" rIns="0" bIns="0" rtlCol="0" anchor="t">
            <a:noAutofit/>
          </a:bodyPr>
          <a:lstStyle/>
          <a:p>
            <a:pPr marL="0" indent="0" algn="l">
              <a:lnSpc>
                <a:spcPct val="105000"/>
              </a:lnSpc>
              <a:buNone/>
            </a:pPr>
            <a:r>
              <a:rPr lang="en-US" sz="1100" b="0">
                <a:solidFill>
                  <a:srgbClr val="6B7280"/>
                </a:solidFill>
                <a:latin typeface="Verdana"/>
                <a:ea typeface="Verdana"/>
                <a:cs typeface="Verdana"/>
              </a:rPr>
              <a:t>IBM job db3da0kvf2bc73csuk60,  </a:t>
            </a:r>
            <a:r>
              <a:rPr lang="en-US" sz="1100" b="0" err="1">
                <a:solidFill>
                  <a:srgbClr val="6B7280"/>
                </a:solidFill>
                <a:latin typeface="Verdana"/>
                <a:ea typeface="Verdana"/>
                <a:cs typeface="Verdana"/>
              </a:rPr>
              <a:t>qiskit</a:t>
            </a:r>
            <a:r>
              <a:rPr lang="en-US" sz="1100" b="0">
                <a:solidFill>
                  <a:srgbClr val="6B7280"/>
                </a:solidFill>
                <a:latin typeface="Verdana"/>
                <a:ea typeface="Verdana"/>
                <a:cs typeface="Verdana"/>
              </a:rPr>
              <a:t>-</a:t>
            </a:r>
            <a:r>
              <a:rPr lang="en-US" sz="1100" b="0" err="1">
                <a:solidFill>
                  <a:srgbClr val="6B7280"/>
                </a:solidFill>
                <a:latin typeface="Verdana"/>
                <a:ea typeface="Verdana"/>
                <a:cs typeface="Verdana"/>
              </a:rPr>
              <a:t>ibm</a:t>
            </a:r>
            <a:r>
              <a:rPr lang="en-US" sz="1100" b="0">
                <a:solidFill>
                  <a:srgbClr val="6B7280"/>
                </a:solidFill>
                <a:latin typeface="Verdana"/>
                <a:ea typeface="Verdana"/>
                <a:cs typeface="Verdana"/>
              </a:rPr>
              <a:t>-runtime SamplerV2, accessed through PINQ², tested on 30 familiar and 30 unseen-formula molecules</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222609" y="261514"/>
            <a:ext cx="10561320" cy="237744"/>
          </a:xfrm>
          <a:prstGeom prst="rect">
            <a:avLst/>
          </a:prstGeom>
          <a:noFill/>
          <a:ln/>
        </p:spPr>
        <p:txBody>
          <a:bodyPr wrap="square" lIns="0" tIns="0" rIns="0" bIns="0" rtlCol="0" anchor="t">
            <a:noAutofit/>
          </a:bodyPr>
          <a:lstStyle/>
          <a:p>
            <a:pPr marL="0" indent="0" algn="l">
              <a:buNone/>
            </a:pPr>
            <a:r>
              <a:rPr lang="en-US" sz="1200" b="1" spc="150">
                <a:solidFill>
                  <a:srgbClr val="2558C0"/>
                </a:solidFill>
                <a:latin typeface="Verdana"/>
                <a:ea typeface="Verdana"/>
                <a:cs typeface="Verdana"/>
              </a:rPr>
              <a:t>IBM QUANTUM HARDWARE</a:t>
            </a:r>
            <a:endParaRPr lang="en-US" sz="1200"/>
          </a:p>
        </p:txBody>
      </p:sp>
      <p:sp>
        <p:nvSpPr>
          <p:cNvPr id="4" name="Title"/>
          <p:cNvSpPr>
            <a:spLocks noGrp="1"/>
          </p:cNvSpPr>
          <p:nvPr>
            <p:ph type="title"/>
          </p:nvPr>
        </p:nvSpPr>
        <p:spPr>
          <a:xfrm>
            <a:off x="466974" y="760229"/>
            <a:ext cx="10561320" cy="548640"/>
          </a:xfrm>
          <a:prstGeom prst="rect">
            <a:avLst/>
          </a:prstGeom>
          <a:noFill/>
          <a:ln/>
        </p:spPr>
        <p:txBody>
          <a:bodyPr wrap="square" lIns="0" tIns="0" rIns="0" bIns="0" rtlCol="0" anchor="t">
            <a:noAutofit/>
          </a:bodyPr>
          <a:lstStyle/>
          <a:p>
            <a:pPr marL="0" indent="0" algn="l">
              <a:buNone/>
            </a:pPr>
            <a:r>
              <a:rPr lang="en-US" sz="3200" b="1">
                <a:solidFill>
                  <a:srgbClr val="0F1B2D"/>
                </a:solidFill>
                <a:latin typeface="Verdana Pro"/>
                <a:ea typeface="Verdana Pro"/>
                <a:cs typeface="Verdana Pro"/>
              </a:rPr>
              <a:t>Hardware matched exact simulation</a:t>
            </a:r>
            <a:endParaRPr lang="en-US" sz="3200"/>
          </a:p>
        </p:txBody>
      </p:sp>
      <p:pic>
        <p:nvPicPr>
          <p:cNvPr id="5" name="Picture 5" descr="MAE of the team's model and the projected kernel: exact, ideal device, noise models and ibm_quebec"/>
          <p:cNvPicPr>
            <a:picLocks noChangeAspect="1"/>
          </p:cNvPicPr>
          <p:nvPr/>
        </p:nvPicPr>
        <p:blipFill>
          <a:blip r:embed="rId3"/>
          <a:stretch>
            <a:fillRect/>
          </a:stretch>
        </p:blipFill>
        <p:spPr>
          <a:xfrm>
            <a:off x="813816" y="1645920"/>
            <a:ext cx="6035040" cy="4060669"/>
          </a:xfrm>
          <a:prstGeom prst="rect">
            <a:avLst/>
          </a:prstGeom>
        </p:spPr>
      </p:pic>
      <p:sp>
        <p:nvSpPr>
          <p:cNvPr id="6" name="Text 6"/>
          <p:cNvSpPr txBox="1"/>
          <p:nvPr/>
        </p:nvSpPr>
        <p:spPr>
          <a:xfrm>
            <a:off x="813816" y="5761453"/>
            <a:ext cx="6035040" cy="411480"/>
          </a:xfrm>
          <a:prstGeom prst="rect">
            <a:avLst/>
          </a:prstGeom>
          <a:noFill/>
          <a:ln/>
        </p:spPr>
        <p:txBody>
          <a:bodyPr wrap="square" lIns="0" tIns="0" rIns="0" bIns="0" rtlCol="0" anchor="t">
            <a:noAutofit/>
          </a:bodyPr>
          <a:lstStyle/>
          <a:p>
            <a:pPr marL="0" indent="0" algn="l">
              <a:lnSpc>
                <a:spcPct val="105000"/>
              </a:lnSpc>
              <a:buNone/>
            </a:pPr>
            <a:r>
              <a:rPr lang="en-US" sz="1050" b="0">
                <a:solidFill>
                  <a:srgbClr val="6B7280"/>
                </a:solidFill>
                <a:latin typeface="Verdana"/>
                <a:ea typeface="Verdana"/>
                <a:cs typeface="Verdana"/>
              </a:rPr>
              <a:t>MAE on the same 60 test molecules, trained on 100. Dark bar: the real device.</a:t>
            </a:r>
            <a:endParaRPr lang="en-US" sz="1050"/>
          </a:p>
        </p:txBody>
      </p:sp>
      <p:sp>
        <p:nvSpPr>
          <p:cNvPr id="7" name="Text 7"/>
          <p:cNvSpPr txBox="1"/>
          <p:nvPr/>
        </p:nvSpPr>
        <p:spPr>
          <a:xfrm>
            <a:off x="7223760" y="1783080"/>
            <a:ext cx="4151376" cy="640080"/>
          </a:xfrm>
          <a:prstGeom prst="rect">
            <a:avLst/>
          </a:prstGeom>
          <a:noFill/>
          <a:ln/>
        </p:spPr>
        <p:txBody>
          <a:bodyPr wrap="square" lIns="0" tIns="0" rIns="0" bIns="0" rtlCol="0" anchor="t">
            <a:noAutofit/>
          </a:bodyPr>
          <a:lstStyle/>
          <a:p>
            <a:pPr marL="0" indent="0" algn="l">
              <a:buNone/>
            </a:pPr>
            <a:r>
              <a:rPr lang="en-US" sz="4000" b="1">
                <a:solidFill>
                  <a:srgbClr val="2558C0"/>
                </a:solidFill>
                <a:latin typeface="Verdana Pro"/>
                <a:ea typeface="Verdana Pro"/>
                <a:cs typeface="Verdana Pro"/>
              </a:rPr>
              <a:t>0.778 D</a:t>
            </a:r>
            <a:endParaRPr lang="en-US" sz="4000"/>
          </a:p>
        </p:txBody>
      </p:sp>
      <p:sp>
        <p:nvSpPr>
          <p:cNvPr id="8" name="Text 8"/>
          <p:cNvSpPr txBox="1"/>
          <p:nvPr/>
        </p:nvSpPr>
        <p:spPr>
          <a:xfrm>
            <a:off x="7223760" y="2450592"/>
            <a:ext cx="4151376" cy="457200"/>
          </a:xfrm>
          <a:prstGeom prst="rect">
            <a:avLst/>
          </a:prstGeom>
          <a:noFill/>
          <a:ln/>
        </p:spPr>
        <p:txBody>
          <a:bodyPr wrap="square" lIns="0" tIns="0" rIns="0" bIns="0" rtlCol="0" anchor="t">
            <a:noAutofit/>
          </a:bodyPr>
          <a:lstStyle/>
          <a:p>
            <a:pPr marL="0" indent="0" algn="l">
              <a:buNone/>
            </a:pPr>
            <a:r>
              <a:rPr lang="en-US" sz="1300" b="0">
                <a:solidFill>
                  <a:srgbClr val="4A5568"/>
                </a:solidFill>
                <a:latin typeface="Verdana"/>
                <a:ea typeface="Verdana"/>
                <a:cs typeface="Verdana"/>
              </a:rPr>
              <a:t>⟨Z⟩ feature ridge on the real device, ibm_quebec</a:t>
            </a:r>
            <a:endParaRPr lang="en-US" sz="1300"/>
          </a:p>
        </p:txBody>
      </p:sp>
      <p:sp>
        <p:nvSpPr>
          <p:cNvPr id="9" name="Text 9"/>
          <p:cNvSpPr txBox="1"/>
          <p:nvPr/>
        </p:nvSpPr>
        <p:spPr>
          <a:xfrm>
            <a:off x="7223760" y="3063240"/>
            <a:ext cx="4151376" cy="640080"/>
          </a:xfrm>
          <a:prstGeom prst="rect">
            <a:avLst/>
          </a:prstGeom>
          <a:noFill/>
          <a:ln/>
        </p:spPr>
        <p:txBody>
          <a:bodyPr wrap="square" lIns="0" tIns="0" rIns="0" bIns="0" rtlCol="0" anchor="t">
            <a:noAutofit/>
          </a:bodyPr>
          <a:lstStyle/>
          <a:p>
            <a:pPr marL="0" indent="0" algn="l">
              <a:buNone/>
            </a:pPr>
            <a:r>
              <a:rPr lang="en-US" sz="4000" b="1">
                <a:solidFill>
                  <a:srgbClr val="1B2433"/>
                </a:solidFill>
                <a:latin typeface="Verdana Pro"/>
                <a:ea typeface="Verdana Pro"/>
                <a:cs typeface="Verdana Pro"/>
              </a:rPr>
              <a:t>0.794 D</a:t>
            </a:r>
            <a:endParaRPr lang="en-US" sz="4000"/>
          </a:p>
        </p:txBody>
      </p:sp>
      <p:sp>
        <p:nvSpPr>
          <p:cNvPr id="10" name="Text 10"/>
          <p:cNvSpPr txBox="1"/>
          <p:nvPr/>
        </p:nvSpPr>
        <p:spPr>
          <a:xfrm>
            <a:off x="7223760" y="3730752"/>
            <a:ext cx="4151376" cy="457200"/>
          </a:xfrm>
          <a:prstGeom prst="rect">
            <a:avLst/>
          </a:prstGeom>
          <a:noFill/>
          <a:ln/>
        </p:spPr>
        <p:txBody>
          <a:bodyPr wrap="square" lIns="0" tIns="0" rIns="0" bIns="0" rtlCol="0" anchor="t">
            <a:noAutofit/>
          </a:bodyPr>
          <a:lstStyle/>
          <a:p>
            <a:pPr marL="0" indent="0" algn="l">
              <a:buNone/>
            </a:pPr>
            <a:r>
              <a:rPr lang="en-US" sz="1300" b="0">
                <a:solidFill>
                  <a:srgbClr val="4A5568"/>
                </a:solidFill>
                <a:latin typeface="Verdana"/>
                <a:ea typeface="Verdana"/>
                <a:cs typeface="Verdana"/>
              </a:rPr>
              <a:t>The same model in exact simulation</a:t>
            </a:r>
            <a:endParaRPr lang="en-US" sz="1300"/>
          </a:p>
        </p:txBody>
      </p:sp>
      <p:sp>
        <p:nvSpPr>
          <p:cNvPr id="11" name="Text 11"/>
          <p:cNvSpPr txBox="1"/>
          <p:nvPr/>
        </p:nvSpPr>
        <p:spPr>
          <a:xfrm>
            <a:off x="7223760" y="4389120"/>
            <a:ext cx="4151376" cy="1463040"/>
          </a:xfrm>
          <a:prstGeom prst="rect">
            <a:avLst/>
          </a:prstGeom>
          <a:noFill/>
          <a:ln/>
        </p:spPr>
        <p:txBody>
          <a:bodyPr wrap="square" lIns="0" tIns="0" rIns="0" bIns="0" rtlCol="0" anchor="t">
            <a:noAutofit/>
          </a:bodyPr>
          <a:lstStyle/>
          <a:p>
            <a:pPr marL="0" indent="0" algn="l">
              <a:lnSpc>
                <a:spcPct val="110000"/>
              </a:lnSpc>
              <a:buNone/>
            </a:pPr>
            <a:r>
              <a:rPr lang="en-US" sz="1300" b="0">
                <a:solidFill>
                  <a:srgbClr val="4A5568"/>
                </a:solidFill>
                <a:latin typeface="Verdana"/>
                <a:ea typeface="Verdana"/>
                <a:cs typeface="Verdana"/>
              </a:rPr>
              <a:t>With 60 test molecules, each score is uncertain by ±0.1 D</a:t>
            </a:r>
            <a:r>
              <a:rPr lang="en-US" sz="1300">
                <a:solidFill>
                  <a:srgbClr val="4A5568"/>
                </a:solidFill>
                <a:latin typeface="Verdana"/>
                <a:ea typeface="Verdana"/>
                <a:cs typeface="Verdana"/>
              </a:rPr>
              <a:t>, </a:t>
            </a:r>
            <a:r>
              <a:rPr lang="en-US" sz="1300" b="0">
                <a:solidFill>
                  <a:srgbClr val="4A5568"/>
                </a:solidFill>
                <a:latin typeface="Verdana"/>
                <a:ea typeface="Verdana"/>
                <a:cs typeface="Verdana"/>
              </a:rPr>
              <a:t>the device </a:t>
            </a:r>
            <a:r>
              <a:rPr lang="en-US" sz="1300">
                <a:solidFill>
                  <a:srgbClr val="4A5568"/>
                </a:solidFill>
                <a:latin typeface="Verdana"/>
                <a:ea typeface="Verdana"/>
                <a:cs typeface="Verdana"/>
              </a:rPr>
              <a:t>about as well as the simulator</a:t>
            </a:r>
            <a:r>
              <a:rPr lang="en-US" sz="1300" b="0">
                <a:solidFill>
                  <a:srgbClr val="4A5568"/>
                </a:solidFill>
                <a:latin typeface="Verdana"/>
                <a:ea typeface="Verdana"/>
                <a:cs typeface="Verdana"/>
              </a:rPr>
              <a:t>. </a:t>
            </a:r>
          </a:p>
          <a:p>
            <a:pPr marL="0" indent="0" algn="l">
              <a:lnSpc>
                <a:spcPct val="110000"/>
              </a:lnSpc>
              <a:buNone/>
            </a:pPr>
            <a:endParaRPr lang="en-US" sz="1300">
              <a:solidFill>
                <a:srgbClr val="4A5568"/>
              </a:solidFill>
              <a:latin typeface="Verdana"/>
              <a:ea typeface="Verdana"/>
            </a:endParaRPr>
          </a:p>
          <a:p>
            <a:pPr marL="0" indent="0" algn="l">
              <a:lnSpc>
                <a:spcPct val="110000"/>
              </a:lnSpc>
              <a:buNone/>
            </a:pPr>
            <a:r>
              <a:rPr lang="en-US" sz="1300">
                <a:solidFill>
                  <a:srgbClr val="4A5568"/>
                </a:solidFill>
                <a:latin typeface="Verdana"/>
                <a:ea typeface="Verdana"/>
              </a:rPr>
              <a:t>Model training took 45 seconds on </a:t>
            </a:r>
            <a:r>
              <a:rPr lang="en-US" sz="1300" err="1">
                <a:solidFill>
                  <a:srgbClr val="4A5568"/>
                </a:solidFill>
                <a:latin typeface="Verdana"/>
                <a:ea typeface="Verdana"/>
              </a:rPr>
              <a:t>ibm_Quebec</a:t>
            </a:r>
            <a:endParaRPr lang="en-US" sz="1300">
              <a:solidFill>
                <a:srgbClr val="4A5568"/>
              </a:solidFill>
              <a:latin typeface="Verdana"/>
              <a:ea typeface="Verdana"/>
            </a:endParaRPr>
          </a:p>
          <a:p>
            <a:pPr marL="0" indent="0" algn="l">
              <a:lnSpc>
                <a:spcPct val="110000"/>
              </a:lnSpc>
              <a:buNone/>
            </a:pPr>
            <a:endParaRPr lang="en-US" sz="1300"/>
          </a:p>
        </p:txBody>
      </p:sp>
      <p:sp>
        <p:nvSpPr>
          <p:cNvPr id="12" name="Text 26">
            <a:extLst>
              <a:ext uri="{FF2B5EF4-FFF2-40B4-BE49-F238E27FC236}">
                <a16:creationId xmlns:a16="http://schemas.microsoft.com/office/drawing/2014/main" id="{9A1FA2E5-935D-9F6F-E02C-D0AB4D5C4208}"/>
              </a:ext>
            </a:extLst>
          </p:cNvPr>
          <p:cNvSpPr/>
          <p:nvPr/>
        </p:nvSpPr>
        <p:spPr>
          <a:xfrm>
            <a:off x="71747" y="6572716"/>
            <a:ext cx="784860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6B7280"/>
                </a:solidFill>
                <a:latin typeface="Verdana" panose="020B0604030504040204" pitchFamily="34" charset="0"/>
                <a:ea typeface="Verdana" panose="020B0604030504040204" pitchFamily="34" charset="0"/>
                <a:cs typeface="IBM Plex Sans" pitchFamily="34" charset="-120"/>
              </a:rPr>
              <a:t>IBM job db3da0kvf2bc73csuk60 - raw shot outcomes in results/hardware/</a:t>
            </a:r>
            <a:endParaRPr lang="en-US" sz="1200">
              <a:latin typeface="Verdana" panose="020B060403050404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yebrow"/>
          <p:cNvSpPr txBox="1"/>
          <p:nvPr/>
        </p:nvSpPr>
        <p:spPr>
          <a:xfrm>
            <a:off x="813816" y="658368"/>
            <a:ext cx="10561320" cy="237744"/>
          </a:xfrm>
          <a:prstGeom prst="rect">
            <a:avLst/>
          </a:prstGeom>
          <a:noFill/>
          <a:ln/>
        </p:spPr>
        <p:txBody>
          <a:bodyPr wrap="square" lIns="0" tIns="0" rIns="0" bIns="0" rtlCol="0" anchor="t">
            <a:noAutofit/>
          </a:bodyPr>
          <a:lstStyle/>
          <a:p>
            <a:pPr marL="0" indent="0" algn="l">
              <a:buNone/>
            </a:pPr>
            <a:r>
              <a:rPr lang="en-US" sz="1200" b="1" spc="150">
                <a:solidFill>
                  <a:srgbClr val="2558C0"/>
                </a:solidFill>
                <a:latin typeface="Verdana"/>
                <a:ea typeface="Verdana"/>
                <a:cs typeface="Verdana"/>
              </a:rPr>
              <a:t>CONCLUSIONS</a:t>
            </a:r>
            <a:endParaRPr lang="en-US" sz="1200"/>
          </a:p>
        </p:txBody>
      </p:sp>
      <p:sp>
        <p:nvSpPr>
          <p:cNvPr id="4" name="Title"/>
          <p:cNvSpPr>
            <a:spLocks noGrp="1"/>
          </p:cNvSpPr>
          <p:nvPr>
            <p:ph type="title"/>
          </p:nvPr>
        </p:nvSpPr>
        <p:spPr>
          <a:xfrm>
            <a:off x="813816" y="978408"/>
            <a:ext cx="10561320" cy="548640"/>
          </a:xfrm>
          <a:prstGeom prst="rect">
            <a:avLst/>
          </a:prstGeom>
          <a:noFill/>
          <a:ln/>
        </p:spPr>
        <p:txBody>
          <a:bodyPr wrap="square" lIns="0" tIns="0" rIns="0" bIns="0" rtlCol="0" anchor="t">
            <a:noAutofit/>
          </a:bodyPr>
          <a:lstStyle/>
          <a:p>
            <a:pPr marL="0" indent="0" algn="l">
              <a:buNone/>
            </a:pPr>
            <a:r>
              <a:rPr lang="en-US" sz="3200" b="1">
                <a:solidFill>
                  <a:srgbClr val="0F1B2D"/>
                </a:solidFill>
                <a:latin typeface="Verdana Pro"/>
                <a:ea typeface="Verdana Pro"/>
                <a:cs typeface="Verdana Pro"/>
              </a:rPr>
              <a:t>Answers to our four questions</a:t>
            </a:r>
            <a:endParaRPr lang="en-US" sz="3200"/>
          </a:p>
        </p:txBody>
      </p:sp>
      <p:sp>
        <p:nvSpPr>
          <p:cNvPr id="5" name="Card 5"/>
          <p:cNvSpPr/>
          <p:nvPr/>
        </p:nvSpPr>
        <p:spPr>
          <a:xfrm>
            <a:off x="813816" y="1691640"/>
            <a:ext cx="5193792" cy="1920240"/>
          </a:xfrm>
          <a:prstGeom prst="roundRect">
            <a:avLst>
              <a:gd name="adj" fmla="val 9576"/>
            </a:avLst>
          </a:prstGeom>
          <a:solidFill>
            <a:srgbClr val="FDFCF9"/>
          </a:solidFill>
          <a:ln w="6350">
            <a:solidFill>
              <a:srgbClr val="E2DED5"/>
            </a:solidFill>
          </a:ln>
        </p:spPr>
        <p:txBody>
          <a:bodyPr/>
          <a:lstStyle/>
          <a:p>
            <a:endParaRPr lang="en-US"/>
          </a:p>
        </p:txBody>
      </p:sp>
      <p:sp>
        <p:nvSpPr>
          <p:cNvPr id="6" name="Text 6"/>
          <p:cNvSpPr txBox="1"/>
          <p:nvPr/>
        </p:nvSpPr>
        <p:spPr>
          <a:xfrm>
            <a:off x="1042416" y="1892808"/>
            <a:ext cx="640080" cy="411480"/>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01</a:t>
            </a:r>
            <a:endParaRPr lang="en-US" sz="2200"/>
          </a:p>
        </p:txBody>
      </p:sp>
      <p:sp>
        <p:nvSpPr>
          <p:cNvPr id="7" name="Text 7"/>
          <p:cNvSpPr txBox="1"/>
          <p:nvPr/>
        </p:nvSpPr>
        <p:spPr>
          <a:xfrm>
            <a:off x="1728216" y="1920240"/>
            <a:ext cx="4069080" cy="502920"/>
          </a:xfrm>
          <a:prstGeom prst="rect">
            <a:avLst/>
          </a:prstGeom>
          <a:noFill/>
          <a:ln/>
        </p:spPr>
        <p:txBody>
          <a:bodyPr wrap="square" lIns="0" tIns="0" rIns="0" bIns="0" rtlCol="0" anchor="t">
            <a:noAutofit/>
          </a:bodyPr>
          <a:lstStyle/>
          <a:p>
            <a:pPr marL="0" indent="0" algn="l">
              <a:lnSpc>
                <a:spcPct val="100000"/>
              </a:lnSpc>
              <a:buNone/>
            </a:pPr>
            <a:r>
              <a:rPr lang="en-US" sz="1400" b="1">
                <a:solidFill>
                  <a:srgbClr val="1B2433"/>
                </a:solidFill>
                <a:latin typeface="Verdana"/>
                <a:ea typeface="Verdana"/>
                <a:cs typeface="Verdana"/>
              </a:rPr>
              <a:t>How fast does error fall as labels grow?</a:t>
            </a:r>
            <a:endParaRPr lang="en-US" sz="1400"/>
          </a:p>
        </p:txBody>
      </p:sp>
      <p:sp>
        <p:nvSpPr>
          <p:cNvPr id="8" name="Text 8"/>
          <p:cNvSpPr txBox="1"/>
          <p:nvPr/>
        </p:nvSpPr>
        <p:spPr>
          <a:xfrm>
            <a:off x="1728216" y="2496312"/>
            <a:ext cx="4069080" cy="100584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Any 10-input model reaches around 0.5 D with 1,000 labels. </a:t>
            </a:r>
            <a:r>
              <a:rPr lang="en-US" sz="1200">
                <a:solidFill>
                  <a:srgbClr val="4A5568"/>
                </a:solidFill>
                <a:latin typeface="Verdana"/>
                <a:ea typeface="Verdana"/>
                <a:cs typeface="Verdana"/>
              </a:rPr>
              <a:t>While optimized </a:t>
            </a:r>
            <a:r>
              <a:rPr lang="en-US" sz="1200" b="0">
                <a:solidFill>
                  <a:srgbClr val="4A5568"/>
                </a:solidFill>
                <a:latin typeface="Verdana"/>
                <a:ea typeface="Verdana"/>
                <a:cs typeface="Verdana"/>
              </a:rPr>
              <a:t>classical networks can reach 0.095 D at 10,000 and 0.040 D at 99,198.</a:t>
            </a:r>
            <a:endParaRPr lang="en-US" sz="1200"/>
          </a:p>
        </p:txBody>
      </p:sp>
      <p:sp>
        <p:nvSpPr>
          <p:cNvPr id="9" name="Card 9"/>
          <p:cNvSpPr/>
          <p:nvPr/>
        </p:nvSpPr>
        <p:spPr>
          <a:xfrm>
            <a:off x="6181344" y="1691640"/>
            <a:ext cx="5193792" cy="1920240"/>
          </a:xfrm>
          <a:prstGeom prst="roundRect">
            <a:avLst>
              <a:gd name="adj" fmla="val 9576"/>
            </a:avLst>
          </a:prstGeom>
          <a:solidFill>
            <a:srgbClr val="FDFCF9"/>
          </a:solidFill>
          <a:ln w="6350">
            <a:solidFill>
              <a:srgbClr val="E2DED5"/>
            </a:solidFill>
          </a:ln>
        </p:spPr>
        <p:txBody>
          <a:bodyPr/>
          <a:lstStyle/>
          <a:p>
            <a:endParaRPr lang="en-US"/>
          </a:p>
        </p:txBody>
      </p:sp>
      <p:sp>
        <p:nvSpPr>
          <p:cNvPr id="10" name="Text 10"/>
          <p:cNvSpPr txBox="1"/>
          <p:nvPr/>
        </p:nvSpPr>
        <p:spPr>
          <a:xfrm>
            <a:off x="6409944" y="1892808"/>
            <a:ext cx="640080" cy="411480"/>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02</a:t>
            </a:r>
            <a:endParaRPr lang="en-US" sz="2200"/>
          </a:p>
        </p:txBody>
      </p:sp>
      <p:sp>
        <p:nvSpPr>
          <p:cNvPr id="11" name="Text 11"/>
          <p:cNvSpPr txBox="1"/>
          <p:nvPr/>
        </p:nvSpPr>
        <p:spPr>
          <a:xfrm>
            <a:off x="7095744" y="1920240"/>
            <a:ext cx="4069080" cy="502920"/>
          </a:xfrm>
          <a:prstGeom prst="rect">
            <a:avLst/>
          </a:prstGeom>
          <a:noFill/>
          <a:ln/>
        </p:spPr>
        <p:txBody>
          <a:bodyPr wrap="square" lIns="0" tIns="0" rIns="0" bIns="0" rtlCol="0" anchor="t">
            <a:noAutofit/>
          </a:bodyPr>
          <a:lstStyle/>
          <a:p>
            <a:pPr marL="0" indent="0" algn="l">
              <a:lnSpc>
                <a:spcPct val="100000"/>
              </a:lnSpc>
              <a:buNone/>
            </a:pPr>
            <a:r>
              <a:rPr lang="en-US" sz="1400" b="1">
                <a:solidFill>
                  <a:srgbClr val="1B2433"/>
                </a:solidFill>
                <a:latin typeface="Verdana"/>
                <a:ea typeface="Verdana"/>
                <a:cs typeface="Verdana"/>
              </a:rPr>
              <a:t>Can a quantum model match its classical twin?</a:t>
            </a:r>
            <a:endParaRPr lang="en-US" sz="1400"/>
          </a:p>
        </p:txBody>
      </p:sp>
      <p:sp>
        <p:nvSpPr>
          <p:cNvPr id="12" name="Text 12"/>
          <p:cNvSpPr txBox="1"/>
          <p:nvPr/>
        </p:nvSpPr>
        <p:spPr>
          <a:xfrm>
            <a:off x="7095744" y="2496312"/>
            <a:ext cx="4069080" cy="100584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Yes, under some circumstances. Every quantum kernel ties RBF kernel ridge within 0.005 D, and a circuit with no entanglement ties too.</a:t>
            </a:r>
            <a:endParaRPr lang="en-US" sz="1200"/>
          </a:p>
        </p:txBody>
      </p:sp>
      <p:sp>
        <p:nvSpPr>
          <p:cNvPr id="13" name="Card 13"/>
          <p:cNvSpPr/>
          <p:nvPr/>
        </p:nvSpPr>
        <p:spPr>
          <a:xfrm>
            <a:off x="813816" y="3749040"/>
            <a:ext cx="5193792" cy="1920240"/>
          </a:xfrm>
          <a:prstGeom prst="roundRect">
            <a:avLst>
              <a:gd name="adj" fmla="val 9576"/>
            </a:avLst>
          </a:prstGeom>
          <a:solidFill>
            <a:srgbClr val="FDFCF9"/>
          </a:solidFill>
          <a:ln w="6350">
            <a:solidFill>
              <a:srgbClr val="E2DED5"/>
            </a:solidFill>
          </a:ln>
        </p:spPr>
        <p:txBody>
          <a:bodyPr/>
          <a:lstStyle/>
          <a:p>
            <a:endParaRPr lang="en-US"/>
          </a:p>
        </p:txBody>
      </p:sp>
      <p:sp>
        <p:nvSpPr>
          <p:cNvPr id="14" name="Text 14"/>
          <p:cNvSpPr txBox="1"/>
          <p:nvPr/>
        </p:nvSpPr>
        <p:spPr>
          <a:xfrm>
            <a:off x="1042416" y="3950208"/>
            <a:ext cx="640080" cy="411480"/>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03</a:t>
            </a:r>
            <a:endParaRPr lang="en-US" sz="2200"/>
          </a:p>
        </p:txBody>
      </p:sp>
      <p:sp>
        <p:nvSpPr>
          <p:cNvPr id="15" name="Text 15"/>
          <p:cNvSpPr txBox="1"/>
          <p:nvPr/>
        </p:nvSpPr>
        <p:spPr>
          <a:xfrm>
            <a:off x="1728216" y="3977640"/>
            <a:ext cx="4069080" cy="502920"/>
          </a:xfrm>
          <a:prstGeom prst="rect">
            <a:avLst/>
          </a:prstGeom>
          <a:noFill/>
          <a:ln/>
        </p:spPr>
        <p:txBody>
          <a:bodyPr wrap="square" lIns="0" tIns="0" rIns="0" bIns="0" rtlCol="0" anchor="t">
            <a:noAutofit/>
          </a:bodyPr>
          <a:lstStyle/>
          <a:p>
            <a:pPr marL="0" indent="0" algn="l">
              <a:lnSpc>
                <a:spcPct val="100000"/>
              </a:lnSpc>
              <a:buNone/>
            </a:pPr>
            <a:r>
              <a:rPr lang="en-US" sz="1400" b="1">
                <a:solidFill>
                  <a:srgbClr val="1B2433"/>
                </a:solidFill>
                <a:latin typeface="Verdana"/>
                <a:ea typeface="Verdana"/>
                <a:cs typeface="Verdana"/>
              </a:rPr>
              <a:t>Do models work on formulas never seen in training?</a:t>
            </a:r>
            <a:endParaRPr lang="en-US" sz="1400"/>
          </a:p>
        </p:txBody>
      </p:sp>
      <p:sp>
        <p:nvSpPr>
          <p:cNvPr id="16" name="Text 16"/>
          <p:cNvSpPr txBox="1"/>
          <p:nvPr/>
        </p:nvSpPr>
        <p:spPr>
          <a:xfrm>
            <a:off x="1728216" y="4553712"/>
            <a:ext cx="4069080" cy="100584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Yes. On the test set, unseen-formula error was 0.88–0.98× the familiar error for every model. How hard it is depends on which formulas are held out.</a:t>
            </a:r>
            <a:endParaRPr lang="en-US" sz="1200"/>
          </a:p>
        </p:txBody>
      </p:sp>
      <p:sp>
        <p:nvSpPr>
          <p:cNvPr id="17" name="Card 17"/>
          <p:cNvSpPr/>
          <p:nvPr/>
        </p:nvSpPr>
        <p:spPr>
          <a:xfrm>
            <a:off x="6181344" y="3749040"/>
            <a:ext cx="5193792" cy="1920240"/>
          </a:xfrm>
          <a:prstGeom prst="roundRect">
            <a:avLst>
              <a:gd name="adj" fmla="val 9576"/>
            </a:avLst>
          </a:prstGeom>
          <a:solidFill>
            <a:srgbClr val="FDFCF9"/>
          </a:solidFill>
          <a:ln w="6350">
            <a:solidFill>
              <a:srgbClr val="E2DED5"/>
            </a:solidFill>
          </a:ln>
        </p:spPr>
        <p:txBody>
          <a:bodyPr/>
          <a:lstStyle/>
          <a:p>
            <a:endParaRPr lang="en-US"/>
          </a:p>
        </p:txBody>
      </p:sp>
      <p:sp>
        <p:nvSpPr>
          <p:cNvPr id="18" name="Text 18"/>
          <p:cNvSpPr txBox="1"/>
          <p:nvPr/>
        </p:nvSpPr>
        <p:spPr>
          <a:xfrm>
            <a:off x="6409944" y="3950208"/>
            <a:ext cx="640080" cy="411480"/>
          </a:xfrm>
          <a:prstGeom prst="rect">
            <a:avLst/>
          </a:prstGeom>
          <a:noFill/>
          <a:ln/>
        </p:spPr>
        <p:txBody>
          <a:bodyPr wrap="square" lIns="0" tIns="0" rIns="0" bIns="0" rtlCol="0" anchor="t">
            <a:noAutofit/>
          </a:bodyPr>
          <a:lstStyle/>
          <a:p>
            <a:pPr marL="0" indent="0" algn="l">
              <a:buNone/>
            </a:pPr>
            <a:r>
              <a:rPr lang="en-US" sz="2200" b="1">
                <a:solidFill>
                  <a:srgbClr val="2558C0"/>
                </a:solidFill>
                <a:latin typeface="Verdana Pro"/>
                <a:ea typeface="Verdana Pro"/>
                <a:cs typeface="Verdana Pro"/>
              </a:rPr>
              <a:t>04</a:t>
            </a:r>
            <a:endParaRPr lang="en-US" sz="2200"/>
          </a:p>
        </p:txBody>
      </p:sp>
      <p:sp>
        <p:nvSpPr>
          <p:cNvPr id="19" name="Text 19"/>
          <p:cNvSpPr txBox="1"/>
          <p:nvPr/>
        </p:nvSpPr>
        <p:spPr>
          <a:xfrm>
            <a:off x="7095744" y="3977640"/>
            <a:ext cx="4069080" cy="502920"/>
          </a:xfrm>
          <a:prstGeom prst="rect">
            <a:avLst/>
          </a:prstGeom>
          <a:noFill/>
          <a:ln/>
        </p:spPr>
        <p:txBody>
          <a:bodyPr wrap="square" lIns="0" tIns="0" rIns="0" bIns="0" rtlCol="0" anchor="t">
            <a:noAutofit/>
          </a:bodyPr>
          <a:lstStyle/>
          <a:p>
            <a:pPr marL="0" indent="0" algn="l">
              <a:lnSpc>
                <a:spcPct val="100000"/>
              </a:lnSpc>
              <a:buNone/>
            </a:pPr>
            <a:r>
              <a:rPr lang="en-US" sz="1400" b="1">
                <a:solidFill>
                  <a:srgbClr val="1B2433"/>
                </a:solidFill>
                <a:latin typeface="Verdana"/>
                <a:ea typeface="Verdana"/>
                <a:cs typeface="Verdana"/>
              </a:rPr>
              <a:t>Does it survive shots, noise and real hardware?</a:t>
            </a:r>
            <a:endParaRPr lang="en-US" sz="1400"/>
          </a:p>
        </p:txBody>
      </p:sp>
      <p:sp>
        <p:nvSpPr>
          <p:cNvPr id="20" name="Text 20"/>
          <p:cNvSpPr txBox="1"/>
          <p:nvPr/>
        </p:nvSpPr>
        <p:spPr>
          <a:xfrm>
            <a:off x="7095744" y="4553712"/>
            <a:ext cx="4069080" cy="1005840"/>
          </a:xfrm>
          <a:prstGeom prst="rect">
            <a:avLst/>
          </a:prstGeom>
          <a:noFill/>
          <a:ln/>
        </p:spPr>
        <p:txBody>
          <a:bodyPr wrap="square" lIns="0" tIns="0" rIns="0" bIns="0" rtlCol="0" anchor="t">
            <a:noAutofit/>
          </a:bodyPr>
          <a:lstStyle/>
          <a:p>
            <a:pPr marL="0" indent="0" algn="l">
              <a:lnSpc>
                <a:spcPct val="105000"/>
              </a:lnSpc>
              <a:buNone/>
            </a:pPr>
            <a:r>
              <a:rPr lang="en-US" sz="1200" b="0">
                <a:solidFill>
                  <a:srgbClr val="4A5568"/>
                </a:solidFill>
                <a:latin typeface="Verdana"/>
                <a:ea typeface="Verdana"/>
                <a:cs typeface="Verdana"/>
              </a:rPr>
              <a:t>We found that at least shot-aware or feature-based models do. Our ⟨Z⟩ ridge ran on ibm_quebec as accurately as in exact simulation.</a:t>
            </a:r>
            <a:endParaRPr 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CA41B-228D-9270-97EC-DA8499BB3149}"/>
              </a:ext>
            </a:extLst>
          </p:cNvPr>
          <p:cNvSpPr>
            <a:spLocks noGrp="1"/>
          </p:cNvSpPr>
          <p:nvPr>
            <p:ph type="title"/>
          </p:nvPr>
        </p:nvSpPr>
        <p:spPr/>
        <p:txBody>
          <a:bodyPr/>
          <a:lstStyle/>
          <a:p>
            <a:r>
              <a:rPr lang="en-CA" b="1"/>
              <a:t>NEXT STEPS</a:t>
            </a:r>
          </a:p>
        </p:txBody>
      </p:sp>
      <p:sp>
        <p:nvSpPr>
          <p:cNvPr id="3" name="Text Placeholder 2">
            <a:extLst>
              <a:ext uri="{FF2B5EF4-FFF2-40B4-BE49-F238E27FC236}">
                <a16:creationId xmlns:a16="http://schemas.microsoft.com/office/drawing/2014/main" id="{113BFA56-3056-0310-338C-7CBD54A8E378}"/>
              </a:ext>
            </a:extLst>
          </p:cNvPr>
          <p:cNvSpPr>
            <a:spLocks noGrp="1"/>
          </p:cNvSpPr>
          <p:nvPr>
            <p:ph type="body" idx="101"/>
          </p:nvPr>
        </p:nvSpPr>
        <p:spPr/>
        <p:txBody>
          <a:bodyPr/>
          <a:lstStyle/>
          <a:p>
            <a:r>
              <a:rPr lang="en-CA"/>
              <a:t>What we would do if we had more time: </a:t>
            </a:r>
          </a:p>
          <a:p>
            <a:pPr marL="285750" indent="-285750">
              <a:buFontTx/>
              <a:buChar char="-"/>
            </a:pPr>
            <a:r>
              <a:rPr lang="en-CA"/>
              <a:t>Try to train and test a more complex model on quantum hardware</a:t>
            </a:r>
          </a:p>
          <a:p>
            <a:pPr marL="285750" indent="-285750">
              <a:buFontTx/>
              <a:buChar char="-"/>
            </a:pPr>
            <a:r>
              <a:rPr lang="en-CA"/>
              <a:t>Explore other types of Quantum models and architectures like splines, ensembles, trees</a:t>
            </a:r>
          </a:p>
          <a:p>
            <a:pPr marL="285750" indent="-285750">
              <a:buFontTx/>
              <a:buChar char="-"/>
            </a:pPr>
            <a:r>
              <a:rPr lang="en-CA"/>
              <a:t>Explore different quantum encodings and feature sets</a:t>
            </a:r>
          </a:p>
          <a:p>
            <a:pPr marL="285750" indent="-285750">
              <a:buFontTx/>
              <a:buChar char="-"/>
            </a:pPr>
            <a:r>
              <a:rPr lang="en-CA"/>
              <a:t>Explore Chemistry to understand features and their correlations more intuitively for the sake of designing more robust models and features</a:t>
            </a:r>
          </a:p>
          <a:p>
            <a:pPr marL="285750" indent="-285750">
              <a:buFontTx/>
              <a:buChar char="-"/>
            </a:pPr>
            <a:endParaRPr lang="en-CA"/>
          </a:p>
        </p:txBody>
      </p:sp>
    </p:spTree>
    <p:extLst>
      <p:ext uri="{BB962C8B-B14F-4D97-AF65-F5344CB8AC3E}">
        <p14:creationId xmlns:p14="http://schemas.microsoft.com/office/powerpoint/2010/main" val="1227247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519EF2-BAA8-F0A6-D874-5DE723FEE57F}"/>
              </a:ext>
            </a:extLst>
          </p:cNvPr>
          <p:cNvSpPr txBox="1"/>
          <p:nvPr/>
        </p:nvSpPr>
        <p:spPr>
          <a:xfrm>
            <a:off x="4519083" y="3136612"/>
            <a:ext cx="3153833" cy="584775"/>
          </a:xfrm>
          <a:prstGeom prst="rect">
            <a:avLst/>
          </a:prstGeom>
          <a:noFill/>
        </p:spPr>
        <p:txBody>
          <a:bodyPr wrap="square">
            <a:spAutoFit/>
          </a:bodyPr>
          <a:lstStyle/>
          <a:p>
            <a:r>
              <a:rPr lang="en-CA" sz="3200" b="1" u="sng">
                <a:latin typeface="Verdana" panose="020B0604030504040204" pitchFamily="34" charset="0"/>
                <a:ea typeface="Verdana" panose="020B0604030504040204" pitchFamily="34" charset="0"/>
              </a:rPr>
              <a:t>THANK YOU!</a:t>
            </a:r>
            <a:endParaRPr lang="en-CA" u="sng">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63986799"/>
      </p:ext>
    </p:extLst>
  </p:cSld>
  <p:clrMapOvr>
    <a:masterClrMapping/>
  </p:clrMapOvr>
</p:sld>
</file>

<file path=ppt/theme/theme1.xml><?xml version="1.0" encoding="utf-8"?>
<a:theme xmlns:a="http://schemas.openxmlformats.org/drawingml/2006/main" name="QM9 Dipoles: Quantum vs Classical">
  <a:themeElements>
    <a:clrScheme name="QM9 Dipoles: Quantum vs Classical">
      <a:dk1>
        <a:srgbClr val="0F1B2D"/>
      </a:dk1>
      <a:lt1>
        <a:srgbClr val="F6F4EF"/>
      </a:lt1>
      <a:dk2>
        <a:srgbClr val="49515E"/>
      </a:dk2>
      <a:lt2>
        <a:srgbClr val="DFDEDC"/>
      </a:lt2>
      <a:accent1>
        <a:srgbClr val="2558C0"/>
      </a:accent1>
      <a:accent2>
        <a:srgbClr val="8AB4FF"/>
      </a:accent2>
      <a:accent3>
        <a:srgbClr val="1D4699"/>
      </a:accent3>
      <a:accent4>
        <a:srgbClr val="A9BFE8"/>
      </a:accent4>
      <a:accent5>
        <a:srgbClr val="8A2E12"/>
      </a:accent5>
      <a:accent6>
        <a:srgbClr val="F4A261"/>
      </a:accent6>
      <a:hlink>
        <a:srgbClr val="0563C1"/>
      </a:hlink>
      <a:folHlink>
        <a:srgbClr val="954F72"/>
      </a:folHlink>
    </a:clrScheme>
    <a:fontScheme name="QM9 Dipoles: Quantum vs Classical">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321E1D7F1F914FBE9A77A4E619AE69" ma:contentTypeVersion="11" ma:contentTypeDescription="Create a new document." ma:contentTypeScope="" ma:versionID="4696f64d51389fd4766f53a4230e0c19">
  <xsd:schema xmlns:xsd="http://www.w3.org/2001/XMLSchema" xmlns:xs="http://www.w3.org/2001/XMLSchema" xmlns:p="http://schemas.microsoft.com/office/2006/metadata/properties" xmlns:ns3="660f2d7c-7832-431c-8f9a-8a2dc0a3358f" xmlns:ns4="69d55192-fc91-4c3a-a04b-1c5cc43825ce" targetNamespace="http://schemas.microsoft.com/office/2006/metadata/properties" ma:root="true" ma:fieldsID="c6526afe9d4f38a3781cdcbeebe5145b" ns3:_="" ns4:_="">
    <xsd:import namespace="660f2d7c-7832-431c-8f9a-8a2dc0a3358f"/>
    <xsd:import namespace="69d55192-fc91-4c3a-a04b-1c5cc43825c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0f2d7c-7832-431c-8f9a-8a2dc0a335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d55192-fc91-4c3a-a04b-1c5cc43825c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60f2d7c-7832-431c-8f9a-8a2dc0a3358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CAAF2A-EF38-42F0-9F12-A59B31AA19C2}">
  <ds:schemaRefs>
    <ds:schemaRef ds:uri="660f2d7c-7832-431c-8f9a-8a2dc0a3358f"/>
    <ds:schemaRef ds:uri="69d55192-fc91-4c3a-a04b-1c5cc43825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5ED1A89-3F7E-4059-8A60-D50C081A958F}">
  <ds:schemaRefs>
    <ds:schemaRef ds:uri="http://purl.org/dc/dcmitype/"/>
    <ds:schemaRef ds:uri="http://schemas.microsoft.com/office/2006/metadata/properties"/>
    <ds:schemaRef ds:uri="http://schemas.microsoft.com/office/2006/documentManagement/types"/>
    <ds:schemaRef ds:uri="660f2d7c-7832-431c-8f9a-8a2dc0a3358f"/>
    <ds:schemaRef ds:uri="http://schemas.openxmlformats.org/package/2006/metadata/core-properties"/>
    <ds:schemaRef ds:uri="69d55192-fc91-4c3a-a04b-1c5cc43825ce"/>
    <ds:schemaRef ds:uri="http://www.w3.org/XML/1998/namespace"/>
    <ds:schemaRef ds:uri="http://purl.org/dc/terms/"/>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1066D82E-0B73-4066-B694-1AEEA7C60F6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6334</Words>
  <Application>Microsoft Office PowerPoint</Application>
  <PresentationFormat>Widescreen</PresentationFormat>
  <Paragraphs>597</Paragraphs>
  <Slides>29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IBM Plex Sans</vt:lpstr>
      <vt:lpstr>Segoe WPC</vt:lpstr>
      <vt:lpstr>Space Grotesk</vt:lpstr>
      <vt:lpstr>Verdana</vt:lpstr>
      <vt:lpstr>Verdana Pro</vt:lpstr>
      <vt:lpstr>QM9 Dipoles: Quantum vs Classical</vt:lpstr>
      <vt:lpstr>Learning molecular dipoles from fewer labels</vt:lpstr>
      <vt:lpstr>“How much reference data does a model need to predict molecular polarity?”</vt:lpstr>
      <vt:lpstr>Predict how polar a molecule is from its structure</vt:lpstr>
      <vt:lpstr>How do we evaluate the models?</vt:lpstr>
      <vt:lpstr>QM9: 133,885 molecules</vt:lpstr>
      <vt:lpstr>QM9, split by whole formulas</vt:lpstr>
      <vt:lpstr>Why we left QM9’s DFT outputs out of our training features  </vt:lpstr>
      <vt:lpstr>PowerPoint Presentation</vt:lpstr>
      <vt:lpstr>Best features: physics estimates of the dipole</vt:lpstr>
      <vt:lpstr>188 legal features from atoms and geometry</vt:lpstr>
      <vt:lpstr>PowerPoint Presentation</vt:lpstr>
      <vt:lpstr>Compressing 188 features into 10 qubit inputs</vt:lpstr>
      <vt:lpstr>Classical models</vt:lpstr>
      <vt:lpstr>One encoding circuit, three readouts</vt:lpstr>
      <vt:lpstr>Quantum Models</vt:lpstr>
      <vt:lpstr>Step 2: three ways to read the state out</vt:lpstr>
      <vt:lpstr>The ⟨Z⟩ feature ridge, step by step</vt:lpstr>
      <vt:lpstr>Quantum Vs Classical </vt:lpstr>
      <vt:lpstr>Entanglement made no measurable difference.</vt:lpstr>
      <vt:lpstr>Isolating molecule representation choices</vt:lpstr>
      <vt:lpstr>The effect of geometry on training size</vt:lpstr>
      <vt:lpstr>Validation—the effect of extra qubits</vt:lpstr>
      <vt:lpstr>The quantum models tie their classical twin</vt:lpstr>
      <vt:lpstr>What it would cost on IBM hardware</vt:lpstr>
      <vt:lpstr>Running our model on IBM hardware</vt:lpstr>
      <vt:lpstr>Hardware matched exact simulation</vt:lpstr>
      <vt:lpstr>Answers to our four questions</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QM9 Dipoles: Quantum vs Classical</dc:title>
  <dc:subject/>
  <dc:creator>Douglass Jeffrey</dc:creator>
  <cp:lastModifiedBy>Douglass Jeffrey</cp:lastModifiedBy>
  <cp:revision>3</cp:revision>
  <dcterms:created xsi:type="dcterms:W3CDTF">2026-10-09T23:09:04Z</dcterms:created>
  <dcterms:modified xsi:type="dcterms:W3CDTF">2026-10-25T16:39:38Z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0x010100AA321E1D7F1F914FBE9A77A4E619AE69</vt:lpwstr>
  </property>
</Properties>
</file>